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96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8F6E16D5-924C-4A89-9736-97421D85D6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2548AE3D-32F3-493C-9DE2-F264A929A4C2}"/>
              </a:ext>
            </a:extLst>
          </p:cNvPr>
          <p:cNvSpPr>
            <a:spLocks noGrp="1"/>
          </p:cNvSpPr>
          <p:nvPr/>
        </p:nvSpPr>
        <p:spPr>
          <a:xfrm>
            <a:off x="8858250" y="-1143000"/>
            <a:ext cx="4476750" cy="4476750"/>
          </a:xfrm>
          <a:prstGeom prst="ellipse">
            <a:avLst/>
          </a:prstGeom>
          <a:solidFill>
            <a:srgbClr val="13365E"/>
          </a:solidFill>
          <a:ln w="9525">
            <a:solidFill>
              <a:srgbClr val="13365E"/>
            </a:solidFill>
          </a:ln>
        </p:spPr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9AD9AF7-28BE-4D41-86AD-CB6930396D0D}"/>
              </a:ext>
            </a:extLst>
          </p:cNvPr>
          <p:cNvSpPr>
            <a:spLocks noGrp="1"/>
          </p:cNvSpPr>
          <p:nvPr/>
        </p:nvSpPr>
        <p:spPr>
          <a:xfrm>
            <a:off x="9906000" y="4000500"/>
            <a:ext cx="2857500" cy="2857500"/>
          </a:xfrm>
          <a:prstGeom prst="ellipse">
            <a:avLst/>
          </a:prstGeom>
          <a:solidFill>
            <a:srgbClr val="12304F"/>
          </a:solidFill>
          <a:ln w="9525">
            <a:solidFill>
              <a:srgbClr val="12304F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1724FFB-2F0B-4755-B5BE-77DC83153CEC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57150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PROPOSTA DE ESPECIFICAÇÃO E ARQUITETURA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E8872CF-083F-4A50-A46B-8D3EF38242AF}"/>
              </a:ext>
            </a:extLst>
          </p:cNvPr>
          <p:cNvSpPr>
            <a:spLocks noGrp="1"/>
          </p:cNvSpPr>
          <p:nvPr/>
        </p:nvSpPr>
        <p:spPr>
          <a:xfrm>
            <a:off x="742950" y="1390650"/>
            <a:ext cx="7429500" cy="1485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CRM de Atendimento</a:t>
            </a:r>
          </a:p>
          <a:p>
            <a:pPr algn="l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 Orçamentos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5B028E6-8FAB-4C06-8CAA-A4E170C04309}"/>
              </a:ext>
            </a:extLst>
          </p:cNvPr>
          <p:cNvSpPr>
            <a:spLocks noGrp="1"/>
          </p:cNvSpPr>
          <p:nvPr/>
        </p:nvSpPr>
        <p:spPr>
          <a:xfrm>
            <a:off x="781050" y="3124200"/>
            <a:ext cx="62865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D9E3E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9E3EF"/>
                </a:solidFill>
                <a:latin typeface="DejaVu Sans"/>
                <a:ea typeface="DejaVu Sans"/>
                <a:cs typeface="DejaVu Sans"/>
              </a:rPr>
              <a:t>Funil de atendimento para pequenos negócios que vendem por contato direto</a:t>
            </a:r>
          </a:p>
        </p:txBody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2BC6BAF6-7D94-403D-89BC-8FFB7B970411}"/>
              </a:ext>
            </a:extLst>
          </p:cNvPr>
          <p:cNvSpPr>
            <a:spLocks noGrp="1"/>
          </p:cNvSpPr>
          <p:nvPr/>
        </p:nvSpPr>
        <p:spPr>
          <a:xfrm>
            <a:off x="781050" y="4010025"/>
            <a:ext cx="2095500" cy="0"/>
          </a:xfrm>
          <a:prstGeom prst="line">
            <a:avLst/>
          </a:prstGeom>
          <a:noFill/>
          <a:ln w="47625">
            <a:solidFill>
              <a:srgbClr val="F5A623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6DFFA22-9477-4B9E-878D-8A1F74DBD252}"/>
              </a:ext>
            </a:extLst>
          </p:cNvPr>
          <p:cNvSpPr>
            <a:spLocks noGrp="1"/>
          </p:cNvSpPr>
          <p:nvPr/>
        </p:nvSpPr>
        <p:spPr>
          <a:xfrm>
            <a:off x="781050" y="4305300"/>
            <a:ext cx="5905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Clean Architecture  •  DDD  •  TDD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F750C38-0528-4877-97D4-133854F4853F}"/>
              </a:ext>
            </a:extLst>
          </p:cNvPr>
          <p:cNvSpPr>
            <a:spLocks noGrp="1"/>
          </p:cNvSpPr>
          <p:nvPr/>
        </p:nvSpPr>
        <p:spPr>
          <a:xfrm>
            <a:off x="781050" y="5962650"/>
            <a:ext cx="5334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defRPr sz="1125" b="0">
                <a:solidFill>
                  <a:srgbClr val="AFC0D4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FC0D4"/>
                </a:solidFill>
                <a:latin typeface="DejaVu Sans"/>
                <a:ea typeface="DejaVu Sans"/>
                <a:cs typeface="DejaVu Sans"/>
              </a:rPr>
              <a:t>Laboratório de Programação Web · CEFET-MG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C304851-1C17-4F74-A903-7849D7400D68}"/>
              </a:ext>
            </a:extLst>
          </p:cNvPr>
          <p:cNvSpPr>
            <a:spLocks noGrp="1"/>
          </p:cNvSpPr>
          <p:nvPr/>
        </p:nvSpPr>
        <p:spPr>
          <a:xfrm>
            <a:off x="9525000" y="6000750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 algn="r">
              <a:defRPr sz="1050" b="1">
                <a:solidFill>
                  <a:srgbClr val="F5A62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5A623"/>
                </a:solidFill>
                <a:latin typeface="DejaVu Sans"/>
                <a:ea typeface="DejaVu Sans"/>
                <a:cs typeface="DejaVu Sans"/>
              </a:rPr>
              <a:t>APRESENTAÇÃO</a:t>
            </a:r>
          </a:p>
        </p:txBody>
      </p:sp>
    </p:spTree>
    <p:extLst>
      <p:ext uri="{BB962C8B-B14F-4D97-AF65-F5344CB8AC3E}">
        <p14:creationId xmlns:p14="http://schemas.microsoft.com/office/powerpoint/2010/main" val="1381060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718FA955-35D5-4FF9-A4D2-3CBBF864F9BD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VISÃO GERAL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6D4649F-BFF1-4BDC-B95F-4D3C9317B5D1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Roteiro da apresentação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9749BCC3-3EF7-407F-AA24-D89847CD804D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C8A7900-91BD-4689-882F-1205F64321AC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D881591-A747-4853-BEF8-177302BA118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219700" cy="1562100"/>
          </a:xfrm>
          <a:prstGeom prst="roundRect">
            <a:avLst>
              <a:gd name="adj" fmla="val 10976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4E6D3B-2981-4269-8AF2-8E900E9FAEC0}"/>
              </a:ext>
            </a:extLst>
          </p:cNvPr>
          <p:cNvSpPr>
            <a:spLocks noGrp="1"/>
          </p:cNvSpPr>
          <p:nvPr/>
        </p:nvSpPr>
        <p:spPr>
          <a:xfrm>
            <a:off x="895350" y="1847850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851"/>
          </a:bodyPr>
          <a:lstStyle/>
          <a:p>
            <a:pPr algn="l">
              <a:defRPr sz="217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233D0B9-5161-46FA-9BEE-2250DF5D12D2}"/>
              </a:ext>
            </a:extLst>
          </p:cNvPr>
          <p:cNvSpPr>
            <a:spLocks noGrp="1"/>
          </p:cNvSpPr>
          <p:nvPr/>
        </p:nvSpPr>
        <p:spPr>
          <a:xfrm>
            <a:off x="1638300" y="1905000"/>
            <a:ext cx="3905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 algn="l">
              <a:def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Problema e escopo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5507A8C-FD29-4F8C-B64D-F0BFB24CFEA8}"/>
              </a:ext>
            </a:extLst>
          </p:cNvPr>
          <p:cNvSpPr>
            <a:spLocks noGrp="1"/>
          </p:cNvSpPr>
          <p:nvPr/>
        </p:nvSpPr>
        <p:spPr>
          <a:xfrm>
            <a:off x="1638300" y="2381250"/>
            <a:ext cx="3905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Contexto, funil e requisitos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9819C01-EE0C-4C2F-A828-8B195B8D65D0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219700" cy="1562100"/>
          </a:xfrm>
          <a:prstGeom prst="roundRect">
            <a:avLst>
              <a:gd name="adj" fmla="val 10976"/>
            </a:avLst>
          </a:prstGeom>
          <a:solidFill>
            <a:srgbClr val="F8F5EA"/>
          </a:solidFill>
          <a:ln w="9525">
            <a:solidFill>
              <a:srgbClr val="D6DFEA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C4416CB-9749-4941-8C56-8875BF8DD241}"/>
              </a:ext>
            </a:extLst>
          </p:cNvPr>
          <p:cNvSpPr>
            <a:spLocks noGrp="1"/>
          </p:cNvSpPr>
          <p:nvPr/>
        </p:nvSpPr>
        <p:spPr>
          <a:xfrm>
            <a:off x="6515100" y="1847850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851"/>
          </a:bodyPr>
          <a:lstStyle/>
          <a:p>
            <a:pPr algn="l">
              <a:defRPr sz="2175" b="1">
                <a:solidFill>
                  <a:srgbClr val="F5A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5A62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C9BAC1F-6256-4532-B792-C15907EE9C61}"/>
              </a:ext>
            </a:extLst>
          </p:cNvPr>
          <p:cNvSpPr>
            <a:spLocks noGrp="1"/>
          </p:cNvSpPr>
          <p:nvPr/>
        </p:nvSpPr>
        <p:spPr>
          <a:xfrm>
            <a:off x="7258050" y="1905000"/>
            <a:ext cx="3905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 algn="l">
              <a:def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Modelagem do domínio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164E4AE-5B47-4A9A-B54C-0B28A527BCD7}"/>
              </a:ext>
            </a:extLst>
          </p:cNvPr>
          <p:cNvSpPr>
            <a:spLocks noGrp="1"/>
          </p:cNvSpPr>
          <p:nvPr/>
        </p:nvSpPr>
        <p:spPr>
          <a:xfrm>
            <a:off x="7258050" y="2381250"/>
            <a:ext cx="3905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Casos de </a:t>
            </a:r>
            <a:r>
              <a:rPr sz="1200" b="0" dirty="0" err="1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uso</a:t>
            </a:r>
            <a:r>
              <a:rPr sz="1200" b="0" dirty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, classes, </a:t>
            </a:r>
            <a:r>
              <a:rPr sz="1200" b="0" dirty="0" err="1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estados</a:t>
            </a:r>
            <a:r>
              <a:rPr sz="1200" b="0" dirty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 e </a:t>
            </a:r>
            <a:r>
              <a:rPr sz="1200" b="0" dirty="0" err="1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persistência</a:t>
            </a:r>
            <a:endParaRPr sz="1200" b="0" dirty="0">
              <a:solidFill>
                <a:srgbClr val="5B687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93884A1-4EFE-459C-9647-44C0F080F2AA}"/>
              </a:ext>
            </a:extLst>
          </p:cNvPr>
          <p:cNvSpPr>
            <a:spLocks noGrp="1"/>
          </p:cNvSpPr>
          <p:nvPr/>
        </p:nvSpPr>
        <p:spPr>
          <a:xfrm>
            <a:off x="685800" y="3629025"/>
            <a:ext cx="5219700" cy="1562100"/>
          </a:xfrm>
          <a:prstGeom prst="roundRect">
            <a:avLst>
              <a:gd name="adj" fmla="val 10976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2205183-4DC6-4731-AE44-9545B776EAB2}"/>
              </a:ext>
            </a:extLst>
          </p:cNvPr>
          <p:cNvSpPr>
            <a:spLocks noGrp="1"/>
          </p:cNvSpPr>
          <p:nvPr/>
        </p:nvSpPr>
        <p:spPr>
          <a:xfrm>
            <a:off x="895350" y="38004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851"/>
          </a:bodyPr>
          <a:lstStyle/>
          <a:p>
            <a:pPr algn="l">
              <a:defRPr sz="217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6D9B914-7025-42C6-A271-63D341CE757D}"/>
              </a:ext>
            </a:extLst>
          </p:cNvPr>
          <p:cNvSpPr>
            <a:spLocks noGrp="1"/>
          </p:cNvSpPr>
          <p:nvPr/>
        </p:nvSpPr>
        <p:spPr>
          <a:xfrm>
            <a:off x="1638300" y="3857625"/>
            <a:ext cx="3905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 algn="l">
              <a:def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Fluxos e arquitetura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D66AF92-74F7-4756-B210-4CDADC3EA3F7}"/>
              </a:ext>
            </a:extLst>
          </p:cNvPr>
          <p:cNvSpPr>
            <a:spLocks noGrp="1"/>
          </p:cNvSpPr>
          <p:nvPr/>
        </p:nvSpPr>
        <p:spPr>
          <a:xfrm>
            <a:off x="1638300" y="4333875"/>
            <a:ext cx="3905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BCE, sequências, atividades e componentes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9BCF627-8D9B-48C4-AD04-2EA345C5BEF5}"/>
              </a:ext>
            </a:extLst>
          </p:cNvPr>
          <p:cNvSpPr>
            <a:spLocks noGrp="1"/>
          </p:cNvSpPr>
          <p:nvPr/>
        </p:nvSpPr>
        <p:spPr>
          <a:xfrm>
            <a:off x="6305550" y="3629025"/>
            <a:ext cx="5219700" cy="1562100"/>
          </a:xfrm>
          <a:prstGeom prst="roundRect">
            <a:avLst>
              <a:gd name="adj" fmla="val 10976"/>
            </a:avLst>
          </a:prstGeom>
          <a:solidFill>
            <a:srgbClr val="F8F5EA"/>
          </a:solidFill>
          <a:ln w="9525">
            <a:solidFill>
              <a:srgbClr val="D6DFEA"/>
            </a:solidFill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BAC7D02-9313-43A2-B52E-F9D6F467E0C8}"/>
              </a:ext>
            </a:extLst>
          </p:cNvPr>
          <p:cNvSpPr>
            <a:spLocks noGrp="1"/>
          </p:cNvSpPr>
          <p:nvPr/>
        </p:nvSpPr>
        <p:spPr>
          <a:xfrm>
            <a:off x="6515100" y="380047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851"/>
          </a:bodyPr>
          <a:lstStyle/>
          <a:p>
            <a:pPr algn="l">
              <a:defRPr sz="2175" b="1">
                <a:solidFill>
                  <a:srgbClr val="F5A62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5A62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39D3874-9A3C-4B8D-9CE9-A1F349CD7AA7}"/>
              </a:ext>
            </a:extLst>
          </p:cNvPr>
          <p:cNvSpPr>
            <a:spLocks noGrp="1"/>
          </p:cNvSpPr>
          <p:nvPr/>
        </p:nvSpPr>
        <p:spPr>
          <a:xfrm>
            <a:off x="7258050" y="3857625"/>
            <a:ext cx="3905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667"/>
          </a:bodyPr>
          <a:lstStyle/>
          <a:p>
            <a:pPr algn="l">
              <a:def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Implementação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75E3764-CAA6-4B08-8060-858F9279E6EC}"/>
              </a:ext>
            </a:extLst>
          </p:cNvPr>
          <p:cNvSpPr>
            <a:spLocks noGrp="1"/>
          </p:cNvSpPr>
          <p:nvPr/>
        </p:nvSpPr>
        <p:spPr>
          <a:xfrm>
            <a:off x="7258050" y="4333875"/>
            <a:ext cx="39052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Decisões, DDD, TDD, backlog e rastreabilidade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2F0F742-D71B-4F03-9D59-D69CC6BCA47F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BF2967A-F4AC-437A-99B4-4B6019FF641E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Roteiro</a:t>
            </a:r>
          </a:p>
        </p:txBody>
      </p:sp>
    </p:spTree>
    <p:extLst>
      <p:ext uri="{BB962C8B-B14F-4D97-AF65-F5344CB8AC3E}">
        <p14:creationId xmlns:p14="http://schemas.microsoft.com/office/powerpoint/2010/main" val="1415921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B88DD032-FCF0-4FD6-9C40-530B9CE27DD0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01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F11C7C2-5232-4E64-BC77-09EDD81B2A2C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Contexto e escopo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764415D9-1B61-4200-9F5D-5C9775942BAA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D90AAA0-76F7-4CD5-BC22-F5A216A6832B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F09FDD1-DE7A-4CA9-81CE-802B1B43B598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O problema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C6D0B89-EE44-4E51-90C3-C616014F588A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46672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Atendimentos espalhados em caderno, planilha e conversa geram orçamentos esquecidos, clientes sem retorno e pouca visão do funil.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4FCD3DC-7FC0-4EB0-8194-6087126D1926}"/>
              </a:ext>
            </a:extLst>
          </p:cNvPr>
          <p:cNvSpPr>
            <a:spLocks noGrp="1"/>
          </p:cNvSpPr>
          <p:nvPr/>
        </p:nvSpPr>
        <p:spPr>
          <a:xfrm>
            <a:off x="895350" y="3514725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endParaRPr sz="1350" b="1" dirty="0">
              <a:solidFill>
                <a:srgbClr val="0B1F3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5566DF1-38ED-4EC6-84ED-064192C02532}"/>
              </a:ext>
            </a:extLst>
          </p:cNvPr>
          <p:cNvSpPr>
            <a:spLocks noGrp="1"/>
          </p:cNvSpPr>
          <p:nvPr/>
        </p:nvSpPr>
        <p:spPr>
          <a:xfrm>
            <a:off x="895350" y="3876675"/>
            <a:ext cx="4286250" cy="11525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1823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20176A3-0565-49AE-926C-95F993E81702}"/>
              </a:ext>
            </a:extLst>
          </p:cNvPr>
          <p:cNvSpPr>
            <a:spLocks noGrp="1"/>
          </p:cNvSpPr>
          <p:nvPr/>
        </p:nvSpPr>
        <p:spPr>
          <a:xfrm>
            <a:off x="5905500" y="1543050"/>
            <a:ext cx="5334000" cy="990600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887ECA1-017D-43FC-8395-9888B019260C}"/>
              </a:ext>
            </a:extLst>
          </p:cNvPr>
          <p:cNvSpPr>
            <a:spLocks noGrp="1"/>
          </p:cNvSpPr>
          <p:nvPr/>
        </p:nvSpPr>
        <p:spPr>
          <a:xfrm>
            <a:off x="5905500" y="1543050"/>
            <a:ext cx="85725" cy="990600"/>
          </a:xfrm>
          <a:prstGeom prst="roundRect">
            <a:avLst>
              <a:gd name="adj" fmla="val 50000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D447136-4DC5-4A01-9EE6-8C3B0A8930ED}"/>
              </a:ext>
            </a:extLst>
          </p:cNvPr>
          <p:cNvSpPr>
            <a:spLocks noGrp="1"/>
          </p:cNvSpPr>
          <p:nvPr/>
        </p:nvSpPr>
        <p:spPr>
          <a:xfrm>
            <a:off x="6115050" y="17049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Público-alvo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9F53C70-1599-4C24-A423-6B41E29C9647}"/>
              </a:ext>
            </a:extLst>
          </p:cNvPr>
          <p:cNvSpPr>
            <a:spLocks noGrp="1"/>
          </p:cNvSpPr>
          <p:nvPr/>
        </p:nvSpPr>
        <p:spPr>
          <a:xfrm>
            <a:off x="6115050" y="2066925"/>
            <a:ext cx="4953000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1366" lnSpcReduction="10000"/>
          </a:bodyPr>
          <a:lstStyle/>
          <a:p>
            <a:pPr algn="l">
              <a:defRPr sz="12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Donos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pequenos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negócios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atendentes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gestores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 e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administradores</a:t>
            </a:r>
            <a:endParaRPr sz="1200" b="0" dirty="0">
              <a:solidFill>
                <a:srgbClr val="1823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2FE8488-E0FB-4B08-B7F4-BCE112BB73EB}"/>
              </a:ext>
            </a:extLst>
          </p:cNvPr>
          <p:cNvSpPr>
            <a:spLocks noGrp="1"/>
          </p:cNvSpPr>
          <p:nvPr/>
        </p:nvSpPr>
        <p:spPr>
          <a:xfrm>
            <a:off x="5905500" y="2724150"/>
            <a:ext cx="5334000" cy="990600"/>
          </a:xfrm>
          <a:prstGeom prst="roundRect">
            <a:avLst>
              <a:gd name="adj" fmla="val 15385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6E9EF97-8A26-46D3-B2DC-26D5635D0D99}"/>
              </a:ext>
            </a:extLst>
          </p:cNvPr>
          <p:cNvSpPr>
            <a:spLocks noGrp="1"/>
          </p:cNvSpPr>
          <p:nvPr/>
        </p:nvSpPr>
        <p:spPr>
          <a:xfrm>
            <a:off x="5905500" y="2724150"/>
            <a:ext cx="85725" cy="990600"/>
          </a:xfrm>
          <a:prstGeom prst="roundRect">
            <a:avLst>
              <a:gd name="adj" fmla="val 50000"/>
            </a:avLst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DE68503-2D52-4B64-A812-DF63BDE3C364}"/>
              </a:ext>
            </a:extLst>
          </p:cNvPr>
          <p:cNvSpPr>
            <a:spLocks noGrp="1"/>
          </p:cNvSpPr>
          <p:nvPr/>
        </p:nvSpPr>
        <p:spPr>
          <a:xfrm>
            <a:off x="6115050" y="28860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Método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2C41A6A-2CEB-4669-A151-54C9CF17CCBE}"/>
              </a:ext>
            </a:extLst>
          </p:cNvPr>
          <p:cNvSpPr>
            <a:spLocks noGrp="1"/>
          </p:cNvSpPr>
          <p:nvPr/>
        </p:nvSpPr>
        <p:spPr>
          <a:xfrm>
            <a:off x="6115050" y="3248025"/>
            <a:ext cx="4953000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UML, DDD, Clean Architecture e TDD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9ACFE92-3459-4027-B8F0-43EC104A83CC}"/>
              </a:ext>
            </a:extLst>
          </p:cNvPr>
          <p:cNvSpPr>
            <a:spLocks noGrp="1"/>
          </p:cNvSpPr>
          <p:nvPr/>
        </p:nvSpPr>
        <p:spPr>
          <a:xfrm>
            <a:off x="5905500" y="3905250"/>
            <a:ext cx="5334000" cy="1238250"/>
          </a:xfrm>
          <a:prstGeom prst="roundRect">
            <a:avLst>
              <a:gd name="adj" fmla="val 12308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A6900F6-C68D-4BC3-BBF0-66B26534B7FE}"/>
              </a:ext>
            </a:extLst>
          </p:cNvPr>
          <p:cNvSpPr>
            <a:spLocks noGrp="1"/>
          </p:cNvSpPr>
          <p:nvPr/>
        </p:nvSpPr>
        <p:spPr>
          <a:xfrm>
            <a:off x="5905500" y="3905250"/>
            <a:ext cx="85725" cy="123825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62E1FEB-30A6-40A7-A002-1F747FC1B92B}"/>
              </a:ext>
            </a:extLst>
          </p:cNvPr>
          <p:cNvSpPr>
            <a:spLocks noGrp="1"/>
          </p:cNvSpPr>
          <p:nvPr/>
        </p:nvSpPr>
        <p:spPr>
          <a:xfrm>
            <a:off x="6115050" y="4067175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Unidade central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A7E543D-1F30-4CEE-9786-F593FBCECE4D}"/>
              </a:ext>
            </a:extLst>
          </p:cNvPr>
          <p:cNvSpPr>
            <a:spLocks noGrp="1"/>
          </p:cNvSpPr>
          <p:nvPr/>
        </p:nvSpPr>
        <p:spPr>
          <a:xfrm>
            <a:off x="6115050" y="4429125"/>
            <a:ext cx="4953000" cy="600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Orçamento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 é o aggregate root do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funil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. Um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Cliente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pode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acumular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vários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orçamentos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 e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interações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ao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00" b="0" dirty="0" err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longo</a:t>
            </a:r>
            <a:r>
              <a:rPr sz="1200" b="0" dirty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 do tempo.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73AC90E-255C-41B2-A52D-9162FE9C63B0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98F48B9-2261-4249-9699-96C782D67DFF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Contexto e escopo</a:t>
            </a:r>
          </a:p>
        </p:txBody>
      </p:sp>
    </p:spTree>
    <p:extLst>
      <p:ext uri="{BB962C8B-B14F-4D97-AF65-F5344CB8AC3E}">
        <p14:creationId xmlns:p14="http://schemas.microsoft.com/office/powerpoint/2010/main" val="1842422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59D3EA54-4826-4DF4-B29C-1F78365E3DA4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01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57E3616-0194-49FF-825A-D2B1D9FBA6A4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Funil de atendimento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461C563F-F809-4129-8C59-8E2816018511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970CD73-F2FC-41EE-8A6A-92A8FDE4E5F7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A0E45D7-1DCD-4BBA-BABB-F9A2FDA89496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163556"/>
          </a:solidFill>
          <a:ln w="9525">
            <a:solidFill>
              <a:srgbClr val="294C70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202E27C-5A0B-46EE-ACE9-79AA364BF997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3277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3277C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91D1DFE-D13A-4308-8B58-22F208489AA2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2000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Novo </a:t>
            </a:r>
            <a:r>
              <a:rPr sz="165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contato</a:t>
            </a:r>
            <a:endParaRPr sz="165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DD8AA2C-89E0-467C-906A-37B865D193B1}"/>
              </a:ext>
            </a:extLst>
          </p:cNvPr>
          <p:cNvSpPr>
            <a:spLocks noGrp="1"/>
          </p:cNvSpPr>
          <p:nvPr/>
        </p:nvSpPr>
        <p:spPr>
          <a:xfrm>
            <a:off x="3124200" y="2524125"/>
            <a:ext cx="2667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5880"/>
          </a:bodyPr>
          <a:lstStyle/>
          <a:p>
            <a:pPr algn="ctr">
              <a:defRPr sz="2850" b="1">
                <a:solidFill>
                  <a:srgbClr val="7990A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7990A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C1F0673-BB85-48CD-8A1F-F2AF9551ED22}"/>
              </a:ext>
            </a:extLst>
          </p:cNvPr>
          <p:cNvSpPr>
            <a:spLocks noGrp="1"/>
          </p:cNvSpPr>
          <p:nvPr/>
        </p:nvSpPr>
        <p:spPr>
          <a:xfrm>
            <a:off x="3448050" y="209550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163556"/>
          </a:solidFill>
          <a:ln w="9525">
            <a:solidFill>
              <a:srgbClr val="294C70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449529-E5E1-4C3D-95BC-BE9060E63FD7}"/>
              </a:ext>
            </a:extLst>
          </p:cNvPr>
          <p:cNvSpPr>
            <a:spLocks noGrp="1"/>
          </p:cNvSpPr>
          <p:nvPr/>
        </p:nvSpPr>
        <p:spPr>
          <a:xfrm>
            <a:off x="3638550" y="22860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6D5EF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D5EF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2B57B77-AA24-45FD-A341-34ACE3936525}"/>
              </a:ext>
            </a:extLst>
          </p:cNvPr>
          <p:cNvSpPr>
            <a:spLocks noGrp="1"/>
          </p:cNvSpPr>
          <p:nvPr/>
        </p:nvSpPr>
        <p:spPr>
          <a:xfrm>
            <a:off x="3638550" y="2686050"/>
            <a:ext cx="2000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</a:t>
            </a:r>
            <a:r>
              <a:rPr sz="165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negociação</a:t>
            </a:r>
            <a:endParaRPr sz="165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C3D1C73-8B50-4D37-AFDE-DCCEB1318C53}"/>
              </a:ext>
            </a:extLst>
          </p:cNvPr>
          <p:cNvSpPr>
            <a:spLocks noGrp="1"/>
          </p:cNvSpPr>
          <p:nvPr/>
        </p:nvSpPr>
        <p:spPr>
          <a:xfrm>
            <a:off x="5905500" y="2524125"/>
            <a:ext cx="2667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5880"/>
          </a:bodyPr>
          <a:lstStyle/>
          <a:p>
            <a:pPr algn="ctr">
              <a:defRPr sz="2850" b="1">
                <a:solidFill>
                  <a:srgbClr val="7990A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7990A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72A57FC-A18C-4076-A6E5-07EE01FB4245}"/>
              </a:ext>
            </a:extLst>
          </p:cNvPr>
          <p:cNvSpPr>
            <a:spLocks noGrp="1"/>
          </p:cNvSpPr>
          <p:nvPr/>
        </p:nvSpPr>
        <p:spPr>
          <a:xfrm>
            <a:off x="6229350" y="209550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163556"/>
          </a:solidFill>
          <a:ln w="9525">
            <a:solidFill>
              <a:srgbClr val="294C70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6E8ED21-F9BE-47F8-9463-11AB880BF5F8}"/>
              </a:ext>
            </a:extLst>
          </p:cNvPr>
          <p:cNvSpPr>
            <a:spLocks noGrp="1"/>
          </p:cNvSpPr>
          <p:nvPr/>
        </p:nvSpPr>
        <p:spPr>
          <a:xfrm>
            <a:off x="6419850" y="22860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F5A62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5A62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F6A987C-51AC-4540-9EB6-F19BE4C004D7}"/>
              </a:ext>
            </a:extLst>
          </p:cNvPr>
          <p:cNvSpPr>
            <a:spLocks noGrp="1"/>
          </p:cNvSpPr>
          <p:nvPr/>
        </p:nvSpPr>
        <p:spPr>
          <a:xfrm>
            <a:off x="6419850" y="2686050"/>
            <a:ext cx="2000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242"/>
          </a:bodyPr>
          <a:lstStyle/>
          <a:p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Orçamento</a:t>
            </a:r>
            <a:r>
              <a:rPr sz="165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enviado</a:t>
            </a:r>
            <a:endParaRPr sz="165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7E1F441-A785-49FD-A110-7C86B0EE9763}"/>
              </a:ext>
            </a:extLst>
          </p:cNvPr>
          <p:cNvSpPr>
            <a:spLocks noGrp="1"/>
          </p:cNvSpPr>
          <p:nvPr/>
        </p:nvSpPr>
        <p:spPr>
          <a:xfrm>
            <a:off x="8686800" y="2524125"/>
            <a:ext cx="2667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5880"/>
          </a:bodyPr>
          <a:lstStyle/>
          <a:p>
            <a:pPr algn="ctr">
              <a:defRPr sz="2850" b="1">
                <a:solidFill>
                  <a:srgbClr val="7990A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7990A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2528CFA-42FE-454C-977D-E37E459B327C}"/>
              </a:ext>
            </a:extLst>
          </p:cNvPr>
          <p:cNvSpPr>
            <a:spLocks noGrp="1"/>
          </p:cNvSpPr>
          <p:nvPr/>
        </p:nvSpPr>
        <p:spPr>
          <a:xfrm>
            <a:off x="9010650" y="209550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163556"/>
          </a:solidFill>
          <a:ln w="9525">
            <a:solidFill>
              <a:srgbClr val="294C70"/>
            </a:solidFill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7D9360A-A26A-4F2D-B9F5-078F8AE82A37}"/>
              </a:ext>
            </a:extLst>
          </p:cNvPr>
          <p:cNvSpPr>
            <a:spLocks noGrp="1"/>
          </p:cNvSpPr>
          <p:nvPr/>
        </p:nvSpPr>
        <p:spPr>
          <a:xfrm>
            <a:off x="9201150" y="2286000"/>
            <a:ext cx="523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1FAD8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FAD8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FCCBA8A-CC78-40D3-A459-3B8C9D07A523}"/>
              </a:ext>
            </a:extLst>
          </p:cNvPr>
          <p:cNvSpPr>
            <a:spLocks noGrp="1"/>
          </p:cNvSpPr>
          <p:nvPr/>
        </p:nvSpPr>
        <p:spPr>
          <a:xfrm>
            <a:off x="9201150" y="2686050"/>
            <a:ext cx="20002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Fechado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00AC01A-EF19-4574-BC56-0FACB8B207C5}"/>
              </a:ext>
            </a:extLst>
          </p:cNvPr>
          <p:cNvSpPr>
            <a:spLocks noGrp="1"/>
          </p:cNvSpPr>
          <p:nvPr/>
        </p:nvSpPr>
        <p:spPr>
          <a:xfrm>
            <a:off x="3486150" y="4267200"/>
            <a:ext cx="5219700" cy="838200"/>
          </a:xfrm>
          <a:prstGeom prst="roundRect">
            <a:avLst>
              <a:gd name="adj" fmla="val 18182"/>
            </a:avLst>
          </a:prstGeom>
          <a:solidFill>
            <a:srgbClr val="2A2438"/>
          </a:solidFill>
          <a:ln w="9525">
            <a:solidFill>
              <a:srgbClr val="5E455B"/>
            </a:solidFill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4DFC805-5EE1-45ED-9C2A-6D4FC1E5D5BA}"/>
              </a:ext>
            </a:extLst>
          </p:cNvPr>
          <p:cNvSpPr>
            <a:spLocks noGrp="1"/>
          </p:cNvSpPr>
          <p:nvPr/>
        </p:nvSpPr>
        <p:spPr>
          <a:xfrm>
            <a:off x="3733800" y="4438650"/>
            <a:ext cx="10953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E4575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E45757"/>
                </a:solidFill>
                <a:latin typeface="DejaVu Sans"/>
                <a:ea typeface="DejaVu Sans"/>
                <a:cs typeface="DejaVu Sans"/>
              </a:rPr>
              <a:t>PERDIDO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4D396B2-7554-4B3C-B1C2-DADF20FC14CD}"/>
              </a:ext>
            </a:extLst>
          </p:cNvPr>
          <p:cNvSpPr>
            <a:spLocks noGrp="1"/>
          </p:cNvSpPr>
          <p:nvPr/>
        </p:nvSpPr>
        <p:spPr>
          <a:xfrm>
            <a:off x="4857750" y="4410075"/>
            <a:ext cx="3524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562"/>
          </a:bodyPr>
          <a:lstStyle/>
          <a:p>
            <a:pPr algn="l">
              <a:defRPr sz="12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Pode</a:t>
            </a:r>
            <a:r>
              <a:rPr sz="127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ser </a:t>
            </a:r>
            <a:r>
              <a:rPr sz="127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alcançado</a:t>
            </a:r>
            <a:r>
              <a:rPr sz="127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a </a:t>
            </a:r>
            <a:r>
              <a:rPr sz="127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partir</a:t>
            </a:r>
            <a:r>
              <a:rPr sz="127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127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qualquer</a:t>
            </a:r>
            <a:r>
              <a:rPr sz="127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estágio</a:t>
            </a:r>
            <a:r>
              <a:rPr sz="1275" b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ativo</a:t>
            </a:r>
            <a:endParaRPr sz="1275" b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3EE060F-18D0-43CF-B1BF-0DC6B908732A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417"/>
          </a:bodyPr>
          <a:lstStyle/>
          <a:p>
            <a:pPr algn="l">
              <a:defRPr sz="1200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Regra central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775DE39-6BB5-47E0-8D66-2E4FC527FCDB}"/>
              </a:ext>
            </a:extLst>
          </p:cNvPr>
          <p:cNvSpPr>
            <a:spLocks noGrp="1"/>
          </p:cNvSpPr>
          <p:nvPr/>
        </p:nvSpPr>
        <p:spPr>
          <a:xfrm>
            <a:off x="2095500" y="558165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825"/>
          </a:bodyPr>
          <a:lstStyle/>
          <a:p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</a:t>
            </a:r>
            <a:r>
              <a:rPr sz="157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validação</a:t>
            </a:r>
            <a:r>
              <a:rPr sz="157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157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transição</a:t>
            </a:r>
            <a:r>
              <a:rPr sz="157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vive</a:t>
            </a:r>
            <a:r>
              <a:rPr sz="157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no </a:t>
            </a:r>
            <a:r>
              <a:rPr sz="157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domínio</a:t>
            </a:r>
            <a:r>
              <a:rPr sz="157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57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não</a:t>
            </a:r>
            <a:r>
              <a:rPr sz="157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somente</a:t>
            </a:r>
            <a:r>
              <a:rPr sz="157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na</a:t>
            </a:r>
            <a:r>
              <a:rPr sz="157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interface.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AB2D8C1-6D14-4DAD-A519-924CB9AE2226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15611E4-BD5E-440D-B96F-54D211FEB922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rPr>
              <a:t>Funil</a:t>
            </a:r>
          </a:p>
        </p:txBody>
      </p:sp>
    </p:spTree>
    <p:extLst>
      <p:ext uri="{BB962C8B-B14F-4D97-AF65-F5344CB8AC3E}">
        <p14:creationId xmlns:p14="http://schemas.microsoft.com/office/powerpoint/2010/main" val="568321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B284F8D2-F4C9-4340-8BB1-66F57363A2E0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02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C581AC2-307D-45CE-BA08-2164CD366F23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Stack tecnológico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A2823AD0-4E88-4C74-9F96-00165BFE2978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7E448BD-5C20-4DE3-A788-A4CF7DD6C17A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42A4AC0-B6A0-4E0F-9C0E-6C687D1AD036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3371850" cy="28575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1A7251-B069-4C51-A941-3AC20B5E5061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85725" cy="2857500"/>
          </a:xfrm>
          <a:prstGeom prst="roundRect">
            <a:avLst>
              <a:gd name="adj" fmla="val 50000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6DA1AF4-E876-4D4F-A784-319C08D037FB}"/>
              </a:ext>
            </a:extLst>
          </p:cNvPr>
          <p:cNvSpPr>
            <a:spLocks noGrp="1"/>
          </p:cNvSpPr>
          <p:nvPr/>
        </p:nvSpPr>
        <p:spPr>
          <a:xfrm>
            <a:off x="876300" y="1819275"/>
            <a:ext cx="29908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Backend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60D7A63-D19A-4BEB-B887-B21519840C01}"/>
              </a:ext>
            </a:extLst>
          </p:cNvPr>
          <p:cNvSpPr>
            <a:spLocks noGrp="1"/>
          </p:cNvSpPr>
          <p:nvPr/>
        </p:nvSpPr>
        <p:spPr>
          <a:xfrm>
            <a:off x="876300" y="2181225"/>
            <a:ext cx="2990850" cy="2219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Python 3.12+</a:t>
            </a:r>
          </a:p>
          <a:p>
            <a:pPr algn="l">
              <a:def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FastAPI + Pydantic</a:t>
            </a:r>
          </a:p>
          <a:p>
            <a:pPr algn="l">
              <a:def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SQLAlchemy 2.x</a:t>
            </a:r>
          </a:p>
          <a:p>
            <a:pPr algn="l">
              <a:def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Alembic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C3AD914-1D1D-4E90-BE94-F0234666281F}"/>
              </a:ext>
            </a:extLst>
          </p:cNvPr>
          <p:cNvSpPr>
            <a:spLocks noGrp="1"/>
          </p:cNvSpPr>
          <p:nvPr/>
        </p:nvSpPr>
        <p:spPr>
          <a:xfrm>
            <a:off x="4381500" y="1657350"/>
            <a:ext cx="3371850" cy="28575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F61C58C-899F-41A0-9F44-69C9157F91F3}"/>
              </a:ext>
            </a:extLst>
          </p:cNvPr>
          <p:cNvSpPr>
            <a:spLocks noGrp="1"/>
          </p:cNvSpPr>
          <p:nvPr/>
        </p:nvSpPr>
        <p:spPr>
          <a:xfrm>
            <a:off x="4381500" y="1657350"/>
            <a:ext cx="85725" cy="2857500"/>
          </a:xfrm>
          <a:prstGeom prst="roundRect">
            <a:avLst>
              <a:gd name="adj" fmla="val 50000"/>
            </a:avLst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387C286-2A6C-4372-AB66-33EE2FF5ABDD}"/>
              </a:ext>
            </a:extLst>
          </p:cNvPr>
          <p:cNvSpPr>
            <a:spLocks noGrp="1"/>
          </p:cNvSpPr>
          <p:nvPr/>
        </p:nvSpPr>
        <p:spPr>
          <a:xfrm>
            <a:off x="4591050" y="1819275"/>
            <a:ext cx="29908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Frontend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037D42F-7649-43B5-B6CC-BE3F131DDA6D}"/>
              </a:ext>
            </a:extLst>
          </p:cNvPr>
          <p:cNvSpPr>
            <a:spLocks noGrp="1"/>
          </p:cNvSpPr>
          <p:nvPr/>
        </p:nvSpPr>
        <p:spPr>
          <a:xfrm>
            <a:off x="4591050" y="2181225"/>
            <a:ext cx="2990850" cy="2219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Next.js App Router</a:t>
            </a:r>
          </a:p>
          <a:p>
            <a:pPr algn="l">
              <a:def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TypeScript estrito</a:t>
            </a:r>
          </a:p>
          <a:p>
            <a:pPr algn="l">
              <a:def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Tailwind CSS</a:t>
            </a:r>
          </a:p>
          <a:p>
            <a:pPr algn="l">
              <a:def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shadcn/ui + dnd-kit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02B0AEB-096C-4812-8E31-B98A3D7FA2ED}"/>
              </a:ext>
            </a:extLst>
          </p:cNvPr>
          <p:cNvSpPr>
            <a:spLocks noGrp="1"/>
          </p:cNvSpPr>
          <p:nvPr/>
        </p:nvSpPr>
        <p:spPr>
          <a:xfrm>
            <a:off x="8096250" y="1657350"/>
            <a:ext cx="3371850" cy="28575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584CEAF-2C49-4B47-A942-110C9A43C8C0}"/>
              </a:ext>
            </a:extLst>
          </p:cNvPr>
          <p:cNvSpPr>
            <a:spLocks noGrp="1"/>
          </p:cNvSpPr>
          <p:nvPr/>
        </p:nvSpPr>
        <p:spPr>
          <a:xfrm>
            <a:off x="8096250" y="1657350"/>
            <a:ext cx="85725" cy="28575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CFC59D0-8899-4595-8F08-BF84410921CE}"/>
              </a:ext>
            </a:extLst>
          </p:cNvPr>
          <p:cNvSpPr>
            <a:spLocks noGrp="1"/>
          </p:cNvSpPr>
          <p:nvPr/>
        </p:nvSpPr>
        <p:spPr>
          <a:xfrm>
            <a:off x="8305800" y="1819275"/>
            <a:ext cx="29908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Dados e testes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080781C-0CA6-4340-8566-736F9034E882}"/>
              </a:ext>
            </a:extLst>
          </p:cNvPr>
          <p:cNvSpPr>
            <a:spLocks noGrp="1"/>
          </p:cNvSpPr>
          <p:nvPr/>
        </p:nvSpPr>
        <p:spPr>
          <a:xfrm>
            <a:off x="8305800" y="2181225"/>
            <a:ext cx="2990850" cy="2219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PostgreSQL 16</a:t>
            </a:r>
          </a:p>
          <a:p>
            <a:pPr algn="l">
              <a:def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pytest</a:t>
            </a:r>
          </a:p>
          <a:p>
            <a:pPr algn="l">
              <a:def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Vitest + Testing Library</a:t>
            </a:r>
          </a:p>
          <a:p>
            <a:pPr algn="l">
              <a:def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Testes de arquitetura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E8A1F6D-C079-4BC1-86BC-86F1AB881B01}"/>
              </a:ext>
            </a:extLst>
          </p:cNvPr>
          <p:cNvSpPr>
            <a:spLocks noGrp="1"/>
          </p:cNvSpPr>
          <p:nvPr/>
        </p:nvSpPr>
        <p:spPr>
          <a:xfrm>
            <a:off x="666750" y="4819650"/>
            <a:ext cx="10801350" cy="933450"/>
          </a:xfrm>
          <a:prstGeom prst="roundRect">
            <a:avLst>
              <a:gd name="adj" fmla="val 16327"/>
            </a:avLst>
          </a:prstGeom>
          <a:solidFill>
            <a:srgbClr val="0B1F3A"/>
          </a:solidFill>
          <a:ln w="9525">
            <a:solidFill>
              <a:srgbClr val="0B1F3A"/>
            </a:solidFill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3740361-937C-4D4C-AC20-EE13E2FF3A01}"/>
              </a:ext>
            </a:extLst>
          </p:cNvPr>
          <p:cNvSpPr>
            <a:spLocks noGrp="1"/>
          </p:cNvSpPr>
          <p:nvPr/>
        </p:nvSpPr>
        <p:spPr>
          <a:xfrm>
            <a:off x="895350" y="5057775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INFRAESTRUTURA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A7CE689-556A-4930-8CE5-3D030A475614}"/>
              </a:ext>
            </a:extLst>
          </p:cNvPr>
          <p:cNvSpPr>
            <a:spLocks noGrp="1"/>
          </p:cNvSpPr>
          <p:nvPr/>
        </p:nvSpPr>
        <p:spPr>
          <a:xfrm>
            <a:off x="2952750" y="4991100"/>
            <a:ext cx="8001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Docker Compose · variáveis em .env · regra de negócio isolada dos frameworks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0A1530E-4515-4907-93BF-8F5EA1B6BAF8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F9ACFA7-CD07-4F9C-A94D-9C19FDB5DC28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Stack tecnológico</a:t>
            </a:r>
          </a:p>
        </p:txBody>
      </p:sp>
    </p:spTree>
    <p:extLst>
      <p:ext uri="{BB962C8B-B14F-4D97-AF65-F5344CB8AC3E}">
        <p14:creationId xmlns:p14="http://schemas.microsoft.com/office/powerpoint/2010/main" val="1825452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865A8B11-3C7F-4C14-B23C-0A10A0403E64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3DE5D6C-8B77-4FA7-93FF-713DA4F8B37D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Requisitos funcionais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AB362FDD-D667-49A5-B5B4-BD64AB8FCF22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3817807-9403-4392-95C5-BE8753A8589A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AA3DB88-E310-4615-B347-2E63CB6185C9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5143500" cy="1657350"/>
          </a:xfrm>
          <a:prstGeom prst="roundRect">
            <a:avLst>
              <a:gd name="adj" fmla="val 9195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5875068-DBCA-4A7E-8763-013EAD9ABD9A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85725" cy="1657350"/>
          </a:xfrm>
          <a:prstGeom prst="roundRect">
            <a:avLst>
              <a:gd name="adj" fmla="val 50000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CD5C275-BF83-4D33-9222-CD6DEA61DD25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Entrada e validação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EC20EF5-CE7E-4ADC-9065-8EABC3AF85E9}"/>
              </a:ext>
            </a:extLst>
          </p:cNvPr>
          <p:cNvSpPr>
            <a:spLocks noGrp="1"/>
          </p:cNvSpPr>
          <p:nvPr/>
        </p:nvSpPr>
        <p:spPr>
          <a:xfrm>
            <a:off x="876300" y="2143125"/>
            <a:ext cx="4762500" cy="1019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RF01 Registrar contato</a:t>
            </a:r>
          </a:p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RF09 Validar telefone e e-mail</a:t>
            </a:r>
          </a:p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RF08 Permitir vários orçamentos por cliente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4091261-947E-49BA-98D3-0361C3E39B20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5143500" cy="1657350"/>
          </a:xfrm>
          <a:prstGeom prst="roundRect">
            <a:avLst>
              <a:gd name="adj" fmla="val 9195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D7F69DA-CC40-4736-A376-F58667381C7E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85725" cy="1657350"/>
          </a:xfrm>
          <a:prstGeom prst="roundRect">
            <a:avLst>
              <a:gd name="adj" fmla="val 50000"/>
            </a:avLst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1DF0BE-1A6D-4466-B750-02677320B7BB}"/>
              </a:ext>
            </a:extLst>
          </p:cNvPr>
          <p:cNvSpPr>
            <a:spLocks noGrp="1"/>
          </p:cNvSpPr>
          <p:nvPr/>
        </p:nvSpPr>
        <p:spPr>
          <a:xfrm>
            <a:off x="6400800" y="17811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Movimentação do funil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C7FB599-988D-4956-B2AE-AA4CB271E4C2}"/>
              </a:ext>
            </a:extLst>
          </p:cNvPr>
          <p:cNvSpPr>
            <a:spLocks noGrp="1"/>
          </p:cNvSpPr>
          <p:nvPr/>
        </p:nvSpPr>
        <p:spPr>
          <a:xfrm>
            <a:off x="6400800" y="2143125"/>
            <a:ext cx="4762500" cy="1019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RF02 Mover estágio em sequência</a:t>
            </a:r>
          </a:p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RF03 Exigir valor antes de fechar</a:t>
            </a:r>
          </a:p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RF05 Exibir o Kanban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8FFC118-709D-468D-BFCB-3A131B66BFB9}"/>
              </a:ext>
            </a:extLst>
          </p:cNvPr>
          <p:cNvSpPr>
            <a:spLocks noGrp="1"/>
          </p:cNvSpPr>
          <p:nvPr/>
        </p:nvSpPr>
        <p:spPr>
          <a:xfrm>
            <a:off x="666750" y="3600450"/>
            <a:ext cx="5143500" cy="1657350"/>
          </a:xfrm>
          <a:prstGeom prst="roundRect">
            <a:avLst>
              <a:gd name="adj" fmla="val 9195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1AF7B137-37B8-4C04-86F6-6F01001E107E}"/>
              </a:ext>
            </a:extLst>
          </p:cNvPr>
          <p:cNvSpPr>
            <a:spLocks noGrp="1"/>
          </p:cNvSpPr>
          <p:nvPr/>
        </p:nvSpPr>
        <p:spPr>
          <a:xfrm>
            <a:off x="666750" y="3600450"/>
            <a:ext cx="85725" cy="165735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C84D607-1D14-4CBF-9F34-8E2E485A523C}"/>
              </a:ext>
            </a:extLst>
          </p:cNvPr>
          <p:cNvSpPr>
            <a:spLocks noGrp="1"/>
          </p:cNvSpPr>
          <p:nvPr/>
        </p:nvSpPr>
        <p:spPr>
          <a:xfrm>
            <a:off x="876300" y="3762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Histórico e métricas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7D53095-A719-407F-A2DA-0AA01404B187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4762500" cy="1019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RF04 Registrar interação</a:t>
            </a:r>
          </a:p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RF07 Consultar histórico cronológico</a:t>
            </a:r>
          </a:p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RF06 Calcular volume aberto e taxa de fechamento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A92A3A7-0982-4034-8B71-FF715784AB12}"/>
              </a:ext>
            </a:extLst>
          </p:cNvPr>
          <p:cNvSpPr>
            <a:spLocks noGrp="1"/>
          </p:cNvSpPr>
          <p:nvPr/>
        </p:nvSpPr>
        <p:spPr>
          <a:xfrm>
            <a:off x="6191250" y="3600450"/>
            <a:ext cx="5143500" cy="1657350"/>
          </a:xfrm>
          <a:prstGeom prst="roundRect">
            <a:avLst>
              <a:gd name="adj" fmla="val 9195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419A051-603D-4D26-B669-4D6503FE28BB}"/>
              </a:ext>
            </a:extLst>
          </p:cNvPr>
          <p:cNvSpPr>
            <a:spLocks noGrp="1"/>
          </p:cNvSpPr>
          <p:nvPr/>
        </p:nvSpPr>
        <p:spPr>
          <a:xfrm>
            <a:off x="6191250" y="3600450"/>
            <a:ext cx="85725" cy="1657350"/>
          </a:xfrm>
          <a:prstGeom prst="roundRect">
            <a:avLst>
              <a:gd name="adj" fmla="val 50000"/>
            </a:avLst>
          </a:prstGeom>
          <a:solidFill>
            <a:srgbClr val="E45757"/>
          </a:solidFill>
          <a:ln w="9525">
            <a:solidFill>
              <a:srgbClr val="E45757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78D5B52-5042-4EC6-A201-44BFEBB55343}"/>
              </a:ext>
            </a:extLst>
          </p:cNvPr>
          <p:cNvSpPr>
            <a:spLocks noGrp="1"/>
          </p:cNvSpPr>
          <p:nvPr/>
        </p:nvSpPr>
        <p:spPr>
          <a:xfrm>
            <a:off x="6400800" y="3762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Administração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FA1B7B3-4AA5-4FED-A985-C05203622F3C}"/>
              </a:ext>
            </a:extLst>
          </p:cNvPr>
          <p:cNvSpPr>
            <a:spLocks noGrp="1"/>
          </p:cNvSpPr>
          <p:nvPr/>
        </p:nvSpPr>
        <p:spPr>
          <a:xfrm>
            <a:off x="6400800" y="4124325"/>
            <a:ext cx="4762500" cy="1019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RF10 Gerenciar usuários</a:t>
            </a:r>
          </a:p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Administrador cria, edita e desativa contas, sem desativar a própria conta.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335E4B7-5308-48F2-8C55-C52F8C62645D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021A97D-6943-47AE-8955-A05E5B161C86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Requisitos funcionais</a:t>
            </a:r>
          </a:p>
        </p:txBody>
      </p:sp>
    </p:spTree>
    <p:extLst>
      <p:ext uri="{BB962C8B-B14F-4D97-AF65-F5344CB8AC3E}">
        <p14:creationId xmlns:p14="http://schemas.microsoft.com/office/powerpoint/2010/main" val="61848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C0342147-E19B-4DF0-9BE7-2A27B23D55AF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435E3D0-DDD7-45FD-818C-AA4E42F9FB68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Requisitos não funcionais que dirigem a arquitetura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F9060AE3-96C2-45A5-8917-0769D8DBACB5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53289A2-A4FB-41F2-B93F-D394301497E4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6E42AB5-660A-4AB8-BF7A-72E6E70BDBF7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572750" cy="685800"/>
          </a:xfrm>
          <a:prstGeom prst="roundRect">
            <a:avLst>
              <a:gd name="adj" fmla="val 19444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4E46BC9-E364-4A91-9F37-7410AA895994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RNF01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D786482-6CB2-47F5-B9FE-C186CAFCE96B}"/>
              </a:ext>
            </a:extLst>
          </p:cNvPr>
          <p:cNvSpPr>
            <a:spLocks noGrp="1"/>
          </p:cNvSpPr>
          <p:nvPr/>
        </p:nvSpPr>
        <p:spPr>
          <a:xfrm>
            <a:off x="2095500" y="172402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Desempenho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100989F-0AF8-4380-AD76-1B661B149FB9}"/>
              </a:ext>
            </a:extLst>
          </p:cNvPr>
          <p:cNvSpPr>
            <a:spLocks noGrp="1"/>
          </p:cNvSpPr>
          <p:nvPr/>
        </p:nvSpPr>
        <p:spPr>
          <a:xfrm>
            <a:off x="4429125" y="1724025"/>
            <a:ext cx="6477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Kanban em menos de 2 s com 500 orçamentos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AFA3AFF-3A22-42F9-B20D-8F5C169F184C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1057275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644F6C4-B0A0-477C-BC94-BB778A764C2F}"/>
              </a:ext>
            </a:extLst>
          </p:cNvPr>
          <p:cNvSpPr>
            <a:spLocks noGrp="1"/>
          </p:cNvSpPr>
          <p:nvPr/>
        </p:nvSpPr>
        <p:spPr>
          <a:xfrm>
            <a:off x="876300" y="261937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6D5EF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D5EF3"/>
                </a:solidFill>
                <a:latin typeface="DejaVu Sans"/>
                <a:ea typeface="DejaVu Sans"/>
                <a:cs typeface="DejaVu Sans"/>
              </a:rPr>
              <a:t>RNF02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213F6E5-7853-40C6-AC0A-15E39AE0E08D}"/>
              </a:ext>
            </a:extLst>
          </p:cNvPr>
          <p:cNvSpPr>
            <a:spLocks noGrp="1"/>
          </p:cNvSpPr>
          <p:nvPr/>
        </p:nvSpPr>
        <p:spPr>
          <a:xfrm>
            <a:off x="2095500" y="25908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Usabilidade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8CBA847-27B9-4235-9E15-415277B98A93}"/>
              </a:ext>
            </a:extLst>
          </p:cNvPr>
          <p:cNvSpPr>
            <a:spLocks noGrp="1"/>
          </p:cNvSpPr>
          <p:nvPr/>
        </p:nvSpPr>
        <p:spPr>
          <a:xfrm>
            <a:off x="4429125" y="2590800"/>
            <a:ext cx="6477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Drag-and-drop com rollback em caso de rejeição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97F5DB8-8649-42C3-B767-F13E3496D9F6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10572750" cy="685800"/>
          </a:xfrm>
          <a:prstGeom prst="roundRect">
            <a:avLst>
              <a:gd name="adj" fmla="val 19444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05C7DA7-4026-4A8D-AA21-98BD548F6168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3277C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3277C8"/>
                </a:solidFill>
                <a:latin typeface="DejaVu Sans"/>
                <a:ea typeface="DejaVu Sans"/>
                <a:cs typeface="DejaVu Sans"/>
              </a:rPr>
              <a:t>RNF03/06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B076608-2602-4FC9-9F53-1F95AC8297A1}"/>
              </a:ext>
            </a:extLst>
          </p:cNvPr>
          <p:cNvSpPr>
            <a:spLocks noGrp="1"/>
          </p:cNvSpPr>
          <p:nvPr/>
        </p:nvSpPr>
        <p:spPr>
          <a:xfrm>
            <a:off x="2095500" y="345757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Manutenibilidade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5AC49C9-5B63-4DB0-819C-B46B41D58D5C}"/>
              </a:ext>
            </a:extLst>
          </p:cNvPr>
          <p:cNvSpPr>
            <a:spLocks noGrp="1"/>
          </p:cNvSpPr>
          <p:nvPr/>
        </p:nvSpPr>
        <p:spPr>
          <a:xfrm>
            <a:off x="4429125" y="3457575"/>
            <a:ext cx="6477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Use Cases dependem de interfaces, não de frameworks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E553628-39BD-4275-8C8C-D9AD25F7D577}"/>
              </a:ext>
            </a:extLst>
          </p:cNvPr>
          <p:cNvSpPr>
            <a:spLocks noGrp="1"/>
          </p:cNvSpPr>
          <p:nvPr/>
        </p:nvSpPr>
        <p:spPr>
          <a:xfrm>
            <a:off x="685800" y="4162425"/>
            <a:ext cx="1057275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ABA5536-E9B6-4B19-B18C-A8DB4249D724}"/>
              </a:ext>
            </a:extLst>
          </p:cNvPr>
          <p:cNvSpPr>
            <a:spLocks noGrp="1"/>
          </p:cNvSpPr>
          <p:nvPr/>
        </p:nvSpPr>
        <p:spPr>
          <a:xfrm>
            <a:off x="876300" y="43529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F5A62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5A623"/>
                </a:solidFill>
                <a:latin typeface="DejaVu Sans"/>
                <a:ea typeface="DejaVu Sans"/>
                <a:cs typeface="DejaVu Sans"/>
              </a:rPr>
              <a:t>RNF04/08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E4CB3F6-7B77-4C9D-B798-9CFC60E6C6FB}"/>
              </a:ext>
            </a:extLst>
          </p:cNvPr>
          <p:cNvSpPr>
            <a:spLocks noGrp="1"/>
          </p:cNvSpPr>
          <p:nvPr/>
        </p:nvSpPr>
        <p:spPr>
          <a:xfrm>
            <a:off x="2095500" y="432435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Confiabilidade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7688B57-C91F-4C34-ABFC-21CBC5B6EC8C}"/>
              </a:ext>
            </a:extLst>
          </p:cNvPr>
          <p:cNvSpPr>
            <a:spLocks noGrp="1"/>
          </p:cNvSpPr>
          <p:nvPr/>
        </p:nvSpPr>
        <p:spPr>
          <a:xfrm>
            <a:off x="4429125" y="4324350"/>
            <a:ext cx="6477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Transições e exclusões preservam integridade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954FE9EE-ED10-4CF8-AFCC-1B385DBF2B6E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10572750" cy="685800"/>
          </a:xfrm>
          <a:prstGeom prst="roundRect">
            <a:avLst>
              <a:gd name="adj" fmla="val 19444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077E9EF-18A8-4AA9-BFE7-ACBCB16B6C65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597"/>
          </a:bodyPr>
          <a:lstStyle/>
          <a:p>
            <a:pPr algn="l">
              <a:defRPr sz="1200" b="1">
                <a:solidFill>
                  <a:srgbClr val="1FAD8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FAD83"/>
                </a:solidFill>
                <a:latin typeface="DejaVu Sans"/>
                <a:ea typeface="DejaVu Sans"/>
                <a:cs typeface="DejaVu Sans"/>
              </a:rPr>
              <a:t>RNF05/07/09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8C2EF4F-E39A-4133-9304-531D8C57AC32}"/>
              </a:ext>
            </a:extLst>
          </p:cNvPr>
          <p:cNvSpPr>
            <a:spLocks noGrp="1"/>
          </p:cNvSpPr>
          <p:nvPr/>
        </p:nvSpPr>
        <p:spPr>
          <a:xfrm>
            <a:off x="2095500" y="5191125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Operação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5015BBC-5E3E-4B98-A375-F152C9EBBFE4}"/>
              </a:ext>
            </a:extLst>
          </p:cNvPr>
          <p:cNvSpPr>
            <a:spLocks noGrp="1"/>
          </p:cNvSpPr>
          <p:nvPr/>
        </p:nvSpPr>
        <p:spPr>
          <a:xfrm>
            <a:off x="4429125" y="5191125"/>
            <a:ext cx="6477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Tipagem estrita, autenticação e Docker Compose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A6345BD-C7C1-4C25-A945-002B16452887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05EFDC9-84E7-4D7E-A445-9D8942F446DF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Requisitos não funcionais</a:t>
            </a:r>
          </a:p>
        </p:txBody>
      </p:sp>
    </p:spTree>
    <p:extLst>
      <p:ext uri="{BB962C8B-B14F-4D97-AF65-F5344CB8AC3E}">
        <p14:creationId xmlns:p14="http://schemas.microsoft.com/office/powerpoint/2010/main" val="1123917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D3FF06EA-86D3-4AF5-885B-88B4B8A171C6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04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5B2FF2C-49B2-49B7-BBDF-F5962073A61C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Casos de uso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B2C594B0-4235-4497-828F-5421BAA0F8E3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00F4194-9D66-4832-822E-0425973EDE25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487ED78-DB13-4B3D-B2BD-D445E84D55B7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7477125" cy="390525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0100" y="2163978"/>
            <a:ext cx="7086600" cy="2682445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2881BE2-47A6-4BC1-9192-334DBD10E201}"/>
              </a:ext>
            </a:extLst>
          </p:cNvPr>
          <p:cNvSpPr>
            <a:spLocks noGrp="1"/>
          </p:cNvSpPr>
          <p:nvPr/>
        </p:nvSpPr>
        <p:spPr>
          <a:xfrm>
            <a:off x="8420100" y="1543050"/>
            <a:ext cx="3048000" cy="1104900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F8AFCA9-621F-4CF8-B998-166E02589819}"/>
              </a:ext>
            </a:extLst>
          </p:cNvPr>
          <p:cNvSpPr>
            <a:spLocks noGrp="1"/>
          </p:cNvSpPr>
          <p:nvPr/>
        </p:nvSpPr>
        <p:spPr>
          <a:xfrm>
            <a:off x="8420100" y="1543050"/>
            <a:ext cx="85725" cy="1104900"/>
          </a:xfrm>
          <a:prstGeom prst="roundRect">
            <a:avLst>
              <a:gd name="adj" fmla="val 50000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85EB781-0245-4ECA-A0A4-38CEBC5D403B}"/>
              </a:ext>
            </a:extLst>
          </p:cNvPr>
          <p:cNvSpPr>
            <a:spLocks noGrp="1"/>
          </p:cNvSpPr>
          <p:nvPr/>
        </p:nvSpPr>
        <p:spPr>
          <a:xfrm>
            <a:off x="8629650" y="170497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Include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EA68F53-852E-4CE2-91CD-7417F63BA366}"/>
              </a:ext>
            </a:extLst>
          </p:cNvPr>
          <p:cNvSpPr>
            <a:spLocks noGrp="1"/>
          </p:cNvSpPr>
          <p:nvPr/>
        </p:nvSpPr>
        <p:spPr>
          <a:xfrm>
            <a:off x="8629650" y="2066925"/>
            <a:ext cx="266700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UC01 sempre valida contato. UC03 sempre valida a transição.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A3D0235-73CD-4D2F-A77F-362B4A108E83}"/>
              </a:ext>
            </a:extLst>
          </p:cNvPr>
          <p:cNvSpPr>
            <a:spLocks noGrp="1"/>
          </p:cNvSpPr>
          <p:nvPr/>
        </p:nvSpPr>
        <p:spPr>
          <a:xfrm>
            <a:off x="8420100" y="2819400"/>
            <a:ext cx="3048000" cy="1104900"/>
          </a:xfrm>
          <a:prstGeom prst="roundRect">
            <a:avLst>
              <a:gd name="adj" fmla="val 13793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DF918F2-6B95-4D2C-817B-0B897355E33A}"/>
              </a:ext>
            </a:extLst>
          </p:cNvPr>
          <p:cNvSpPr>
            <a:spLocks noGrp="1"/>
          </p:cNvSpPr>
          <p:nvPr/>
        </p:nvSpPr>
        <p:spPr>
          <a:xfrm>
            <a:off x="8420100" y="2819400"/>
            <a:ext cx="85725" cy="11049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F4ACB90-5423-4513-9D09-8123B0F68531}"/>
              </a:ext>
            </a:extLst>
          </p:cNvPr>
          <p:cNvSpPr>
            <a:spLocks noGrp="1"/>
          </p:cNvSpPr>
          <p:nvPr/>
        </p:nvSpPr>
        <p:spPr>
          <a:xfrm>
            <a:off x="8629650" y="298132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Extend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8603AD6-D11D-489C-9EE7-47360D9AC0E8}"/>
              </a:ext>
            </a:extLst>
          </p:cNvPr>
          <p:cNvSpPr>
            <a:spLocks noGrp="1"/>
          </p:cNvSpPr>
          <p:nvPr/>
        </p:nvSpPr>
        <p:spPr>
          <a:xfrm>
            <a:off x="8629650" y="3343275"/>
            <a:ext cx="266700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Definir valor só aparece quando a transição exige valor ainda ausente.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DBC2D16-5178-40FF-AA61-99CA182F7477}"/>
              </a:ext>
            </a:extLst>
          </p:cNvPr>
          <p:cNvSpPr>
            <a:spLocks noGrp="1"/>
          </p:cNvSpPr>
          <p:nvPr/>
        </p:nvSpPr>
        <p:spPr>
          <a:xfrm>
            <a:off x="8420100" y="4095750"/>
            <a:ext cx="3048000" cy="1352550"/>
          </a:xfrm>
          <a:prstGeom prst="roundRect">
            <a:avLst>
              <a:gd name="adj" fmla="val 11268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8758BD0-114A-4D03-AEFD-1E0B76C81F12}"/>
              </a:ext>
            </a:extLst>
          </p:cNvPr>
          <p:cNvSpPr>
            <a:spLocks noGrp="1"/>
          </p:cNvSpPr>
          <p:nvPr/>
        </p:nvSpPr>
        <p:spPr>
          <a:xfrm>
            <a:off x="8420100" y="4095750"/>
            <a:ext cx="85725" cy="1352550"/>
          </a:xfrm>
          <a:prstGeom prst="roundRect">
            <a:avLst>
              <a:gd name="adj" fmla="val 50000"/>
            </a:avLst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BAC69C2-00BC-4840-804A-7BAE4D2EDAF0}"/>
              </a:ext>
            </a:extLst>
          </p:cNvPr>
          <p:cNvSpPr>
            <a:spLocks noGrp="1"/>
          </p:cNvSpPr>
          <p:nvPr/>
        </p:nvSpPr>
        <p:spPr>
          <a:xfrm>
            <a:off x="8629650" y="4257675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Atores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78159F6-9790-4410-9A95-D407FD09BF05}"/>
              </a:ext>
            </a:extLst>
          </p:cNvPr>
          <p:cNvSpPr>
            <a:spLocks noGrp="1"/>
          </p:cNvSpPr>
          <p:nvPr/>
        </p:nvSpPr>
        <p:spPr>
          <a:xfrm>
            <a:off x="8629650" y="4619625"/>
            <a:ext cx="26670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Usuário inicia os fluxos. Administrador herda seus casos de uso e adiciona a gestão de usuários.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9D09AA4-6B89-493F-8089-C2D47E3047C8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97D2A38-50F1-4D8D-9EEB-218255DF9EA2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Casos de uso</a:t>
            </a:r>
          </a:p>
        </p:txBody>
      </p:sp>
    </p:spTree>
    <p:extLst>
      <p:ext uri="{BB962C8B-B14F-4D97-AF65-F5344CB8AC3E}">
        <p14:creationId xmlns:p14="http://schemas.microsoft.com/office/powerpoint/2010/main" val="1827377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CE3B6C72-13D5-43B4-86CB-92D3166B0D37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11430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Casos de uso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593" y="1184988"/>
            <a:ext cx="12174408" cy="460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1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CA2AFF4-48A1-4A72-BDD0-345847AA539A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5788209-99DF-4E3D-BF53-04F304FBAC51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Modelo de domínio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62E70CC2-2E4A-4A20-9024-EB5DB228CFFD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B306146-B5FB-4128-A98A-9A56F7B11694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DCE4268-DB8B-46C7-B17B-AF9C5464E41B}"/>
              </a:ext>
            </a:extLst>
          </p:cNvPr>
          <p:cNvSpPr>
            <a:spLocks noGrp="1"/>
          </p:cNvSpPr>
          <p:nvPr/>
        </p:nvSpPr>
        <p:spPr>
          <a:xfrm>
            <a:off x="590550" y="1466850"/>
            <a:ext cx="6953250" cy="47625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53677" y="1581150"/>
            <a:ext cx="2826995" cy="4524375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AEF8297-4C02-4BA2-9770-0ED131333436}"/>
              </a:ext>
            </a:extLst>
          </p:cNvPr>
          <p:cNvSpPr>
            <a:spLocks noGrp="1"/>
          </p:cNvSpPr>
          <p:nvPr/>
        </p:nvSpPr>
        <p:spPr>
          <a:xfrm>
            <a:off x="7905750" y="1581150"/>
            <a:ext cx="3619500" cy="1314450"/>
          </a:xfrm>
          <a:prstGeom prst="roundRect">
            <a:avLst>
              <a:gd name="adj" fmla="val 11594"/>
            </a:avLst>
          </a:prstGeom>
          <a:solidFill>
            <a:srgbClr val="163556"/>
          </a:solidFill>
          <a:ln w="9525">
            <a:solidFill>
              <a:srgbClr val="294C70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9992BC1-953C-4DBD-9BDA-44DD8B848C94}"/>
              </a:ext>
            </a:extLst>
          </p:cNvPr>
          <p:cNvSpPr>
            <a:spLocks noGrp="1"/>
          </p:cNvSpPr>
          <p:nvPr/>
        </p:nvSpPr>
        <p:spPr>
          <a:xfrm>
            <a:off x="7905750" y="1581150"/>
            <a:ext cx="85725" cy="1314450"/>
          </a:xfrm>
          <a:prstGeom prst="roundRect">
            <a:avLst>
              <a:gd name="adj" fmla="val 50000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C7D83D7-2590-445B-8D3E-093E04FFE80A}"/>
              </a:ext>
            </a:extLst>
          </p:cNvPr>
          <p:cNvSpPr>
            <a:spLocks noGrp="1"/>
          </p:cNvSpPr>
          <p:nvPr/>
        </p:nvSpPr>
        <p:spPr>
          <a:xfrm>
            <a:off x="8115300" y="1743075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Agregados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3BF6CFE-3428-4BB8-9821-57ACAA8DE63D}"/>
              </a:ext>
            </a:extLst>
          </p:cNvPr>
          <p:cNvSpPr>
            <a:spLocks noGrp="1"/>
          </p:cNvSpPr>
          <p:nvPr/>
        </p:nvSpPr>
        <p:spPr>
          <a:xfrm>
            <a:off x="8115300" y="2105025"/>
            <a:ext cx="3238500" cy="676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D9E3E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9E3EF"/>
                </a:solidFill>
                <a:latin typeface="DejaVu Sans"/>
                <a:ea typeface="DejaVu Sans"/>
                <a:cs typeface="DejaVu Sans"/>
              </a:rPr>
              <a:t>Cliente e Orçamento são roots separados. Interação pertence ao Orçamento.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8A9FAFA-DCC6-49D9-8FD5-8CD56412D1D0}"/>
              </a:ext>
            </a:extLst>
          </p:cNvPr>
          <p:cNvSpPr>
            <a:spLocks noGrp="1"/>
          </p:cNvSpPr>
          <p:nvPr/>
        </p:nvSpPr>
        <p:spPr>
          <a:xfrm>
            <a:off x="7905750" y="3105150"/>
            <a:ext cx="3619500" cy="1314450"/>
          </a:xfrm>
          <a:prstGeom prst="roundRect">
            <a:avLst>
              <a:gd name="adj" fmla="val 11594"/>
            </a:avLst>
          </a:prstGeom>
          <a:solidFill>
            <a:srgbClr val="163556"/>
          </a:solidFill>
          <a:ln w="9525">
            <a:solidFill>
              <a:srgbClr val="294C70"/>
            </a:solidFill>
          </a:ln>
        </p:spPr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20643DB-7F9E-4A8F-8016-0F90B2281020}"/>
              </a:ext>
            </a:extLst>
          </p:cNvPr>
          <p:cNvSpPr>
            <a:spLocks noGrp="1"/>
          </p:cNvSpPr>
          <p:nvPr/>
        </p:nvSpPr>
        <p:spPr>
          <a:xfrm>
            <a:off x="7905750" y="3105150"/>
            <a:ext cx="85725" cy="1314450"/>
          </a:xfrm>
          <a:prstGeom prst="roundRect">
            <a:avLst>
              <a:gd name="adj" fmla="val 50000"/>
            </a:avLst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B75ADFA-BE5D-4685-899C-005BAEBB7216}"/>
              </a:ext>
            </a:extLst>
          </p:cNvPr>
          <p:cNvSpPr>
            <a:spLocks noGrp="1"/>
          </p:cNvSpPr>
          <p:nvPr/>
        </p:nvSpPr>
        <p:spPr>
          <a:xfrm>
            <a:off x="8115300" y="3267075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Value Objects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3DE2896-893D-4E8B-B953-D42D62FF4A17}"/>
              </a:ext>
            </a:extLst>
          </p:cNvPr>
          <p:cNvSpPr>
            <a:spLocks noGrp="1"/>
          </p:cNvSpPr>
          <p:nvPr/>
        </p:nvSpPr>
        <p:spPr>
          <a:xfrm>
            <a:off x="8115300" y="3629025"/>
            <a:ext cx="3238500" cy="676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D9E3E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9E3EF"/>
                </a:solidFill>
                <a:latin typeface="DejaVu Sans"/>
                <a:ea typeface="DejaVu Sans"/>
                <a:cs typeface="DejaVu Sans"/>
              </a:rPr>
              <a:t>Telefone, E-mail, ValorOrçado e Estágio validam invariantes na construção.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2A40B76-D8C7-43D7-9B10-344368671131}"/>
              </a:ext>
            </a:extLst>
          </p:cNvPr>
          <p:cNvSpPr>
            <a:spLocks noGrp="1"/>
          </p:cNvSpPr>
          <p:nvPr/>
        </p:nvSpPr>
        <p:spPr>
          <a:xfrm>
            <a:off x="7905750" y="4629150"/>
            <a:ext cx="3619500" cy="1314450"/>
          </a:xfrm>
          <a:prstGeom prst="roundRect">
            <a:avLst>
              <a:gd name="adj" fmla="val 11594"/>
            </a:avLst>
          </a:prstGeom>
          <a:solidFill>
            <a:srgbClr val="163556"/>
          </a:solidFill>
          <a:ln w="9525">
            <a:solidFill>
              <a:srgbClr val="294C70"/>
            </a:solidFill>
          </a:ln>
        </p:spPr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8DCE3D0-80D9-4F9D-B5DE-96E6D5233A1E}"/>
              </a:ext>
            </a:extLst>
          </p:cNvPr>
          <p:cNvSpPr>
            <a:spLocks noGrp="1"/>
          </p:cNvSpPr>
          <p:nvPr/>
        </p:nvSpPr>
        <p:spPr>
          <a:xfrm>
            <a:off x="7905750" y="4629150"/>
            <a:ext cx="85725" cy="131445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7C468A7-91D4-4CE6-B9C8-5C698D364771}"/>
              </a:ext>
            </a:extLst>
          </p:cNvPr>
          <p:cNvSpPr>
            <a:spLocks noGrp="1"/>
          </p:cNvSpPr>
          <p:nvPr/>
        </p:nvSpPr>
        <p:spPr>
          <a:xfrm>
            <a:off x="8115300" y="4791075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Regra principal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849A804-64F6-472D-98DF-C07298FCF0C3}"/>
              </a:ext>
            </a:extLst>
          </p:cNvPr>
          <p:cNvSpPr>
            <a:spLocks noGrp="1"/>
          </p:cNvSpPr>
          <p:nvPr/>
        </p:nvSpPr>
        <p:spPr>
          <a:xfrm>
            <a:off x="8115300" y="5153025"/>
            <a:ext cx="3238500" cy="676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D9E3E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9E3EF"/>
                </a:solidFill>
                <a:latin typeface="DejaVu Sans"/>
                <a:ea typeface="DejaVu Sans"/>
                <a:cs typeface="DejaVu Sans"/>
              </a:rPr>
              <a:t>Orçamento.moverEstagio() concentra as transições e protege o funil.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E436D01-EF4F-4B5E-A15F-FBA22ABFDF5D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BA5E0D1-EC8A-475A-8962-2E3E831036BB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rPr>
              <a:t>Diagrama de classes</a:t>
            </a:r>
          </a:p>
        </p:txBody>
      </p:sp>
    </p:spTree>
    <p:extLst>
      <p:ext uri="{BB962C8B-B14F-4D97-AF65-F5344CB8AC3E}">
        <p14:creationId xmlns:p14="http://schemas.microsoft.com/office/powerpoint/2010/main" val="123132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866AEF0-E81A-4D4C-9ED7-1FEBEA9E58AC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11430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Modelo de domínio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11013" y="58092"/>
            <a:ext cx="4212532" cy="674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6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EC2AA24-CA50-4411-9770-F692C7464B20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D1929C8-BDCE-419A-AF84-110B66AB4196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Persistência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F3790D57-E9B3-458F-BFFF-125127351BA9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A3EF48D-4BEB-43CE-ACB6-AB98CACE4B08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14" name="Tabela 13"/>
          <p:cNvGraphicFramePr/>
          <p:nvPr/>
        </p:nvGraphicFramePr>
        <p:xfrm>
          <a:off x="685800" y="1619250"/>
          <a:ext cx="10820400" cy="33337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Classe</a:t>
                      </a:r>
                    </a:p>
                  </a:txBody>
                  <a:tcPr marL="7620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Persistente?</a:t>
                      </a:r>
                    </a:p>
                  </a:txBody>
                  <a:tcPr marL="7620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Estratégia</a:t>
                      </a:r>
                    </a:p>
                  </a:txBody>
                  <a:tcPr marL="76200" marR="76200" marT="57150" marB="57150"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Cliente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Tabela cliente · aggregate root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Orçamento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Tabela orçamento · FK cliente_id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Interação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Tabela interação · composição e cascade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Usuário / Administrador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Tabela única · coluna perfil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Estágio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Não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Enum gravado em orçamento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Telefone / E-mail / Valor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Não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Objects em colunas embutidas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357349D-C468-4DC5-BDC0-75E55DC3A5E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742950"/>
          </a:xfrm>
          <a:prstGeom prst="roundRect">
            <a:avLst>
              <a:gd name="adj" fmla="val 17949"/>
            </a:avLst>
          </a:prstGeom>
          <a:solidFill>
            <a:srgbClr val="0B1F3A"/>
          </a:solidFill>
          <a:ln w="9525">
            <a:solidFill>
              <a:srgbClr val="0B1F3A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CC0B09-6747-4DB3-A0C4-BCCE417A69A9}"/>
              </a:ext>
            </a:extLst>
          </p:cNvPr>
          <p:cNvSpPr>
            <a:spLocks noGrp="1"/>
          </p:cNvSpPr>
          <p:nvPr/>
        </p:nvSpPr>
        <p:spPr>
          <a:xfrm>
            <a:off x="933450" y="542925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792"/>
          </a:bodyPr>
          <a:lstStyle/>
          <a:p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regra de transição permanece em Orçamento.moverEstagio(); controller e banco não substituem o domínio.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82047FA-7BD2-423E-A60B-7254291011E9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F20FAB3-645E-4D31-BD38-28D80EC6EC1C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Persistência</a:t>
            </a:r>
          </a:p>
        </p:txBody>
      </p:sp>
    </p:spTree>
    <p:extLst>
      <p:ext uri="{BB962C8B-B14F-4D97-AF65-F5344CB8AC3E}">
        <p14:creationId xmlns:p14="http://schemas.microsoft.com/office/powerpoint/2010/main" val="832477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A31C8C7E-F178-4E29-BB5E-4AF813D76D98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06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76F64A-8F20-444A-8BD1-EC64D12BE299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Modelo entidade-relacionamento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7442FCBD-616A-477D-8295-7C007B946F7B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62AD0C3-D408-41FE-B129-3300598206DF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3CB06D7-3F59-4BAC-BF5B-AE309091DA33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3028950" cy="1162050"/>
          </a:xfrm>
          <a:prstGeom prst="roundRect">
            <a:avLst>
              <a:gd name="adj" fmla="val 13115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545F429-3859-4AE6-A9AC-1921F8974C3C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85725" cy="1162050"/>
          </a:xfrm>
          <a:prstGeom prst="roundRect">
            <a:avLst>
              <a:gd name="adj" fmla="val 50000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7F9260B-982E-40EF-AE2A-977FA62C39C2}"/>
              </a:ext>
            </a:extLst>
          </p:cNvPr>
          <p:cNvSpPr>
            <a:spLocks noGrp="1"/>
          </p:cNvSpPr>
          <p:nvPr/>
        </p:nvSpPr>
        <p:spPr>
          <a:xfrm>
            <a:off x="876300" y="1838325"/>
            <a:ext cx="26479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Usuário → Cliente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B12B5D0-02A1-4E6F-8553-F7AA000ECAF6}"/>
              </a:ext>
            </a:extLst>
          </p:cNvPr>
          <p:cNvSpPr>
            <a:spLocks noGrp="1"/>
          </p:cNvSpPr>
          <p:nvPr/>
        </p:nvSpPr>
        <p:spPr>
          <a:xfrm>
            <a:off x="876300" y="2200275"/>
            <a:ext cx="26479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Usuário cadastra clientes. E-mail do usuário é único.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7DE3E46-D122-4F59-BECC-17ADD4B24623}"/>
              </a:ext>
            </a:extLst>
          </p:cNvPr>
          <p:cNvSpPr>
            <a:spLocks noGrp="1"/>
          </p:cNvSpPr>
          <p:nvPr/>
        </p:nvSpPr>
        <p:spPr>
          <a:xfrm>
            <a:off x="666750" y="3105150"/>
            <a:ext cx="3028950" cy="1162050"/>
          </a:xfrm>
          <a:prstGeom prst="roundRect">
            <a:avLst>
              <a:gd name="adj" fmla="val 13115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782DE7B-2156-4259-B22B-7F377D8BD7E4}"/>
              </a:ext>
            </a:extLst>
          </p:cNvPr>
          <p:cNvSpPr>
            <a:spLocks noGrp="1"/>
          </p:cNvSpPr>
          <p:nvPr/>
        </p:nvSpPr>
        <p:spPr>
          <a:xfrm>
            <a:off x="666750" y="3105150"/>
            <a:ext cx="85725" cy="1162050"/>
          </a:xfrm>
          <a:prstGeom prst="roundRect">
            <a:avLst>
              <a:gd name="adj" fmla="val 50000"/>
            </a:avLst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8AF4792-41A0-468D-846C-8D36B4CBC01F}"/>
              </a:ext>
            </a:extLst>
          </p:cNvPr>
          <p:cNvSpPr>
            <a:spLocks noGrp="1"/>
          </p:cNvSpPr>
          <p:nvPr/>
        </p:nvSpPr>
        <p:spPr>
          <a:xfrm>
            <a:off x="876300" y="3267075"/>
            <a:ext cx="26479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Cliente → Orçamento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D6BD40B-F58E-4094-8AC3-0D4B097DF2FC}"/>
              </a:ext>
            </a:extLst>
          </p:cNvPr>
          <p:cNvSpPr>
            <a:spLocks noGrp="1"/>
          </p:cNvSpPr>
          <p:nvPr/>
        </p:nvSpPr>
        <p:spPr>
          <a:xfrm>
            <a:off x="876300" y="3629025"/>
            <a:ext cx="26479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Um cliente pode manter vários orçamentos no histórico.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44601CB-D31B-4760-8309-F390F56327D6}"/>
              </a:ext>
            </a:extLst>
          </p:cNvPr>
          <p:cNvSpPr>
            <a:spLocks noGrp="1"/>
          </p:cNvSpPr>
          <p:nvPr/>
        </p:nvSpPr>
        <p:spPr>
          <a:xfrm>
            <a:off x="666750" y="4533900"/>
            <a:ext cx="3028950" cy="1162050"/>
          </a:xfrm>
          <a:prstGeom prst="roundRect">
            <a:avLst>
              <a:gd name="adj" fmla="val 13115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8F516BF-240D-4F9B-94D4-EF2E87B06ECA}"/>
              </a:ext>
            </a:extLst>
          </p:cNvPr>
          <p:cNvSpPr>
            <a:spLocks noGrp="1"/>
          </p:cNvSpPr>
          <p:nvPr/>
        </p:nvSpPr>
        <p:spPr>
          <a:xfrm>
            <a:off x="666750" y="4533900"/>
            <a:ext cx="85725" cy="116205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5210064-509B-461D-A95D-82B2ED07E673}"/>
              </a:ext>
            </a:extLst>
          </p:cNvPr>
          <p:cNvSpPr>
            <a:spLocks noGrp="1"/>
          </p:cNvSpPr>
          <p:nvPr/>
        </p:nvSpPr>
        <p:spPr>
          <a:xfrm>
            <a:off x="876300" y="4695825"/>
            <a:ext cx="26479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Orçamento → Interação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4EEE4AF-E18A-4338-889F-54050AFE0723}"/>
              </a:ext>
            </a:extLst>
          </p:cNvPr>
          <p:cNvSpPr>
            <a:spLocks noGrp="1"/>
          </p:cNvSpPr>
          <p:nvPr/>
        </p:nvSpPr>
        <p:spPr>
          <a:xfrm>
            <a:off x="876300" y="5057775"/>
            <a:ext cx="26479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Interações pertencem ao orçamento e acompanham sua linha do tempo.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A39747F-72C0-46AD-B13A-2189E8956CBC}"/>
              </a:ext>
            </a:extLst>
          </p:cNvPr>
          <p:cNvSpPr>
            <a:spLocks noGrp="1"/>
          </p:cNvSpPr>
          <p:nvPr/>
        </p:nvSpPr>
        <p:spPr>
          <a:xfrm>
            <a:off x="4248150" y="1485900"/>
            <a:ext cx="4000500" cy="47625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pic>
        <p:nvPicPr>
          <p:cNvPr id="46" name="Imagem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88683" y="1600200"/>
            <a:ext cx="1128960" cy="4524375"/>
          </a:xfrm>
          <a:prstGeom prst="rect">
            <a:avLst/>
          </a:prstGeom>
        </p:spPr>
      </p:pic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A392DE7-DAD2-40F4-A8E3-01F43661089F}"/>
              </a:ext>
            </a:extLst>
          </p:cNvPr>
          <p:cNvSpPr>
            <a:spLocks noGrp="1"/>
          </p:cNvSpPr>
          <p:nvPr/>
        </p:nvSpPr>
        <p:spPr>
          <a:xfrm>
            <a:off x="8801100" y="1676400"/>
            <a:ext cx="2667000" cy="1714500"/>
          </a:xfrm>
          <a:prstGeom prst="roundRect">
            <a:avLst>
              <a:gd name="adj" fmla="val 8889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482164D-EE84-4D66-9EFA-72DAAC966ABB}"/>
              </a:ext>
            </a:extLst>
          </p:cNvPr>
          <p:cNvSpPr>
            <a:spLocks noGrp="1"/>
          </p:cNvSpPr>
          <p:nvPr/>
        </p:nvSpPr>
        <p:spPr>
          <a:xfrm>
            <a:off x="8801100" y="1676400"/>
            <a:ext cx="85725" cy="1714500"/>
          </a:xfrm>
          <a:prstGeom prst="roundRect">
            <a:avLst>
              <a:gd name="adj" fmla="val 50000"/>
            </a:avLst>
          </a:prstGeom>
          <a:solidFill>
            <a:srgbClr val="3277C8"/>
          </a:solidFill>
          <a:ln w="9525">
            <a:solidFill>
              <a:srgbClr val="3277C8"/>
            </a:solidFill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855465B-1886-4545-998D-6F648A51BC97}"/>
              </a:ext>
            </a:extLst>
          </p:cNvPr>
          <p:cNvSpPr>
            <a:spLocks noGrp="1"/>
          </p:cNvSpPr>
          <p:nvPr/>
        </p:nvSpPr>
        <p:spPr>
          <a:xfrm>
            <a:off x="9010650" y="1838325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Chaves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2A708F-31B1-4E9A-9ED1-BEADF7911CE8}"/>
              </a:ext>
            </a:extLst>
          </p:cNvPr>
          <p:cNvSpPr>
            <a:spLocks noGrp="1"/>
          </p:cNvSpPr>
          <p:nvPr/>
        </p:nvSpPr>
        <p:spPr>
          <a:xfrm>
            <a:off x="9010650" y="2200275"/>
            <a:ext cx="2286000" cy="1076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UUID como PK</a:t>
            </a:r>
          </a:p>
          <a:p>
            <a:pPr algn="l">
              <a:def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cliente_id e orcamento_id como FKs</a:t>
            </a:r>
          </a:p>
          <a:p>
            <a:pPr algn="l">
              <a:def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E-mail de usuário como UK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DFDFE85-C56D-4A6C-AF47-97A9C61A9CF8}"/>
              </a:ext>
            </a:extLst>
          </p:cNvPr>
          <p:cNvSpPr>
            <a:spLocks noGrp="1"/>
          </p:cNvSpPr>
          <p:nvPr/>
        </p:nvSpPr>
        <p:spPr>
          <a:xfrm>
            <a:off x="8801100" y="3695700"/>
            <a:ext cx="2667000" cy="200025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A3B08648-5C56-44C1-B849-290C66C77B25}"/>
              </a:ext>
            </a:extLst>
          </p:cNvPr>
          <p:cNvSpPr>
            <a:spLocks noGrp="1"/>
          </p:cNvSpPr>
          <p:nvPr/>
        </p:nvSpPr>
        <p:spPr>
          <a:xfrm>
            <a:off x="8801100" y="3695700"/>
            <a:ext cx="85725" cy="2000250"/>
          </a:xfrm>
          <a:prstGeom prst="roundRect">
            <a:avLst>
              <a:gd name="adj" fmla="val 50000"/>
            </a:avLst>
          </a:prstGeom>
          <a:solidFill>
            <a:srgbClr val="1FAD83"/>
          </a:solidFill>
          <a:ln w="9525">
            <a:solidFill>
              <a:srgbClr val="1FAD83"/>
            </a:solidFill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92DBC1E-6F60-47E4-A1BE-28142866AE5E}"/>
              </a:ext>
            </a:extLst>
          </p:cNvPr>
          <p:cNvSpPr>
            <a:spLocks noGrp="1"/>
          </p:cNvSpPr>
          <p:nvPr/>
        </p:nvSpPr>
        <p:spPr>
          <a:xfrm>
            <a:off x="9010650" y="3857625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Objetos embutidos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E38EDE7-A3E1-4AA9-9F0E-65FECB79BE49}"/>
              </a:ext>
            </a:extLst>
          </p:cNvPr>
          <p:cNvSpPr>
            <a:spLocks noGrp="1"/>
          </p:cNvSpPr>
          <p:nvPr/>
        </p:nvSpPr>
        <p:spPr>
          <a:xfrm>
            <a:off x="9010650" y="4219575"/>
            <a:ext cx="2286000" cy="1362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Telefone e e-mail viram colunas de Cliente. Valor e estágio viram colunas de Orçamento.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FB23BCB-4395-4DF6-B447-533DE10A69E8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3124915-30A4-4FA6-ABD8-82E5610E1AFB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Modelo entidade-relacionamento</a:t>
            </a:r>
          </a:p>
        </p:txBody>
      </p:sp>
    </p:spTree>
    <p:extLst>
      <p:ext uri="{BB962C8B-B14F-4D97-AF65-F5344CB8AC3E}">
        <p14:creationId xmlns:p14="http://schemas.microsoft.com/office/powerpoint/2010/main" val="714164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11698CB-DB2A-4103-92BF-1F82FA0B62D0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11430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Modelo entidade-relacionamento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28307" y="-27124"/>
            <a:ext cx="1680005" cy="673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26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F2E77770-D7E2-4163-A378-C936DBCB61FF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06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B49B786-D7C5-463D-A523-0C1B440FDC58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Integridade e índices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3B028402-77F8-4117-8CEA-26057E1B3D3C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D793C9F-9ACE-4BA5-8C5E-91559933972F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graphicFrame>
        <p:nvGraphicFramePr>
          <p:cNvPr id="22" name="Tabela 21"/>
          <p:cNvGraphicFramePr/>
          <p:nvPr/>
        </p:nvGraphicFramePr>
        <p:xfrm>
          <a:off x="666750" y="1562100"/>
          <a:ext cx="7239000" cy="323850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Regra</a:t>
                      </a:r>
                    </a:p>
                  </a:txBody>
                  <a:tcPr marL="7620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Implementação</a:t>
                      </a:r>
                    </a:p>
                  </a:txBody>
                  <a:tcPr marL="7620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Origem</a:t>
                      </a:r>
                    </a:p>
                  </a:txBody>
                  <a:tcPr marL="76200" marR="76200" marT="57150" marB="57150"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Contato obrigatório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telefone/e-mail NOT NULL + validação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RF09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Estágio válido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 NULL + valores do enum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RF02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Valor opcional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NULL é válido até o fechamento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RF03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Excluir cliente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 DELETE RESTRICT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RF08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Excluir orçamento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Interações em CASCADE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Composição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29B2914-6A34-4AC1-93CB-D0400A794C1E}"/>
              </a:ext>
            </a:extLst>
          </p:cNvPr>
          <p:cNvSpPr>
            <a:spLocks noGrp="1"/>
          </p:cNvSpPr>
          <p:nvPr/>
        </p:nvSpPr>
        <p:spPr>
          <a:xfrm>
            <a:off x="8286750" y="1562100"/>
            <a:ext cx="3181350" cy="1504950"/>
          </a:xfrm>
          <a:prstGeom prst="roundRect">
            <a:avLst>
              <a:gd name="adj" fmla="val 10127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9BDBA49-E9AA-4247-9C5A-C61FE018A18E}"/>
              </a:ext>
            </a:extLst>
          </p:cNvPr>
          <p:cNvSpPr>
            <a:spLocks noGrp="1"/>
          </p:cNvSpPr>
          <p:nvPr/>
        </p:nvSpPr>
        <p:spPr>
          <a:xfrm>
            <a:off x="8286750" y="1562100"/>
            <a:ext cx="85725" cy="1504950"/>
          </a:xfrm>
          <a:prstGeom prst="roundRect">
            <a:avLst>
              <a:gd name="adj" fmla="val 50000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F31AE32-91FD-407C-99A6-1B43887D34AB}"/>
              </a:ext>
            </a:extLst>
          </p:cNvPr>
          <p:cNvSpPr>
            <a:spLocks noGrp="1"/>
          </p:cNvSpPr>
          <p:nvPr/>
        </p:nvSpPr>
        <p:spPr>
          <a:xfrm>
            <a:off x="8496300" y="1724025"/>
            <a:ext cx="2800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Índices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4880C88-8CAA-4291-9C20-9E9140B289EF}"/>
              </a:ext>
            </a:extLst>
          </p:cNvPr>
          <p:cNvSpPr>
            <a:spLocks noGrp="1"/>
          </p:cNvSpPr>
          <p:nvPr/>
        </p:nvSpPr>
        <p:spPr>
          <a:xfrm>
            <a:off x="8496300" y="2085975"/>
            <a:ext cx="2800350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idx_orcamento_estagio</a:t>
            </a:r>
          </a:p>
          <a:p>
            <a:pPr algn="l">
              <a:def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idx_orcamento_cliente_id</a:t>
            </a:r>
          </a:p>
          <a:p>
            <a:pPr algn="l">
              <a:def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idx_interacao_orcamento_data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1B3F38A-166F-44E5-ACBC-F82B8A3690DE}"/>
              </a:ext>
            </a:extLst>
          </p:cNvPr>
          <p:cNvSpPr>
            <a:spLocks noGrp="1"/>
          </p:cNvSpPr>
          <p:nvPr/>
        </p:nvSpPr>
        <p:spPr>
          <a:xfrm>
            <a:off x="8286750" y="3295650"/>
            <a:ext cx="3181350" cy="1504950"/>
          </a:xfrm>
          <a:prstGeom prst="roundRect">
            <a:avLst>
              <a:gd name="adj" fmla="val 10127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63E364D-D9ED-4C5A-B3A4-AA2778E2A85F}"/>
              </a:ext>
            </a:extLst>
          </p:cNvPr>
          <p:cNvSpPr>
            <a:spLocks noGrp="1"/>
          </p:cNvSpPr>
          <p:nvPr/>
        </p:nvSpPr>
        <p:spPr>
          <a:xfrm>
            <a:off x="8286750" y="3295650"/>
            <a:ext cx="85725" cy="1504950"/>
          </a:xfrm>
          <a:prstGeom prst="roundRect">
            <a:avLst>
              <a:gd name="adj" fmla="val 50000"/>
            </a:avLst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9C1D025-32B7-4F24-A254-EA4AA98F6AAF}"/>
              </a:ext>
            </a:extLst>
          </p:cNvPr>
          <p:cNvSpPr>
            <a:spLocks noGrp="1"/>
          </p:cNvSpPr>
          <p:nvPr/>
        </p:nvSpPr>
        <p:spPr>
          <a:xfrm>
            <a:off x="8496300" y="3457575"/>
            <a:ext cx="28003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Por quê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2413BB2-CA86-4CEF-B550-557608EA7F88}"/>
              </a:ext>
            </a:extLst>
          </p:cNvPr>
          <p:cNvSpPr>
            <a:spLocks noGrp="1"/>
          </p:cNvSpPr>
          <p:nvPr/>
        </p:nvSpPr>
        <p:spPr>
          <a:xfrm>
            <a:off x="8496300" y="3819525"/>
            <a:ext cx="2800350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Sustentam o Kanban em menos de 2 s e o histórico em ordem cronológica.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E050790-E16E-4AC4-8F5D-B42BE50519DF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10801350" cy="781050"/>
          </a:xfrm>
          <a:prstGeom prst="roundRect">
            <a:avLst>
              <a:gd name="adj" fmla="val 17073"/>
            </a:avLst>
          </a:prstGeom>
          <a:solidFill>
            <a:srgbClr val="FFF7F3"/>
          </a:solidFill>
          <a:ln w="9525">
            <a:solidFill>
              <a:srgbClr val="F2CEC5"/>
            </a:solidFill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29E8105-77AC-44BF-B2A6-B3403A6B64A3}"/>
              </a:ext>
            </a:extLst>
          </p:cNvPr>
          <p:cNvSpPr>
            <a:spLocks noGrp="1"/>
          </p:cNvSpPr>
          <p:nvPr/>
        </p:nvSpPr>
        <p:spPr>
          <a:xfrm>
            <a:off x="895350" y="53340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425" b="1">
                <a:solidFill>
                  <a:srgbClr val="E4575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45757"/>
                </a:solidFill>
                <a:latin typeface="DejaVu Sans"/>
                <a:ea typeface="DejaVu Sans"/>
                <a:cs typeface="DejaVu Sans"/>
              </a:rPr>
              <a:t>A regra “não fechar sem valor” vive no domínio. O banco atua como última linha de defesa.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9D226EB-331A-4605-88C0-3102E59B6CF8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A7E6F82-060B-41A7-9C93-B0D636E838EE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Integridade e índices</a:t>
            </a:r>
          </a:p>
        </p:txBody>
      </p:sp>
    </p:spTree>
    <p:extLst>
      <p:ext uri="{BB962C8B-B14F-4D97-AF65-F5344CB8AC3E}">
        <p14:creationId xmlns:p14="http://schemas.microsoft.com/office/powerpoint/2010/main" val="880424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E72C1604-ACE6-4391-B326-16ACC23BE92D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07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C22E59A-F42F-45E8-A118-7204FC73FE02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Diagrama de objetos: cenário concreto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1689EA5F-4529-4327-B00D-56F7E0EABB36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89D91F4-8EF1-41CF-A9BD-42BF7B219D1B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0F0E9F7-2F69-4215-8206-4518F28E7C29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6572250" cy="47625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00022" y="1619250"/>
            <a:ext cx="4229507" cy="447675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E092BD0-2209-4E34-8D41-8EEB1A84DD7F}"/>
              </a:ext>
            </a:extLst>
          </p:cNvPr>
          <p:cNvSpPr>
            <a:spLocks noGrp="1"/>
          </p:cNvSpPr>
          <p:nvPr/>
        </p:nvSpPr>
        <p:spPr>
          <a:xfrm>
            <a:off x="7658100" y="179070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 algn="l">
              <a:defRPr sz="21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Embalagens ABC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6A580A33-644F-47FF-BC54-E8C7EB22E447}"/>
              </a:ext>
            </a:extLst>
          </p:cNvPr>
          <p:cNvSpPr>
            <a:spLocks noGrp="1"/>
          </p:cNvSpPr>
          <p:nvPr/>
        </p:nvSpPr>
        <p:spPr>
          <a:xfrm>
            <a:off x="7658100" y="2476500"/>
            <a:ext cx="400050" cy="400050"/>
          </a:xfrm>
          <a:prstGeom prst="ellipse">
            <a:avLst/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60568E0-DC24-4C4A-AC59-B9FC05200BA6}"/>
              </a:ext>
            </a:extLst>
          </p:cNvPr>
          <p:cNvSpPr>
            <a:spLocks noGrp="1"/>
          </p:cNvSpPr>
          <p:nvPr/>
        </p:nvSpPr>
        <p:spPr>
          <a:xfrm>
            <a:off x="7658100" y="25336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88E9604-8B96-43B6-92C1-305E3C4E818D}"/>
              </a:ext>
            </a:extLst>
          </p:cNvPr>
          <p:cNvSpPr>
            <a:spLocks noGrp="1"/>
          </p:cNvSpPr>
          <p:nvPr/>
        </p:nvSpPr>
        <p:spPr>
          <a:xfrm>
            <a:off x="8210550" y="2457450"/>
            <a:ext cx="31623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Orçamento em negociação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E2552A0-D0E5-4F29-917F-6FB1B76260F3}"/>
              </a:ext>
            </a:extLst>
          </p:cNvPr>
          <p:cNvSpPr>
            <a:spLocks noGrp="1"/>
          </p:cNvSpPr>
          <p:nvPr/>
        </p:nvSpPr>
        <p:spPr>
          <a:xfrm>
            <a:off x="8210550" y="2743200"/>
            <a:ext cx="31623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500 caixas e valor ainda indefinido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E43383C-82E1-4F22-AE4D-BC14E1A7C653}"/>
              </a:ext>
            </a:extLst>
          </p:cNvPr>
          <p:cNvSpPr>
            <a:spLocks noGrp="1"/>
          </p:cNvSpPr>
          <p:nvPr/>
        </p:nvSpPr>
        <p:spPr>
          <a:xfrm>
            <a:off x="7658100" y="3448050"/>
            <a:ext cx="400050" cy="400050"/>
          </a:xfrm>
          <a:prstGeom prst="ellipse">
            <a:avLst/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A7BDFC0-3AEA-414C-861F-F4E8C0ECA563}"/>
              </a:ext>
            </a:extLst>
          </p:cNvPr>
          <p:cNvSpPr>
            <a:spLocks noGrp="1"/>
          </p:cNvSpPr>
          <p:nvPr/>
        </p:nvSpPr>
        <p:spPr>
          <a:xfrm>
            <a:off x="7658100" y="350520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39B9CD0-BAA9-4F0E-B982-6354B62AD0B8}"/>
              </a:ext>
            </a:extLst>
          </p:cNvPr>
          <p:cNvSpPr>
            <a:spLocks noGrp="1"/>
          </p:cNvSpPr>
          <p:nvPr/>
        </p:nvSpPr>
        <p:spPr>
          <a:xfrm>
            <a:off x="8210550" y="3429000"/>
            <a:ext cx="31623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Duas interações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D492E11-3C3F-4B47-8B19-999EDF2D885E}"/>
              </a:ext>
            </a:extLst>
          </p:cNvPr>
          <p:cNvSpPr>
            <a:spLocks noGrp="1"/>
          </p:cNvSpPr>
          <p:nvPr/>
        </p:nvSpPr>
        <p:spPr>
          <a:xfrm>
            <a:off x="8210550" y="3714750"/>
            <a:ext cx="31623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Mensagem inicial e ligação sobre prazo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4D8E01F-E74F-4759-BCE8-5A55ABC5EBF1}"/>
              </a:ext>
            </a:extLst>
          </p:cNvPr>
          <p:cNvSpPr>
            <a:spLocks noGrp="1"/>
          </p:cNvSpPr>
          <p:nvPr/>
        </p:nvSpPr>
        <p:spPr>
          <a:xfrm>
            <a:off x="7658100" y="4419600"/>
            <a:ext cx="400050" cy="400050"/>
          </a:xfrm>
          <a:prstGeom prst="ellipse">
            <a:avLst/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6889405-1ACC-40CD-A1A6-B67E1A4EF0EF}"/>
              </a:ext>
            </a:extLst>
          </p:cNvPr>
          <p:cNvSpPr>
            <a:spLocks noGrp="1"/>
          </p:cNvSpPr>
          <p:nvPr/>
        </p:nvSpPr>
        <p:spPr>
          <a:xfrm>
            <a:off x="7658100" y="447675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09593A8-638F-428D-993E-AC9C157136FF}"/>
              </a:ext>
            </a:extLst>
          </p:cNvPr>
          <p:cNvSpPr>
            <a:spLocks noGrp="1"/>
          </p:cNvSpPr>
          <p:nvPr/>
        </p:nvSpPr>
        <p:spPr>
          <a:xfrm>
            <a:off x="8210550" y="4400550"/>
            <a:ext cx="31623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Estado válido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97C239C-93C0-469D-A30D-7B1D451276EF}"/>
              </a:ext>
            </a:extLst>
          </p:cNvPr>
          <p:cNvSpPr>
            <a:spLocks noGrp="1"/>
          </p:cNvSpPr>
          <p:nvPr/>
        </p:nvSpPr>
        <p:spPr>
          <a:xfrm>
            <a:off x="8210550" y="4686300"/>
            <a:ext cx="31623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A guarda de valor bloqueia o avanço para envio ou fechamento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44B7FFA-F280-49B4-BE89-8C24130C0293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36134F6-C826-4B56-AB37-0EEF5286B114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Diagrama de objetos</a:t>
            </a:r>
          </a:p>
        </p:txBody>
      </p:sp>
    </p:spTree>
    <p:extLst>
      <p:ext uri="{BB962C8B-B14F-4D97-AF65-F5344CB8AC3E}">
        <p14:creationId xmlns:p14="http://schemas.microsoft.com/office/powerpoint/2010/main" val="1307130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98F95846-DFEC-42C4-AEE6-4D5E5751AEBA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11430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Diagrama de objetos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443" y="-1598"/>
            <a:ext cx="6480754" cy="685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11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E9447011-A351-45A4-82AF-443A627C88E4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07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C976562-321B-4CD6-9782-D76C23A00FAF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Máquina de estados do Orçamento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33AB9A7F-B757-43BC-8454-117A45A06F3E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C06B2D3-951E-48C6-8C1B-8297166859BA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7C0685D-66CF-49F5-86EF-D0A33767974E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239000" cy="47625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52692" y="1619250"/>
            <a:ext cx="5152815" cy="43815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843EFE8-E0B0-471F-8F8D-81E8BCD68862}"/>
              </a:ext>
            </a:extLst>
          </p:cNvPr>
          <p:cNvSpPr>
            <a:spLocks noGrp="1"/>
          </p:cNvSpPr>
          <p:nvPr/>
        </p:nvSpPr>
        <p:spPr>
          <a:xfrm>
            <a:off x="8191500" y="1581150"/>
            <a:ext cx="3276600" cy="1066800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4CEA02D-BB8F-431C-8CA3-D20DFF100ED0}"/>
              </a:ext>
            </a:extLst>
          </p:cNvPr>
          <p:cNvSpPr>
            <a:spLocks noGrp="1"/>
          </p:cNvSpPr>
          <p:nvPr/>
        </p:nvSpPr>
        <p:spPr>
          <a:xfrm>
            <a:off x="8191500" y="1581150"/>
            <a:ext cx="85725" cy="1066800"/>
          </a:xfrm>
          <a:prstGeom prst="roundRect">
            <a:avLst>
              <a:gd name="adj" fmla="val 50000"/>
            </a:avLst>
          </a:prstGeom>
          <a:solidFill>
            <a:srgbClr val="E45757"/>
          </a:solidFill>
          <a:ln w="9525">
            <a:solidFill>
              <a:srgbClr val="E45757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BA9CF72-D2BD-45DF-B429-6C24619FC9DB}"/>
              </a:ext>
            </a:extLst>
          </p:cNvPr>
          <p:cNvSpPr>
            <a:spLocks noGrp="1"/>
          </p:cNvSpPr>
          <p:nvPr/>
        </p:nvSpPr>
        <p:spPr>
          <a:xfrm>
            <a:off x="8401050" y="1743075"/>
            <a:ext cx="28956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Sem saltos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66E4DF5-326B-40E8-9989-FAE5F17AF3F2}"/>
              </a:ext>
            </a:extLst>
          </p:cNvPr>
          <p:cNvSpPr>
            <a:spLocks noGrp="1"/>
          </p:cNvSpPr>
          <p:nvPr/>
        </p:nvSpPr>
        <p:spPr>
          <a:xfrm>
            <a:off x="8401050" y="2105025"/>
            <a:ext cx="28956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Novo Contato não avança direto para Fechado.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F440E9F-2215-4364-8E4E-F03673785187}"/>
              </a:ext>
            </a:extLst>
          </p:cNvPr>
          <p:cNvSpPr>
            <a:spLocks noGrp="1"/>
          </p:cNvSpPr>
          <p:nvPr/>
        </p:nvSpPr>
        <p:spPr>
          <a:xfrm>
            <a:off x="8191500" y="2819400"/>
            <a:ext cx="3276600" cy="1066800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8599964-7284-44B0-8B2C-82F4CA577FA3}"/>
              </a:ext>
            </a:extLst>
          </p:cNvPr>
          <p:cNvSpPr>
            <a:spLocks noGrp="1"/>
          </p:cNvSpPr>
          <p:nvPr/>
        </p:nvSpPr>
        <p:spPr>
          <a:xfrm>
            <a:off x="8191500" y="2819400"/>
            <a:ext cx="85725" cy="10668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A7D6182-C965-439E-872A-7F348666B500}"/>
              </a:ext>
            </a:extLst>
          </p:cNvPr>
          <p:cNvSpPr>
            <a:spLocks noGrp="1"/>
          </p:cNvSpPr>
          <p:nvPr/>
        </p:nvSpPr>
        <p:spPr>
          <a:xfrm>
            <a:off x="8401050" y="2981325"/>
            <a:ext cx="28956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Guarda de valor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B4D1F31-E4C3-40CE-8178-77C1939B3143}"/>
              </a:ext>
            </a:extLst>
          </p:cNvPr>
          <p:cNvSpPr>
            <a:spLocks noGrp="1"/>
          </p:cNvSpPr>
          <p:nvPr/>
        </p:nvSpPr>
        <p:spPr>
          <a:xfrm>
            <a:off x="8401050" y="3343275"/>
            <a:ext cx="28956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Envio e fechamento exigem valor definido.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EEEB822-14F6-4794-A8AD-203B959A601B}"/>
              </a:ext>
            </a:extLst>
          </p:cNvPr>
          <p:cNvSpPr>
            <a:spLocks noGrp="1"/>
          </p:cNvSpPr>
          <p:nvPr/>
        </p:nvSpPr>
        <p:spPr>
          <a:xfrm>
            <a:off x="8191500" y="4057650"/>
            <a:ext cx="3276600" cy="1066800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79010FB-AA54-4EDA-8886-81B1C8791A1B}"/>
              </a:ext>
            </a:extLst>
          </p:cNvPr>
          <p:cNvSpPr>
            <a:spLocks noGrp="1"/>
          </p:cNvSpPr>
          <p:nvPr/>
        </p:nvSpPr>
        <p:spPr>
          <a:xfrm>
            <a:off x="8191500" y="4057650"/>
            <a:ext cx="85725" cy="1066800"/>
          </a:xfrm>
          <a:prstGeom prst="roundRect">
            <a:avLst>
              <a:gd name="adj" fmla="val 50000"/>
            </a:avLst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B3FD32C-BA49-4762-8B63-1218497720AE}"/>
              </a:ext>
            </a:extLst>
          </p:cNvPr>
          <p:cNvSpPr>
            <a:spLocks noGrp="1"/>
          </p:cNvSpPr>
          <p:nvPr/>
        </p:nvSpPr>
        <p:spPr>
          <a:xfrm>
            <a:off x="8401050" y="4219575"/>
            <a:ext cx="28956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Estados terminais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D57E176-96AD-48E4-8195-50511B59EC6C}"/>
              </a:ext>
            </a:extLst>
          </p:cNvPr>
          <p:cNvSpPr>
            <a:spLocks noGrp="1"/>
          </p:cNvSpPr>
          <p:nvPr/>
        </p:nvSpPr>
        <p:spPr>
          <a:xfrm>
            <a:off x="8401050" y="4581525"/>
            <a:ext cx="28956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Fechado e Perdido não reabrem.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A1D4862-7C2F-4A34-8F6A-4750BB321C8A}"/>
              </a:ext>
            </a:extLst>
          </p:cNvPr>
          <p:cNvSpPr>
            <a:spLocks noGrp="1"/>
          </p:cNvSpPr>
          <p:nvPr/>
        </p:nvSpPr>
        <p:spPr>
          <a:xfrm>
            <a:off x="8191500" y="5295900"/>
            <a:ext cx="3276600" cy="838200"/>
          </a:xfrm>
          <a:prstGeom prst="roundRect">
            <a:avLst>
              <a:gd name="adj" fmla="val 18182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64EE87D6-B524-49F0-9F52-69076124E57C}"/>
              </a:ext>
            </a:extLst>
          </p:cNvPr>
          <p:cNvSpPr>
            <a:spLocks noGrp="1"/>
          </p:cNvSpPr>
          <p:nvPr/>
        </p:nvSpPr>
        <p:spPr>
          <a:xfrm>
            <a:off x="8191500" y="5295900"/>
            <a:ext cx="85725" cy="838200"/>
          </a:xfrm>
          <a:prstGeom prst="roundRect">
            <a:avLst>
              <a:gd name="adj" fmla="val 50000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C4C1C76-6F80-4486-A038-DEFF1E7E2C68}"/>
              </a:ext>
            </a:extLst>
          </p:cNvPr>
          <p:cNvSpPr>
            <a:spLocks noGrp="1"/>
          </p:cNvSpPr>
          <p:nvPr/>
        </p:nvSpPr>
        <p:spPr>
          <a:xfrm>
            <a:off x="8401050" y="5457825"/>
            <a:ext cx="28956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Fonte de verdade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1E65004-2323-475A-B4A0-FAEA1F3A7243}"/>
              </a:ext>
            </a:extLst>
          </p:cNvPr>
          <p:cNvSpPr>
            <a:spLocks noGrp="1"/>
          </p:cNvSpPr>
          <p:nvPr/>
        </p:nvSpPr>
        <p:spPr>
          <a:xfrm>
            <a:off x="8401050" y="5819775"/>
            <a:ext cx="2895600" cy="2000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77"/>
          </a:bodyPr>
          <a:lstStyle/>
          <a:p>
            <a:pPr algn="l">
              <a:defRPr sz="97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Qualquer outro par gera TransicaoInvalida.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EBD4F1A-019B-4576-95A0-5B2FF223C9C4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E0BDB7B-661B-4ACA-949C-89BAFACE0C62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Diagrama de estados</a:t>
            </a:r>
          </a:p>
        </p:txBody>
      </p:sp>
    </p:spTree>
    <p:extLst>
      <p:ext uri="{BB962C8B-B14F-4D97-AF65-F5344CB8AC3E}">
        <p14:creationId xmlns:p14="http://schemas.microsoft.com/office/powerpoint/2010/main" val="1122384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E9E2207-B9CA-4B86-BEE0-1B96184F69E6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11430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Máquina de estados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77827" y="552450"/>
            <a:ext cx="7236345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3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tângulo 48">
            <a:extLst>
              <a:ext uri="{FF2B5EF4-FFF2-40B4-BE49-F238E27FC236}">
                <a16:creationId xmlns:a16="http://schemas.microsoft.com/office/drawing/2014/main" id="{05B0F731-C3E1-44CA-841A-B51DC78CF9C3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08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C2C58AE-D792-4C0C-B9B4-CAF4C13D56C2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Boundary-Control-Entity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DEB965D7-46DC-49D3-8B51-D36F3ADAD875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E5EB8C2-7B39-4FE8-ADB9-78CE898FF156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BB59ED7-14D2-4842-8C8C-EBC897886E11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2247900" cy="590550"/>
          </a:xfrm>
          <a:prstGeom prst="roundRect">
            <a:avLst>
              <a:gd name="adj" fmla="val 22581"/>
            </a:avLst>
          </a:prstGeom>
          <a:solidFill>
            <a:srgbClr val="163556"/>
          </a:solidFill>
          <a:ln w="9525">
            <a:solidFill>
              <a:srgbClr val="294C70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92D6D7-B03F-470A-ADE2-9417EB345ACB}"/>
              </a:ext>
            </a:extLst>
          </p:cNvPr>
          <p:cNvSpPr>
            <a:spLocks noGrp="1"/>
          </p:cNvSpPr>
          <p:nvPr/>
        </p:nvSpPr>
        <p:spPr>
          <a:xfrm>
            <a:off x="685800" y="1819275"/>
            <a:ext cx="2247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ctr">
              <a:defRPr sz="1125" b="1">
                <a:solidFill>
                  <a:srgbClr val="3277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3277C8"/>
                </a:solidFill>
                <a:latin typeface="DejaVu Sans"/>
                <a:ea typeface="DejaVu Sans"/>
                <a:cs typeface="DejaVu Sans"/>
              </a:rPr>
              <a:t>USUÁRIO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2D877A0-16E9-4320-8EAE-26409983B15C}"/>
              </a:ext>
            </a:extLst>
          </p:cNvPr>
          <p:cNvSpPr>
            <a:spLocks noGrp="1"/>
          </p:cNvSpPr>
          <p:nvPr/>
        </p:nvSpPr>
        <p:spPr>
          <a:xfrm>
            <a:off x="3543300" y="1638300"/>
            <a:ext cx="2247900" cy="590550"/>
          </a:xfrm>
          <a:prstGeom prst="roundRect">
            <a:avLst>
              <a:gd name="adj" fmla="val 22581"/>
            </a:avLst>
          </a:prstGeom>
          <a:solidFill>
            <a:srgbClr val="163556"/>
          </a:solidFill>
          <a:ln w="9525">
            <a:solidFill>
              <a:srgbClr val="294C70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0E7F63E-2880-4C73-84FB-2EA28547BF3C}"/>
              </a:ext>
            </a:extLst>
          </p:cNvPr>
          <p:cNvSpPr>
            <a:spLocks noGrp="1"/>
          </p:cNvSpPr>
          <p:nvPr/>
        </p:nvSpPr>
        <p:spPr>
          <a:xfrm>
            <a:off x="3543300" y="1819275"/>
            <a:ext cx="2247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ctr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BOUNDARY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B01846B-31F0-408A-9AD2-0E8D49E61520}"/>
              </a:ext>
            </a:extLst>
          </p:cNvPr>
          <p:cNvSpPr>
            <a:spLocks noGrp="1"/>
          </p:cNvSpPr>
          <p:nvPr/>
        </p:nvSpPr>
        <p:spPr>
          <a:xfrm>
            <a:off x="6400800" y="1638300"/>
            <a:ext cx="2247900" cy="590550"/>
          </a:xfrm>
          <a:prstGeom prst="roundRect">
            <a:avLst>
              <a:gd name="adj" fmla="val 22581"/>
            </a:avLst>
          </a:prstGeom>
          <a:solidFill>
            <a:srgbClr val="163556"/>
          </a:solidFill>
          <a:ln w="9525">
            <a:solidFill>
              <a:srgbClr val="294C70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8F8F78A-469B-4685-A710-483C0DAFB5C4}"/>
              </a:ext>
            </a:extLst>
          </p:cNvPr>
          <p:cNvSpPr>
            <a:spLocks noGrp="1"/>
          </p:cNvSpPr>
          <p:nvPr/>
        </p:nvSpPr>
        <p:spPr>
          <a:xfrm>
            <a:off x="6400800" y="1819275"/>
            <a:ext cx="2247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ctr">
              <a:defRPr sz="1125" b="1">
                <a:solidFill>
                  <a:srgbClr val="6D5EF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6D5EF3"/>
                </a:solidFill>
                <a:latin typeface="DejaVu Sans"/>
                <a:ea typeface="DejaVu Sans"/>
                <a:cs typeface="DejaVu Sans"/>
              </a:rPr>
              <a:t>CONTROL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A4A98C3-DB1F-4063-9754-F46253D5DD73}"/>
              </a:ext>
            </a:extLst>
          </p:cNvPr>
          <p:cNvSpPr>
            <a:spLocks noGrp="1"/>
          </p:cNvSpPr>
          <p:nvPr/>
        </p:nvSpPr>
        <p:spPr>
          <a:xfrm>
            <a:off x="9258300" y="1638300"/>
            <a:ext cx="2247900" cy="590550"/>
          </a:xfrm>
          <a:prstGeom prst="roundRect">
            <a:avLst>
              <a:gd name="adj" fmla="val 22581"/>
            </a:avLst>
          </a:prstGeom>
          <a:solidFill>
            <a:srgbClr val="163556"/>
          </a:solidFill>
          <a:ln w="9525">
            <a:solidFill>
              <a:srgbClr val="294C70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6AE4F42-C629-4D1D-B280-F25DD63AB9F7}"/>
              </a:ext>
            </a:extLst>
          </p:cNvPr>
          <p:cNvSpPr>
            <a:spLocks noGrp="1"/>
          </p:cNvSpPr>
          <p:nvPr/>
        </p:nvSpPr>
        <p:spPr>
          <a:xfrm>
            <a:off x="9258300" y="1819275"/>
            <a:ext cx="2247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ctr">
              <a:defRPr sz="1125" b="1">
                <a:solidFill>
                  <a:srgbClr val="F5A62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5A623"/>
                </a:solidFill>
                <a:latin typeface="DejaVu Sans"/>
                <a:ea typeface="DejaVu Sans"/>
                <a:cs typeface="DejaVu Sans"/>
              </a:rPr>
              <a:t>ENTITY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B483A85-F0A2-4CF2-81F8-6EA9305A2823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9525">
            <a:solidFill>
              <a:srgbClr val="355474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7D8D219-9E34-46BA-B266-1F5B02F6895C}"/>
              </a:ext>
            </a:extLst>
          </p:cNvPr>
          <p:cNvSpPr>
            <a:spLocks noGrp="1"/>
          </p:cNvSpPr>
          <p:nvPr/>
        </p:nvSpPr>
        <p:spPr>
          <a:xfrm>
            <a:off x="781050" y="25622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Registrar contato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A1DB061-AF98-4E4A-A0A6-9E6D44DE9457}"/>
              </a:ext>
            </a:extLst>
          </p:cNvPr>
          <p:cNvSpPr>
            <a:spLocks noGrp="1"/>
          </p:cNvSpPr>
          <p:nvPr/>
        </p:nvSpPr>
        <p:spPr>
          <a:xfrm>
            <a:off x="3543300" y="24193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9525">
            <a:solidFill>
              <a:srgbClr val="355474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469D72B-66C5-41CC-8980-D9B1583EC9B1}"/>
              </a:ext>
            </a:extLst>
          </p:cNvPr>
          <p:cNvSpPr>
            <a:spLocks noGrp="1"/>
          </p:cNvSpPr>
          <p:nvPr/>
        </p:nvSpPr>
        <p:spPr>
          <a:xfrm>
            <a:off x="3638550" y="25622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ClienteFormView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520D53A-03F9-466C-BF4F-0B51F6F23656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9525">
            <a:solidFill>
              <a:srgbClr val="355474"/>
            </a:solidFill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05A1720-96D7-4806-9B70-88F400A4DEA1}"/>
              </a:ext>
            </a:extLst>
          </p:cNvPr>
          <p:cNvSpPr>
            <a:spLocks noGrp="1"/>
          </p:cNvSpPr>
          <p:nvPr/>
        </p:nvSpPr>
        <p:spPr>
          <a:xfrm>
            <a:off x="6496050" y="25622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RegistrarNovoContato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B84FD8F-E518-4C8F-8B93-4DF3C13D9E10}"/>
              </a:ext>
            </a:extLst>
          </p:cNvPr>
          <p:cNvSpPr>
            <a:spLocks noGrp="1"/>
          </p:cNvSpPr>
          <p:nvPr/>
        </p:nvSpPr>
        <p:spPr>
          <a:xfrm>
            <a:off x="9258300" y="24193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9525">
            <a:solidFill>
              <a:srgbClr val="355474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B534684-6B3E-4768-8A3D-DFFDDC79967C}"/>
              </a:ext>
            </a:extLst>
          </p:cNvPr>
          <p:cNvSpPr>
            <a:spLocks noGrp="1"/>
          </p:cNvSpPr>
          <p:nvPr/>
        </p:nvSpPr>
        <p:spPr>
          <a:xfrm>
            <a:off x="9353550" y="25622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Cliente · Orçamento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98280C4-7681-4CB7-855A-3F7DE39C5039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73250"/>
          </a:solidFill>
          <a:ln w="9525">
            <a:solidFill>
              <a:srgbClr val="355474"/>
            </a:solidFill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192BCD1-DE7B-468D-8745-C495DC8C2AD4}"/>
              </a:ext>
            </a:extLst>
          </p:cNvPr>
          <p:cNvSpPr>
            <a:spLocks noGrp="1"/>
          </p:cNvSpPr>
          <p:nvPr/>
        </p:nvSpPr>
        <p:spPr>
          <a:xfrm>
            <a:off x="781050" y="32861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Mover estágio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D4821C6-6548-42E9-92CA-85CBB51B36C0}"/>
              </a:ext>
            </a:extLst>
          </p:cNvPr>
          <p:cNvSpPr>
            <a:spLocks noGrp="1"/>
          </p:cNvSpPr>
          <p:nvPr/>
        </p:nvSpPr>
        <p:spPr>
          <a:xfrm>
            <a:off x="3543300" y="31432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73250"/>
          </a:solidFill>
          <a:ln w="9525">
            <a:solidFill>
              <a:srgbClr val="355474"/>
            </a:solidFill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FC81A39-5982-4158-B557-6A065A1F442D}"/>
              </a:ext>
            </a:extLst>
          </p:cNvPr>
          <p:cNvSpPr>
            <a:spLocks noGrp="1"/>
          </p:cNvSpPr>
          <p:nvPr/>
        </p:nvSpPr>
        <p:spPr>
          <a:xfrm>
            <a:off x="3638550" y="32861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PainelKanbanView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0350DD5E-D8B9-45D5-AFC7-15F9A9C116FC}"/>
              </a:ext>
            </a:extLst>
          </p:cNvPr>
          <p:cNvSpPr>
            <a:spLocks noGrp="1"/>
          </p:cNvSpPr>
          <p:nvPr/>
        </p:nvSpPr>
        <p:spPr>
          <a:xfrm>
            <a:off x="6400800" y="31432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73250"/>
          </a:solidFill>
          <a:ln w="9525">
            <a:solidFill>
              <a:srgbClr val="355474"/>
            </a:solidFill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88AC268-AE5C-43B8-AFC0-CD4976E059D6}"/>
              </a:ext>
            </a:extLst>
          </p:cNvPr>
          <p:cNvSpPr>
            <a:spLocks noGrp="1"/>
          </p:cNvSpPr>
          <p:nvPr/>
        </p:nvSpPr>
        <p:spPr>
          <a:xfrm>
            <a:off x="6496050" y="32861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MoverEstagio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E8A2C3E1-B906-4B84-BCFB-F62D9AB98AF4}"/>
              </a:ext>
            </a:extLst>
          </p:cNvPr>
          <p:cNvSpPr>
            <a:spLocks noGrp="1"/>
          </p:cNvSpPr>
          <p:nvPr/>
        </p:nvSpPr>
        <p:spPr>
          <a:xfrm>
            <a:off x="9258300" y="31432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73250"/>
          </a:solidFill>
          <a:ln w="9525">
            <a:solidFill>
              <a:srgbClr val="355474"/>
            </a:solidFill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8E0C8CB-36A9-4444-AA33-6D355024814A}"/>
              </a:ext>
            </a:extLst>
          </p:cNvPr>
          <p:cNvSpPr>
            <a:spLocks noGrp="1"/>
          </p:cNvSpPr>
          <p:nvPr/>
        </p:nvSpPr>
        <p:spPr>
          <a:xfrm>
            <a:off x="9353550" y="32861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Orçamento · Estágio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5AC62948-EBE2-4003-87FE-9FD8B14FD201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9525">
            <a:solidFill>
              <a:srgbClr val="355474"/>
            </a:solidFill>
          </a:ln>
        </p:spPr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28AFD3F-1CBF-402E-9E53-24314AFFC4C0}"/>
              </a:ext>
            </a:extLst>
          </p:cNvPr>
          <p:cNvSpPr>
            <a:spLocks noGrp="1"/>
          </p:cNvSpPr>
          <p:nvPr/>
        </p:nvSpPr>
        <p:spPr>
          <a:xfrm>
            <a:off x="781050" y="40100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Registrar interação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99BE328C-AF8C-434E-A340-D269576B098E}"/>
              </a:ext>
            </a:extLst>
          </p:cNvPr>
          <p:cNvSpPr>
            <a:spLocks noGrp="1"/>
          </p:cNvSpPr>
          <p:nvPr/>
        </p:nvSpPr>
        <p:spPr>
          <a:xfrm>
            <a:off x="3543300" y="38671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9525">
            <a:solidFill>
              <a:srgbClr val="355474"/>
            </a:solidFill>
          </a:ln>
        </p:spPr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F886250-54C4-4FB1-9114-C1C4C6E08759}"/>
              </a:ext>
            </a:extLst>
          </p:cNvPr>
          <p:cNvSpPr>
            <a:spLocks noGrp="1"/>
          </p:cNvSpPr>
          <p:nvPr/>
        </p:nvSpPr>
        <p:spPr>
          <a:xfrm>
            <a:off x="3638550" y="40100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InteracaoFormView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4443132-85B5-448A-B063-C480A8EFAE70}"/>
              </a:ext>
            </a:extLst>
          </p:cNvPr>
          <p:cNvSpPr>
            <a:spLocks noGrp="1"/>
          </p:cNvSpPr>
          <p:nvPr/>
        </p:nvSpPr>
        <p:spPr>
          <a:xfrm>
            <a:off x="6400800" y="38671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9525">
            <a:solidFill>
              <a:srgbClr val="355474"/>
            </a:solidFill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C67F5968-21AA-4DF6-BCB9-1566A454054A}"/>
              </a:ext>
            </a:extLst>
          </p:cNvPr>
          <p:cNvSpPr>
            <a:spLocks noGrp="1"/>
          </p:cNvSpPr>
          <p:nvPr/>
        </p:nvSpPr>
        <p:spPr>
          <a:xfrm>
            <a:off x="6496050" y="40100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RegistrarInteracao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6625E8C-D0CE-4CA6-8863-91F2CD69EA54}"/>
              </a:ext>
            </a:extLst>
          </p:cNvPr>
          <p:cNvSpPr>
            <a:spLocks noGrp="1"/>
          </p:cNvSpPr>
          <p:nvPr/>
        </p:nvSpPr>
        <p:spPr>
          <a:xfrm>
            <a:off x="9258300" y="38671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B3A5C"/>
          </a:solidFill>
          <a:ln w="9525">
            <a:solidFill>
              <a:srgbClr val="355474"/>
            </a:solidFill>
          </a:ln>
        </p:spPr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BE80A04E-B77B-4C86-978C-F3C921A1CF2B}"/>
              </a:ext>
            </a:extLst>
          </p:cNvPr>
          <p:cNvSpPr>
            <a:spLocks noGrp="1"/>
          </p:cNvSpPr>
          <p:nvPr/>
        </p:nvSpPr>
        <p:spPr>
          <a:xfrm>
            <a:off x="9353550" y="40100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Orçamento · Interação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2C7E1281-A5DD-4ABD-8B29-CACFE5DD304D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73250"/>
          </a:solidFill>
          <a:ln w="9525">
            <a:solidFill>
              <a:srgbClr val="355474"/>
            </a:solidFill>
          </a:ln>
        </p:spPr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6ABFF1BD-874F-4936-8605-97448F98769D}"/>
              </a:ext>
            </a:extLst>
          </p:cNvPr>
          <p:cNvSpPr>
            <a:spLocks noGrp="1"/>
          </p:cNvSpPr>
          <p:nvPr/>
        </p:nvSpPr>
        <p:spPr>
          <a:xfrm>
            <a:off x="781050" y="47339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Consultar métricas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8B49DC43-98C7-4B37-960B-9EEEFDD0ED41}"/>
              </a:ext>
            </a:extLst>
          </p:cNvPr>
          <p:cNvSpPr>
            <a:spLocks noGrp="1"/>
          </p:cNvSpPr>
          <p:nvPr/>
        </p:nvSpPr>
        <p:spPr>
          <a:xfrm>
            <a:off x="3543300" y="45910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73250"/>
          </a:solidFill>
          <a:ln w="9525">
            <a:solidFill>
              <a:srgbClr val="355474"/>
            </a:solidFill>
          </a:ln>
        </p:spPr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C50182F9-BF92-47CF-9A59-797D3B1527F9}"/>
              </a:ext>
            </a:extLst>
          </p:cNvPr>
          <p:cNvSpPr>
            <a:spLocks noGrp="1"/>
          </p:cNvSpPr>
          <p:nvPr/>
        </p:nvSpPr>
        <p:spPr>
          <a:xfrm>
            <a:off x="3638550" y="47339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MetricasHeaderView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673E8E8F-E898-494B-813C-9F3367406BDD}"/>
              </a:ext>
            </a:extLst>
          </p:cNvPr>
          <p:cNvSpPr>
            <a:spLocks noGrp="1"/>
          </p:cNvSpPr>
          <p:nvPr/>
        </p:nvSpPr>
        <p:spPr>
          <a:xfrm>
            <a:off x="6400800" y="45910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73250"/>
          </a:solidFill>
          <a:ln w="9525">
            <a:solidFill>
              <a:srgbClr val="355474"/>
            </a:solidFill>
          </a:ln>
        </p:spPr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48891109-C059-4FEB-9FC0-2ABD0E4C9E8F}"/>
              </a:ext>
            </a:extLst>
          </p:cNvPr>
          <p:cNvSpPr>
            <a:spLocks noGrp="1"/>
          </p:cNvSpPr>
          <p:nvPr/>
        </p:nvSpPr>
        <p:spPr>
          <a:xfrm>
            <a:off x="6496050" y="47339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ConsultarMetricas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5323B372-AD1F-45C4-88B1-34C420A65CC5}"/>
              </a:ext>
            </a:extLst>
          </p:cNvPr>
          <p:cNvSpPr>
            <a:spLocks noGrp="1"/>
          </p:cNvSpPr>
          <p:nvPr/>
        </p:nvSpPr>
        <p:spPr>
          <a:xfrm>
            <a:off x="9258300" y="4591050"/>
            <a:ext cx="2247900" cy="552450"/>
          </a:xfrm>
          <a:prstGeom prst="roundRect">
            <a:avLst>
              <a:gd name="adj" fmla="val 17241"/>
            </a:avLst>
          </a:prstGeom>
          <a:solidFill>
            <a:srgbClr val="173250"/>
          </a:solidFill>
          <a:ln w="9525">
            <a:solidFill>
              <a:srgbClr val="355474"/>
            </a:solidFill>
          </a:ln>
        </p:spPr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06473A5E-9A65-4E2F-865B-50F091F29E43}"/>
              </a:ext>
            </a:extLst>
          </p:cNvPr>
          <p:cNvSpPr>
            <a:spLocks noGrp="1"/>
          </p:cNvSpPr>
          <p:nvPr/>
        </p:nvSpPr>
        <p:spPr>
          <a:xfrm>
            <a:off x="9353550" y="473392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Orçamento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D5617101-B0D6-4023-8B54-E2CFD76758BF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820400" cy="609600"/>
          </a:xfrm>
          <a:prstGeom prst="roundRect">
            <a:avLst>
              <a:gd name="adj" fmla="val 21875"/>
            </a:avLst>
          </a:prstGeom>
          <a:solidFill>
            <a:srgbClr val="2A2438"/>
          </a:solidFill>
          <a:ln w="9525">
            <a:solidFill>
              <a:srgbClr val="5E455B"/>
            </a:solidFill>
          </a:ln>
        </p:spPr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C015D0E1-352C-43AA-A14E-CC975FEAC1D4}"/>
              </a:ext>
            </a:extLst>
          </p:cNvPr>
          <p:cNvSpPr>
            <a:spLocks noGrp="1"/>
          </p:cNvSpPr>
          <p:nvPr/>
        </p:nvSpPr>
        <p:spPr>
          <a:xfrm>
            <a:off x="857250" y="57435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Boundary fala com o exterior · Control coordena · Entity protege a regra de negócio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830FD394-91C1-4D30-B187-5BF57158F97F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411DBF70-D867-4F61-B704-16310677985F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rPr>
              <a:t>Boundary-Control-Entity</a:t>
            </a:r>
          </a:p>
        </p:txBody>
      </p:sp>
    </p:spTree>
    <p:extLst>
      <p:ext uri="{BB962C8B-B14F-4D97-AF65-F5344CB8AC3E}">
        <p14:creationId xmlns:p14="http://schemas.microsoft.com/office/powerpoint/2010/main" val="936213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63D1E303-B174-4E18-9ED7-0CC9D292414C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09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E0BC40C-38BD-4464-9FCA-03EDAC076FC3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Sequência crítica: mover estágio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45365669-C7BF-4212-B230-7EA0E46B7A02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D7CC4C4-5834-4C66-81B5-20AEA445FBA5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FAAFE2D-EDCE-4E43-A2A2-A61246600AA2}"/>
              </a:ext>
            </a:extLst>
          </p:cNvPr>
          <p:cNvSpPr>
            <a:spLocks noGrp="1"/>
          </p:cNvSpPr>
          <p:nvPr/>
        </p:nvSpPr>
        <p:spPr>
          <a:xfrm>
            <a:off x="590550" y="1466850"/>
            <a:ext cx="109537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pic>
        <p:nvPicPr>
          <p:cNvPr id="16" name="Imagem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43118" y="1619250"/>
            <a:ext cx="5239088" cy="3762375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09FA4A3-DFEE-4F2E-8061-692BB9B558F4}"/>
              </a:ext>
            </a:extLst>
          </p:cNvPr>
          <p:cNvSpPr>
            <a:spLocks noGrp="1"/>
          </p:cNvSpPr>
          <p:nvPr/>
        </p:nvSpPr>
        <p:spPr>
          <a:xfrm>
            <a:off x="1143000" y="5753100"/>
            <a:ext cx="9906000" cy="457200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 w="9525">
            <a:solidFill>
              <a:srgbClr val="0B1F3A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6FF1412-E790-4C78-B28D-F979EE2CA408}"/>
              </a:ext>
            </a:extLst>
          </p:cNvPr>
          <p:cNvSpPr>
            <a:spLocks noGrp="1"/>
          </p:cNvSpPr>
          <p:nvPr/>
        </p:nvSpPr>
        <p:spPr>
          <a:xfrm>
            <a:off x="1352550" y="5867400"/>
            <a:ext cx="94869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 Use Case carrega o agregado; a entidade decide; o repositório salva somente quando a transição é válida.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A58F002-A4EC-4A7B-8C6C-7517549FC9E7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3949B9A-A76D-4BE3-B98D-992D51C39E88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Sequência UC03</a:t>
            </a:r>
          </a:p>
        </p:txBody>
      </p:sp>
    </p:spTree>
    <p:extLst>
      <p:ext uri="{BB962C8B-B14F-4D97-AF65-F5344CB8AC3E}">
        <p14:creationId xmlns:p14="http://schemas.microsoft.com/office/powerpoint/2010/main" val="508266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D58D022-5F26-4B17-A995-B32D886F4F5D}"/>
              </a:ext>
            </a:extLst>
          </p:cNvPr>
          <p:cNvSpPr>
            <a:spLocks noGrp="1"/>
          </p:cNvSpPr>
          <p:nvPr/>
        </p:nvSpPr>
        <p:spPr>
          <a:xfrm rot="16200000">
            <a:off x="-5134105" y="106732"/>
            <a:ext cx="11430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dirty="0" err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Sequência</a:t>
            </a:r>
            <a:r>
              <a:rPr sz="1800" b="1" dirty="0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: mover </a:t>
            </a:r>
            <a:r>
              <a:rPr sz="1800" b="1" dirty="0" err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estágio</a:t>
            </a:r>
            <a:endParaRPr sz="1800" b="1" dirty="0">
              <a:solidFill>
                <a:srgbClr val="0B1F3A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44545" y="0"/>
            <a:ext cx="95497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579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AD9CA7AC-AC64-4427-BA12-BE2D5C59119A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09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5299933-92E4-4C78-992B-22F386DB899C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Sequências: registrar contato e interação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803C1875-A131-424F-9162-32AE62616E1B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EB1B91C-046F-4203-ADCB-F7051CB44283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9FF9532-39AC-4384-9B20-C7DE98DE7B49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7239000" cy="4552950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9038990-4AEF-4806-8CA5-5B579764B148}"/>
              </a:ext>
            </a:extLst>
          </p:cNvPr>
          <p:cNvSpPr>
            <a:spLocks noGrp="1"/>
          </p:cNvSpPr>
          <p:nvPr/>
        </p:nvSpPr>
        <p:spPr>
          <a:xfrm>
            <a:off x="838200" y="16573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UC01 · Registrar novo contato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132927"/>
            <a:ext cx="6762750" cy="3487495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AE57FAA-54CE-4BC4-A8C3-E3A91D3B99F1}"/>
              </a:ext>
            </a:extLst>
          </p:cNvPr>
          <p:cNvSpPr>
            <a:spLocks noGrp="1"/>
          </p:cNvSpPr>
          <p:nvPr/>
        </p:nvSpPr>
        <p:spPr>
          <a:xfrm>
            <a:off x="8191500" y="1485900"/>
            <a:ext cx="3276600" cy="200025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872063D-C928-4CE0-B09D-4A1DBDFF1228}"/>
              </a:ext>
            </a:extLst>
          </p:cNvPr>
          <p:cNvSpPr>
            <a:spLocks noGrp="1"/>
          </p:cNvSpPr>
          <p:nvPr/>
        </p:nvSpPr>
        <p:spPr>
          <a:xfrm>
            <a:off x="8191500" y="1485900"/>
            <a:ext cx="85725" cy="2000250"/>
          </a:xfrm>
          <a:prstGeom prst="roundRect">
            <a:avLst>
              <a:gd name="adj" fmla="val 50000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57C34A7-501E-408A-B66F-FE866162B3CD}"/>
              </a:ext>
            </a:extLst>
          </p:cNvPr>
          <p:cNvSpPr>
            <a:spLocks noGrp="1"/>
          </p:cNvSpPr>
          <p:nvPr/>
        </p:nvSpPr>
        <p:spPr>
          <a:xfrm>
            <a:off x="8401050" y="1647825"/>
            <a:ext cx="28956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Validação antes da escrita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33C2C67-76AE-4184-9CA1-AB86213B0DA5}"/>
              </a:ext>
            </a:extLst>
          </p:cNvPr>
          <p:cNvSpPr>
            <a:spLocks noGrp="1"/>
          </p:cNvSpPr>
          <p:nvPr/>
        </p:nvSpPr>
        <p:spPr>
          <a:xfrm>
            <a:off x="8401050" y="2009775"/>
            <a:ext cx="2895600" cy="1362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Telefone e E-mail são construídos antes de persistir. Formato inválido impede a criação de Cliente e Orçamento.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4EA11F5-6BF4-44AC-8179-1BCB14241B2E}"/>
              </a:ext>
            </a:extLst>
          </p:cNvPr>
          <p:cNvSpPr>
            <a:spLocks noGrp="1"/>
          </p:cNvSpPr>
          <p:nvPr/>
        </p:nvSpPr>
        <p:spPr>
          <a:xfrm>
            <a:off x="8191500" y="3771900"/>
            <a:ext cx="3276600" cy="2266950"/>
          </a:xfrm>
          <a:prstGeom prst="roundRect">
            <a:avLst>
              <a:gd name="adj" fmla="val 6723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D96B649-B15A-44DC-8254-E8AEEFF50AF9}"/>
              </a:ext>
            </a:extLst>
          </p:cNvPr>
          <p:cNvSpPr>
            <a:spLocks noGrp="1"/>
          </p:cNvSpPr>
          <p:nvPr/>
        </p:nvSpPr>
        <p:spPr>
          <a:xfrm>
            <a:off x="8191500" y="3771900"/>
            <a:ext cx="85725" cy="2266950"/>
          </a:xfrm>
          <a:prstGeom prst="roundRect">
            <a:avLst>
              <a:gd name="adj" fmla="val 50000"/>
            </a:avLst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1339322-F52C-4771-A991-C68B2DC01D1A}"/>
              </a:ext>
            </a:extLst>
          </p:cNvPr>
          <p:cNvSpPr>
            <a:spLocks noGrp="1"/>
          </p:cNvSpPr>
          <p:nvPr/>
        </p:nvSpPr>
        <p:spPr>
          <a:xfrm>
            <a:off x="8401050" y="3933825"/>
            <a:ext cx="28956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UC06 · Registrar interação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8E5A69F-8AFD-4FB6-B657-995971010337}"/>
              </a:ext>
            </a:extLst>
          </p:cNvPr>
          <p:cNvSpPr>
            <a:spLocks noGrp="1"/>
          </p:cNvSpPr>
          <p:nvPr/>
        </p:nvSpPr>
        <p:spPr>
          <a:xfrm>
            <a:off x="8401050" y="4295775"/>
            <a:ext cx="2895600" cy="1628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A Interação nasce e é anexada pelo Orçamento. Não existe InteracaoRepository, preservando a composição do agregado.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C310AD3-6C43-42BE-9900-BD2DDE7ED3EC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D3D45B1-E015-447A-83B9-02EA144D8E97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Sequências UC01 e UC06</a:t>
            </a:r>
          </a:p>
        </p:txBody>
      </p:sp>
    </p:spTree>
    <p:extLst>
      <p:ext uri="{BB962C8B-B14F-4D97-AF65-F5344CB8AC3E}">
        <p14:creationId xmlns:p14="http://schemas.microsoft.com/office/powerpoint/2010/main" val="2033759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97ADF566-2C4D-485C-86C5-EBDC4CBE01B7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11430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Sequência: registrar contato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" y="583607"/>
            <a:ext cx="11811000" cy="609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22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tângulo 35">
            <a:extLst>
              <a:ext uri="{FF2B5EF4-FFF2-40B4-BE49-F238E27FC236}">
                <a16:creationId xmlns:a16="http://schemas.microsoft.com/office/drawing/2014/main" id="{D0DD42CE-4A68-4491-8FBB-222DD74855E0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10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B798574-3777-4E57-BE0D-4F8FFF605BA8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Fluxo ponta a ponta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61D5F431-5533-4EA8-8CCB-AEF70A7EB2E2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1289118-1526-411A-AB2D-F73B46180770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D87E37D-DF4F-4E4B-845C-8948F04479DE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2400300" cy="1733550"/>
          </a:xfrm>
          <a:prstGeom prst="roundRect">
            <a:avLst>
              <a:gd name="adj" fmla="val 8791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C7A4344-84C3-4300-9840-5DABFED3A44D}"/>
              </a:ext>
            </a:extLst>
          </p:cNvPr>
          <p:cNvSpPr>
            <a:spLocks noGrp="1"/>
          </p:cNvSpPr>
          <p:nvPr/>
        </p:nvSpPr>
        <p:spPr>
          <a:xfrm>
            <a:off x="790575" y="2190750"/>
            <a:ext cx="400050" cy="400050"/>
          </a:xfrm>
          <a:prstGeom prst="ellipse">
            <a:avLst/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8157F99-742A-4F29-BF9A-5DCCE061386F}"/>
              </a:ext>
            </a:extLst>
          </p:cNvPr>
          <p:cNvSpPr>
            <a:spLocks noGrp="1"/>
          </p:cNvSpPr>
          <p:nvPr/>
        </p:nvSpPr>
        <p:spPr>
          <a:xfrm>
            <a:off x="790575" y="2266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34B05B1-7AC9-40D1-89E4-324E5BE3D6C3}"/>
              </a:ext>
            </a:extLst>
          </p:cNvPr>
          <p:cNvSpPr>
            <a:spLocks noGrp="1"/>
          </p:cNvSpPr>
          <p:nvPr/>
        </p:nvSpPr>
        <p:spPr>
          <a:xfrm>
            <a:off x="809625" y="2743200"/>
            <a:ext cx="20193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Registrar contato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20F1D8A-60B0-4440-BD38-F53027001CD0}"/>
              </a:ext>
            </a:extLst>
          </p:cNvPr>
          <p:cNvSpPr>
            <a:spLocks noGrp="1"/>
          </p:cNvSpPr>
          <p:nvPr/>
        </p:nvSpPr>
        <p:spPr>
          <a:xfrm>
            <a:off x="809625" y="3143250"/>
            <a:ext cx="20193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Validar telefone e e-mail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F65895-2AF4-4955-AF85-758456E0DAB3}"/>
              </a:ext>
            </a:extLst>
          </p:cNvPr>
          <p:cNvSpPr>
            <a:spLocks noGrp="1"/>
          </p:cNvSpPr>
          <p:nvPr/>
        </p:nvSpPr>
        <p:spPr>
          <a:xfrm>
            <a:off x="3095625" y="2571750"/>
            <a:ext cx="2286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3869"/>
          </a:bodyPr>
          <a:lstStyle/>
          <a:p>
            <a:pPr algn="ctr">
              <a:defRPr sz="2550" b="1">
                <a:solidFill>
                  <a:srgbClr val="8EA0B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8EA0B4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E4D2D07-7FBD-444A-B398-2430556197BF}"/>
              </a:ext>
            </a:extLst>
          </p:cNvPr>
          <p:cNvSpPr>
            <a:spLocks noGrp="1"/>
          </p:cNvSpPr>
          <p:nvPr/>
        </p:nvSpPr>
        <p:spPr>
          <a:xfrm>
            <a:off x="3400425" y="2000250"/>
            <a:ext cx="2400300" cy="1733550"/>
          </a:xfrm>
          <a:prstGeom prst="roundRect">
            <a:avLst>
              <a:gd name="adj" fmla="val 8791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24CC60D-A1D6-479F-9E0D-B31B8A8DD977}"/>
              </a:ext>
            </a:extLst>
          </p:cNvPr>
          <p:cNvSpPr>
            <a:spLocks noGrp="1"/>
          </p:cNvSpPr>
          <p:nvPr/>
        </p:nvSpPr>
        <p:spPr>
          <a:xfrm>
            <a:off x="3571875" y="2190750"/>
            <a:ext cx="400050" cy="400050"/>
          </a:xfrm>
          <a:prstGeom prst="ellipse">
            <a:avLst/>
          </a:prstGeom>
          <a:solidFill>
            <a:srgbClr val="3277C8"/>
          </a:solidFill>
          <a:ln w="9525">
            <a:solidFill>
              <a:srgbClr val="3277C8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4CBD455-EDA5-426D-A473-F670ED18EB80}"/>
              </a:ext>
            </a:extLst>
          </p:cNvPr>
          <p:cNvSpPr>
            <a:spLocks noGrp="1"/>
          </p:cNvSpPr>
          <p:nvPr/>
        </p:nvSpPr>
        <p:spPr>
          <a:xfrm>
            <a:off x="3571875" y="2266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E6DB0D1-B3B9-414C-BCA9-FE3BEF530B0E}"/>
              </a:ext>
            </a:extLst>
          </p:cNvPr>
          <p:cNvSpPr>
            <a:spLocks noGrp="1"/>
          </p:cNvSpPr>
          <p:nvPr/>
        </p:nvSpPr>
        <p:spPr>
          <a:xfrm>
            <a:off x="3590925" y="2743200"/>
            <a:ext cx="20193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Novo contato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4B1696F-926C-406A-89C6-5815B194376F}"/>
              </a:ext>
            </a:extLst>
          </p:cNvPr>
          <p:cNvSpPr>
            <a:spLocks noGrp="1"/>
          </p:cNvSpPr>
          <p:nvPr/>
        </p:nvSpPr>
        <p:spPr>
          <a:xfrm>
            <a:off x="3590925" y="3143250"/>
            <a:ext cx="20193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Criar orçamento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EB78B6B-57B3-4310-AA5A-5BC4FCD62ECE}"/>
              </a:ext>
            </a:extLst>
          </p:cNvPr>
          <p:cNvSpPr>
            <a:spLocks noGrp="1"/>
          </p:cNvSpPr>
          <p:nvPr/>
        </p:nvSpPr>
        <p:spPr>
          <a:xfrm>
            <a:off x="5876925" y="2571750"/>
            <a:ext cx="2286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3869"/>
          </a:bodyPr>
          <a:lstStyle/>
          <a:p>
            <a:pPr algn="ctr">
              <a:defRPr sz="2550" b="1">
                <a:solidFill>
                  <a:srgbClr val="8EA0B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8EA0B4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E4E02FB-1BA0-4E74-9DBD-CD4CF8325B8A}"/>
              </a:ext>
            </a:extLst>
          </p:cNvPr>
          <p:cNvSpPr>
            <a:spLocks noGrp="1"/>
          </p:cNvSpPr>
          <p:nvPr/>
        </p:nvSpPr>
        <p:spPr>
          <a:xfrm>
            <a:off x="6181725" y="2000250"/>
            <a:ext cx="2400300" cy="1733550"/>
          </a:xfrm>
          <a:prstGeom prst="roundRect">
            <a:avLst>
              <a:gd name="adj" fmla="val 8791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6B100F2-68B9-4F70-A7B3-155EA71CFF38}"/>
              </a:ext>
            </a:extLst>
          </p:cNvPr>
          <p:cNvSpPr>
            <a:spLocks noGrp="1"/>
          </p:cNvSpPr>
          <p:nvPr/>
        </p:nvSpPr>
        <p:spPr>
          <a:xfrm>
            <a:off x="6353175" y="2190750"/>
            <a:ext cx="400050" cy="400050"/>
          </a:xfrm>
          <a:prstGeom prst="ellipse">
            <a:avLst/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6572B93-7376-41D6-AAB7-7E4CAE683B1E}"/>
              </a:ext>
            </a:extLst>
          </p:cNvPr>
          <p:cNvSpPr>
            <a:spLocks noGrp="1"/>
          </p:cNvSpPr>
          <p:nvPr/>
        </p:nvSpPr>
        <p:spPr>
          <a:xfrm>
            <a:off x="6353175" y="2266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7501224-7C14-445F-AEB3-34003E6106D6}"/>
              </a:ext>
            </a:extLst>
          </p:cNvPr>
          <p:cNvSpPr>
            <a:spLocks noGrp="1"/>
          </p:cNvSpPr>
          <p:nvPr/>
        </p:nvSpPr>
        <p:spPr>
          <a:xfrm>
            <a:off x="6372225" y="2743200"/>
            <a:ext cx="20193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Negociar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91AFB92-63F0-489A-8DC1-B443E40C971B}"/>
              </a:ext>
            </a:extLst>
          </p:cNvPr>
          <p:cNvSpPr>
            <a:spLocks noGrp="1"/>
          </p:cNvSpPr>
          <p:nvPr/>
        </p:nvSpPr>
        <p:spPr>
          <a:xfrm>
            <a:off x="6372225" y="3143250"/>
            <a:ext cx="20193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Registrar interações e definir valor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AB31F6A-56AA-4A95-A08F-E0E6D7494494}"/>
              </a:ext>
            </a:extLst>
          </p:cNvPr>
          <p:cNvSpPr>
            <a:spLocks noGrp="1"/>
          </p:cNvSpPr>
          <p:nvPr/>
        </p:nvSpPr>
        <p:spPr>
          <a:xfrm>
            <a:off x="8658225" y="2571750"/>
            <a:ext cx="2286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33869"/>
          </a:bodyPr>
          <a:lstStyle/>
          <a:p>
            <a:pPr algn="ctr">
              <a:defRPr sz="2550" b="1">
                <a:solidFill>
                  <a:srgbClr val="8EA0B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8EA0B4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F7E81C06-956B-4DCB-8EB6-76B65671C2F3}"/>
              </a:ext>
            </a:extLst>
          </p:cNvPr>
          <p:cNvSpPr>
            <a:spLocks noGrp="1"/>
          </p:cNvSpPr>
          <p:nvPr/>
        </p:nvSpPr>
        <p:spPr>
          <a:xfrm>
            <a:off x="8963025" y="2000250"/>
            <a:ext cx="2400300" cy="1733550"/>
          </a:xfrm>
          <a:prstGeom prst="roundRect">
            <a:avLst>
              <a:gd name="adj" fmla="val 8791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8B6694AA-C75C-4E02-A67E-D2B896DD149B}"/>
              </a:ext>
            </a:extLst>
          </p:cNvPr>
          <p:cNvSpPr>
            <a:spLocks noGrp="1"/>
          </p:cNvSpPr>
          <p:nvPr/>
        </p:nvSpPr>
        <p:spPr>
          <a:xfrm>
            <a:off x="9134475" y="2190750"/>
            <a:ext cx="400050" cy="400050"/>
          </a:xfrm>
          <a:prstGeom prst="ellipse">
            <a:avLst/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AD0EEC4-B220-48E2-829D-4ADE5C8F5DD0}"/>
              </a:ext>
            </a:extLst>
          </p:cNvPr>
          <p:cNvSpPr>
            <a:spLocks noGrp="1"/>
          </p:cNvSpPr>
          <p:nvPr/>
        </p:nvSpPr>
        <p:spPr>
          <a:xfrm>
            <a:off x="9134475" y="2266950"/>
            <a:ext cx="4000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5A7E863-0147-4BFB-B201-D70C64FE4411}"/>
              </a:ext>
            </a:extLst>
          </p:cNvPr>
          <p:cNvSpPr>
            <a:spLocks noGrp="1"/>
          </p:cNvSpPr>
          <p:nvPr/>
        </p:nvSpPr>
        <p:spPr>
          <a:xfrm>
            <a:off x="9153525" y="2743200"/>
            <a:ext cx="20193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Enviar orçamento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8D01132-6593-4760-9679-09CC2B366ACE}"/>
              </a:ext>
            </a:extLst>
          </p:cNvPr>
          <p:cNvSpPr>
            <a:spLocks noGrp="1"/>
          </p:cNvSpPr>
          <p:nvPr/>
        </p:nvSpPr>
        <p:spPr>
          <a:xfrm>
            <a:off x="9153525" y="3143250"/>
            <a:ext cx="20193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Aguardar decisão do cliente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000C8B7-90E5-4241-BAC9-B9F46890D77F}"/>
              </a:ext>
            </a:extLst>
          </p:cNvPr>
          <p:cNvSpPr>
            <a:spLocks noGrp="1"/>
          </p:cNvSpPr>
          <p:nvPr/>
        </p:nvSpPr>
        <p:spPr>
          <a:xfrm>
            <a:off x="3429000" y="4438650"/>
            <a:ext cx="2381250" cy="895350"/>
          </a:xfrm>
          <a:prstGeom prst="roundRect">
            <a:avLst>
              <a:gd name="adj" fmla="val 17021"/>
            </a:avLst>
          </a:prstGeom>
          <a:solidFill>
            <a:srgbClr val="E9F8F2"/>
          </a:solidFill>
          <a:ln w="9525">
            <a:solidFill>
              <a:srgbClr val="A5DFC9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0AD0F61-9553-494D-85F8-BF44459BD8D2}"/>
              </a:ext>
            </a:extLst>
          </p:cNvPr>
          <p:cNvSpPr>
            <a:spLocks noGrp="1"/>
          </p:cNvSpPr>
          <p:nvPr/>
        </p:nvSpPr>
        <p:spPr>
          <a:xfrm>
            <a:off x="3429000" y="4657725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000"/>
          </a:bodyPr>
          <a:lstStyle/>
          <a:p>
            <a:pPr algn="ctr">
              <a:defRPr sz="1500" b="1">
                <a:solidFill>
                  <a:srgbClr val="1FAD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FAD83"/>
                </a:solidFill>
                <a:latin typeface="DejaVu Sans"/>
                <a:ea typeface="DejaVu Sans"/>
                <a:cs typeface="DejaVu Sans"/>
              </a:rPr>
              <a:t>FECHADO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27D2C99-EAF9-4819-BA25-DBEC4C60728A}"/>
              </a:ext>
            </a:extLst>
          </p:cNvPr>
          <p:cNvSpPr>
            <a:spLocks noGrp="1"/>
          </p:cNvSpPr>
          <p:nvPr/>
        </p:nvSpPr>
        <p:spPr>
          <a:xfrm>
            <a:off x="3429000" y="496252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905"/>
          </a:bodyPr>
          <a:lstStyle/>
          <a:p>
            <a:pPr algn="ctr">
              <a:def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Cliente aceita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EE5BB81B-99D2-4A94-A53E-020A1EA98D07}"/>
              </a:ext>
            </a:extLst>
          </p:cNvPr>
          <p:cNvSpPr>
            <a:spLocks noGrp="1"/>
          </p:cNvSpPr>
          <p:nvPr/>
        </p:nvSpPr>
        <p:spPr>
          <a:xfrm>
            <a:off x="6381750" y="4438650"/>
            <a:ext cx="2381250" cy="895350"/>
          </a:xfrm>
          <a:prstGeom prst="roundRect">
            <a:avLst>
              <a:gd name="adj" fmla="val 17021"/>
            </a:avLst>
          </a:prstGeom>
          <a:solidFill>
            <a:srgbClr val="FFF0F0"/>
          </a:solidFill>
          <a:ln w="9525">
            <a:solidFill>
              <a:srgbClr val="F2BBBB"/>
            </a:solidFill>
          </a:ln>
        </p:spPr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9161AE1B-2BC6-471D-A043-73F70C694BB9}"/>
              </a:ext>
            </a:extLst>
          </p:cNvPr>
          <p:cNvSpPr>
            <a:spLocks noGrp="1"/>
          </p:cNvSpPr>
          <p:nvPr/>
        </p:nvSpPr>
        <p:spPr>
          <a:xfrm>
            <a:off x="6381750" y="4657725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000"/>
          </a:bodyPr>
          <a:lstStyle/>
          <a:p>
            <a:pPr algn="ctr">
              <a:defRPr sz="1500" b="1">
                <a:solidFill>
                  <a:srgbClr val="E4575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E45757"/>
                </a:solidFill>
                <a:latin typeface="DejaVu Sans"/>
                <a:ea typeface="DejaVu Sans"/>
                <a:cs typeface="DejaVu Sans"/>
              </a:rPr>
              <a:t>PERDIDO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EC2D90AE-B504-469A-B262-9F851A99EDC2}"/>
              </a:ext>
            </a:extLst>
          </p:cNvPr>
          <p:cNvSpPr>
            <a:spLocks noGrp="1"/>
          </p:cNvSpPr>
          <p:nvPr/>
        </p:nvSpPr>
        <p:spPr>
          <a:xfrm>
            <a:off x="6534150" y="496252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058"/>
          </a:bodyPr>
          <a:lstStyle/>
          <a:p>
            <a:pPr algn="ctr">
              <a:defRPr sz="975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Cliente recusa ou fluxo é encerrado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28CAD10-FE66-48B7-A675-8D77D9873CAB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54AB6228-A775-442F-9636-C92E1F73A93B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Diagrama de atividades</a:t>
            </a:r>
          </a:p>
        </p:txBody>
      </p:sp>
    </p:spTree>
    <p:extLst>
      <p:ext uri="{BB962C8B-B14F-4D97-AF65-F5344CB8AC3E}">
        <p14:creationId xmlns:p14="http://schemas.microsoft.com/office/powerpoint/2010/main" val="2081172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36">
            <a:extLst>
              <a:ext uri="{FF2B5EF4-FFF2-40B4-BE49-F238E27FC236}">
                <a16:creationId xmlns:a16="http://schemas.microsoft.com/office/drawing/2014/main" id="{3D427B90-2C89-49A0-AFB1-379E3CB13DAE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10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CEC7169-A55D-4E2E-871E-E75D55378A8C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Movimentação de card por responsabilidade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8089128E-9680-45B1-AFFC-1F7699EDBD6D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14A4578-DFD2-4183-8DC8-0E25D73521E9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79AE3FA-44FF-4D4F-8698-CEA490245BED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2476500" cy="426720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17A521A-07D0-4CBD-B32A-2A16B96119ED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2476500" cy="552450"/>
          </a:xfrm>
          <a:prstGeom prst="roundRect">
            <a:avLst>
              <a:gd name="adj" fmla="val 27586"/>
            </a:avLst>
          </a:prstGeom>
          <a:solidFill>
            <a:srgbClr val="3277C8"/>
          </a:solidFill>
          <a:ln w="9525">
            <a:solidFill>
              <a:srgbClr val="3277C8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4DB5C6C-9F40-44C2-92DB-F1A79E8351C2}"/>
              </a:ext>
            </a:extLst>
          </p:cNvPr>
          <p:cNvSpPr>
            <a:spLocks noGrp="1"/>
          </p:cNvSpPr>
          <p:nvPr/>
        </p:nvSpPr>
        <p:spPr>
          <a:xfrm>
            <a:off x="647700" y="17716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Usuário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56D12C6-DAB0-494D-B077-FFE057BED01F}"/>
              </a:ext>
            </a:extLst>
          </p:cNvPr>
          <p:cNvSpPr>
            <a:spLocks noGrp="1"/>
          </p:cNvSpPr>
          <p:nvPr/>
        </p:nvSpPr>
        <p:spPr>
          <a:xfrm>
            <a:off x="857250" y="2457450"/>
            <a:ext cx="2057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70AFF05-DEB1-4C14-8FEB-C7A3170735B6}"/>
              </a:ext>
            </a:extLst>
          </p:cNvPr>
          <p:cNvSpPr>
            <a:spLocks noGrp="1"/>
          </p:cNvSpPr>
          <p:nvPr/>
        </p:nvSpPr>
        <p:spPr>
          <a:xfrm>
            <a:off x="971550" y="26098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1 · Arrasta o card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DD481C1-B5D7-4CC6-AD4B-FF2FD06B0298}"/>
              </a:ext>
            </a:extLst>
          </p:cNvPr>
          <p:cNvSpPr>
            <a:spLocks noGrp="1"/>
          </p:cNvSpPr>
          <p:nvPr/>
        </p:nvSpPr>
        <p:spPr>
          <a:xfrm>
            <a:off x="857250" y="3371850"/>
            <a:ext cx="2057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C341DC0-C429-4DF5-BB68-D1EBA244B685}"/>
              </a:ext>
            </a:extLst>
          </p:cNvPr>
          <p:cNvSpPr>
            <a:spLocks noGrp="1"/>
          </p:cNvSpPr>
          <p:nvPr/>
        </p:nvSpPr>
        <p:spPr>
          <a:xfrm>
            <a:off x="971550" y="35242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032"/>
          </a:bodyPr>
          <a:lstStyle/>
          <a:p>
            <a:pPr algn="ctr">
              <a:def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8 · Lê a mensagem de erro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20F5D10-B1AC-491F-B389-21D1C997DB04}"/>
              </a:ext>
            </a:extLst>
          </p:cNvPr>
          <p:cNvSpPr>
            <a:spLocks noGrp="1"/>
          </p:cNvSpPr>
          <p:nvPr/>
        </p:nvSpPr>
        <p:spPr>
          <a:xfrm>
            <a:off x="3448050" y="1600200"/>
            <a:ext cx="2476500" cy="42672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6C77043-AC99-429A-99F7-5BD05B1C55CC}"/>
              </a:ext>
            </a:extLst>
          </p:cNvPr>
          <p:cNvSpPr>
            <a:spLocks noGrp="1"/>
          </p:cNvSpPr>
          <p:nvPr/>
        </p:nvSpPr>
        <p:spPr>
          <a:xfrm>
            <a:off x="3448050" y="1600200"/>
            <a:ext cx="2476500" cy="552450"/>
          </a:xfrm>
          <a:prstGeom prst="roundRect">
            <a:avLst>
              <a:gd name="adj" fmla="val 27586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BEA79FC-F9F7-430D-9E88-9094BC54C609}"/>
              </a:ext>
            </a:extLst>
          </p:cNvPr>
          <p:cNvSpPr>
            <a:spLocks noGrp="1"/>
          </p:cNvSpPr>
          <p:nvPr/>
        </p:nvSpPr>
        <p:spPr>
          <a:xfrm>
            <a:off x="3448050" y="17716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Frontend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9F6B9A0-5AF1-40C8-846C-88BA8D802D47}"/>
              </a:ext>
            </a:extLst>
          </p:cNvPr>
          <p:cNvSpPr>
            <a:spLocks noGrp="1"/>
          </p:cNvSpPr>
          <p:nvPr/>
        </p:nvSpPr>
        <p:spPr>
          <a:xfrm>
            <a:off x="3657600" y="2457450"/>
            <a:ext cx="2057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C0D25CD-220B-42E0-B8EE-CCAFB7080F70}"/>
              </a:ext>
            </a:extLst>
          </p:cNvPr>
          <p:cNvSpPr>
            <a:spLocks noGrp="1"/>
          </p:cNvSpPr>
          <p:nvPr/>
        </p:nvSpPr>
        <p:spPr>
          <a:xfrm>
            <a:off x="3771900" y="26098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746"/>
          </a:bodyPr>
          <a:lstStyle/>
          <a:p>
            <a:pPr algn="ctr">
              <a:def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2 · Atualização otimista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F7F01E7-AB30-406B-9336-E0EC60BE2829}"/>
              </a:ext>
            </a:extLst>
          </p:cNvPr>
          <p:cNvSpPr>
            <a:spLocks noGrp="1"/>
          </p:cNvSpPr>
          <p:nvPr/>
        </p:nvSpPr>
        <p:spPr>
          <a:xfrm>
            <a:off x="3657600" y="3371850"/>
            <a:ext cx="2057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DCE1138-AB0B-4295-AC7C-62A0893E1DB7}"/>
              </a:ext>
            </a:extLst>
          </p:cNvPr>
          <p:cNvSpPr>
            <a:spLocks noGrp="1"/>
          </p:cNvSpPr>
          <p:nvPr/>
        </p:nvSpPr>
        <p:spPr>
          <a:xfrm>
            <a:off x="3771900" y="35242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3 · Chamada HTTP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E7628BC-9CBB-4F34-8BE9-8D71AB6DEB7B}"/>
              </a:ext>
            </a:extLst>
          </p:cNvPr>
          <p:cNvSpPr>
            <a:spLocks noGrp="1"/>
          </p:cNvSpPr>
          <p:nvPr/>
        </p:nvSpPr>
        <p:spPr>
          <a:xfrm>
            <a:off x="3657600" y="4286250"/>
            <a:ext cx="2057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BEBB164-54A0-4F68-B700-E14E9E42F0EC}"/>
              </a:ext>
            </a:extLst>
          </p:cNvPr>
          <p:cNvSpPr>
            <a:spLocks noGrp="1"/>
          </p:cNvSpPr>
          <p:nvPr/>
        </p:nvSpPr>
        <p:spPr>
          <a:xfrm>
            <a:off x="3771900" y="44386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7 · Rollback visual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77AF97A6-6682-49BB-92B1-EE59820A7CF1}"/>
              </a:ext>
            </a:extLst>
          </p:cNvPr>
          <p:cNvSpPr>
            <a:spLocks noGrp="1"/>
          </p:cNvSpPr>
          <p:nvPr/>
        </p:nvSpPr>
        <p:spPr>
          <a:xfrm>
            <a:off x="6248400" y="1600200"/>
            <a:ext cx="2476500" cy="426720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ACA02ED-091D-48D7-A98D-9B208D145713}"/>
              </a:ext>
            </a:extLst>
          </p:cNvPr>
          <p:cNvSpPr>
            <a:spLocks noGrp="1"/>
          </p:cNvSpPr>
          <p:nvPr/>
        </p:nvSpPr>
        <p:spPr>
          <a:xfrm>
            <a:off x="6248400" y="1600200"/>
            <a:ext cx="2476500" cy="552450"/>
          </a:xfrm>
          <a:prstGeom prst="roundRect">
            <a:avLst>
              <a:gd name="adj" fmla="val 27586"/>
            </a:avLst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065923B-BFD5-4E9D-B84C-A987A62692F5}"/>
              </a:ext>
            </a:extLst>
          </p:cNvPr>
          <p:cNvSpPr>
            <a:spLocks noGrp="1"/>
          </p:cNvSpPr>
          <p:nvPr/>
        </p:nvSpPr>
        <p:spPr>
          <a:xfrm>
            <a:off x="6248400" y="17716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Use Case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78E45DD-B355-4B16-ABED-48CABE8DDBF7}"/>
              </a:ext>
            </a:extLst>
          </p:cNvPr>
          <p:cNvSpPr>
            <a:spLocks noGrp="1"/>
          </p:cNvSpPr>
          <p:nvPr/>
        </p:nvSpPr>
        <p:spPr>
          <a:xfrm>
            <a:off x="6457950" y="2457450"/>
            <a:ext cx="2057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45465B2-F3BF-4426-BBE8-B3067FCEEFC6}"/>
              </a:ext>
            </a:extLst>
          </p:cNvPr>
          <p:cNvSpPr>
            <a:spLocks noGrp="1"/>
          </p:cNvSpPr>
          <p:nvPr/>
        </p:nvSpPr>
        <p:spPr>
          <a:xfrm>
            <a:off x="6572250" y="26098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425"/>
          </a:bodyPr>
          <a:lstStyle/>
          <a:p>
            <a:pPr algn="ctr">
              <a:def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4 · Carrega o agregado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BAFB3ED-ACCB-4B26-A524-7F862AFC0740}"/>
              </a:ext>
            </a:extLst>
          </p:cNvPr>
          <p:cNvSpPr>
            <a:spLocks noGrp="1"/>
          </p:cNvSpPr>
          <p:nvPr/>
        </p:nvSpPr>
        <p:spPr>
          <a:xfrm>
            <a:off x="6457950" y="3371850"/>
            <a:ext cx="2057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E05416D-A657-4DCE-A40F-1EC0DC711B50}"/>
              </a:ext>
            </a:extLst>
          </p:cNvPr>
          <p:cNvSpPr>
            <a:spLocks noGrp="1"/>
          </p:cNvSpPr>
          <p:nvPr/>
        </p:nvSpPr>
        <p:spPr>
          <a:xfrm>
            <a:off x="6572250" y="35242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6 · Persiste se aceito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4305169-09DA-4E52-840B-8A02398CFD3C}"/>
              </a:ext>
            </a:extLst>
          </p:cNvPr>
          <p:cNvSpPr>
            <a:spLocks noGrp="1"/>
          </p:cNvSpPr>
          <p:nvPr/>
        </p:nvSpPr>
        <p:spPr>
          <a:xfrm>
            <a:off x="9048750" y="1600200"/>
            <a:ext cx="2476500" cy="42672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4B590C21-BBFB-4B2B-82CF-5B4531024621}"/>
              </a:ext>
            </a:extLst>
          </p:cNvPr>
          <p:cNvSpPr>
            <a:spLocks noGrp="1"/>
          </p:cNvSpPr>
          <p:nvPr/>
        </p:nvSpPr>
        <p:spPr>
          <a:xfrm>
            <a:off x="9048750" y="1600200"/>
            <a:ext cx="2476500" cy="552450"/>
          </a:xfrm>
          <a:prstGeom prst="roundRect">
            <a:avLst>
              <a:gd name="adj" fmla="val 27586"/>
            </a:avLst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4EDD53F0-DA34-49D8-B4E9-B0D109669CA0}"/>
              </a:ext>
            </a:extLst>
          </p:cNvPr>
          <p:cNvSpPr>
            <a:spLocks noGrp="1"/>
          </p:cNvSpPr>
          <p:nvPr/>
        </p:nvSpPr>
        <p:spPr>
          <a:xfrm>
            <a:off x="9048750" y="17716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 algn="ctr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Orçamento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F1FFBAD-D3E7-4D07-9911-23FBD641B134}"/>
              </a:ext>
            </a:extLst>
          </p:cNvPr>
          <p:cNvSpPr>
            <a:spLocks noGrp="1"/>
          </p:cNvSpPr>
          <p:nvPr/>
        </p:nvSpPr>
        <p:spPr>
          <a:xfrm>
            <a:off x="9258300" y="2457450"/>
            <a:ext cx="2057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004074A0-C5BC-48B6-8825-F2E3FE1BADF7}"/>
              </a:ext>
            </a:extLst>
          </p:cNvPr>
          <p:cNvSpPr>
            <a:spLocks noGrp="1"/>
          </p:cNvSpPr>
          <p:nvPr/>
        </p:nvSpPr>
        <p:spPr>
          <a:xfrm>
            <a:off x="9372600" y="26098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5 · Valida transição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2D2DEB85-F155-43C7-A3F4-B90ABA5890C0}"/>
              </a:ext>
            </a:extLst>
          </p:cNvPr>
          <p:cNvSpPr>
            <a:spLocks noGrp="1"/>
          </p:cNvSpPr>
          <p:nvPr/>
        </p:nvSpPr>
        <p:spPr>
          <a:xfrm>
            <a:off x="9258300" y="3371850"/>
            <a:ext cx="205740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CB543D91-CB0D-433F-A9E3-A8F224AB5E71}"/>
              </a:ext>
            </a:extLst>
          </p:cNvPr>
          <p:cNvSpPr>
            <a:spLocks noGrp="1"/>
          </p:cNvSpPr>
          <p:nvPr/>
        </p:nvSpPr>
        <p:spPr>
          <a:xfrm>
            <a:off x="9372600" y="3524250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6896"/>
          </a:bodyPr>
          <a:lstStyle/>
          <a:p>
            <a:pPr algn="ctr">
              <a:def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5b · Verifica guarda de valor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260F9808-D2D4-4AA3-917D-D7BDB467C795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A4F7795-9E5B-48BD-92E6-7AF84C5DD969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Responsabilidades</a:t>
            </a:r>
          </a:p>
        </p:txBody>
      </p:sp>
    </p:spTree>
    <p:extLst>
      <p:ext uri="{BB962C8B-B14F-4D97-AF65-F5344CB8AC3E}">
        <p14:creationId xmlns:p14="http://schemas.microsoft.com/office/powerpoint/2010/main" val="1539525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13E7E6AE-3BE7-498A-BC8D-DC77A08266A1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11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0B1253-FE23-4BFA-9402-3DFD67A07EA5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Componentes e direção das dependências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76E45655-5FE3-4825-AF30-FC71EB820CB9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B168464-8F0F-4806-9327-907605A8AB15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8144CE0-4662-4243-84B7-3603EF0538DF}"/>
              </a:ext>
            </a:extLst>
          </p:cNvPr>
          <p:cNvSpPr>
            <a:spLocks noGrp="1"/>
          </p:cNvSpPr>
          <p:nvPr/>
        </p:nvSpPr>
        <p:spPr>
          <a:xfrm>
            <a:off x="590550" y="1466850"/>
            <a:ext cx="11010900" cy="3695700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25858" y="1657350"/>
            <a:ext cx="9340284" cy="3314700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BED7AA1-08D7-42E6-9877-03FE037B3DBC}"/>
              </a:ext>
            </a:extLst>
          </p:cNvPr>
          <p:cNvSpPr>
            <a:spLocks noGrp="1"/>
          </p:cNvSpPr>
          <p:nvPr/>
        </p:nvSpPr>
        <p:spPr>
          <a:xfrm>
            <a:off x="762000" y="5238750"/>
            <a:ext cx="5048250" cy="952500"/>
          </a:xfrm>
          <a:prstGeom prst="roundRect">
            <a:avLst>
              <a:gd name="adj" fmla="val 16000"/>
            </a:avLst>
          </a:prstGeom>
          <a:solidFill>
            <a:srgbClr val="163556"/>
          </a:solidFill>
          <a:ln w="9525">
            <a:solidFill>
              <a:srgbClr val="294C70"/>
            </a:solidFill>
          </a:ln>
        </p:spPr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D30505D-252D-4D3B-94F1-336F30497D94}"/>
              </a:ext>
            </a:extLst>
          </p:cNvPr>
          <p:cNvSpPr>
            <a:spLocks noGrp="1"/>
          </p:cNvSpPr>
          <p:nvPr/>
        </p:nvSpPr>
        <p:spPr>
          <a:xfrm>
            <a:off x="762000" y="5238750"/>
            <a:ext cx="85725" cy="952500"/>
          </a:xfrm>
          <a:prstGeom prst="roundRect">
            <a:avLst>
              <a:gd name="adj" fmla="val 50000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71F40C5-3622-4145-9DE2-74B40CAECB94}"/>
              </a:ext>
            </a:extLst>
          </p:cNvPr>
          <p:cNvSpPr>
            <a:spLocks noGrp="1"/>
          </p:cNvSpPr>
          <p:nvPr/>
        </p:nvSpPr>
        <p:spPr>
          <a:xfrm>
            <a:off x="971550" y="5400675"/>
            <a:ext cx="4667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RNF03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65FE3C-607C-460B-B9EC-5BEF8A956954}"/>
              </a:ext>
            </a:extLst>
          </p:cNvPr>
          <p:cNvSpPr>
            <a:spLocks noGrp="1"/>
          </p:cNvSpPr>
          <p:nvPr/>
        </p:nvSpPr>
        <p:spPr>
          <a:xfrm>
            <a:off x="971550" y="576262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Domínio e aplicação não importam FastAPI, Pydantic ou SQLAlchemy.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22E89C7-BF8A-4C88-9AB2-12F9E94276F5}"/>
              </a:ext>
            </a:extLst>
          </p:cNvPr>
          <p:cNvSpPr>
            <a:spLocks noGrp="1"/>
          </p:cNvSpPr>
          <p:nvPr/>
        </p:nvSpPr>
        <p:spPr>
          <a:xfrm>
            <a:off x="6191250" y="5238750"/>
            <a:ext cx="5048250" cy="952500"/>
          </a:xfrm>
          <a:prstGeom prst="roundRect">
            <a:avLst>
              <a:gd name="adj" fmla="val 16000"/>
            </a:avLst>
          </a:prstGeom>
          <a:solidFill>
            <a:srgbClr val="163556"/>
          </a:solidFill>
          <a:ln w="9525">
            <a:solidFill>
              <a:srgbClr val="294C70"/>
            </a:solidFill>
          </a:ln>
        </p:spPr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40FAE88-2F5A-4775-843C-2E34624D88DF}"/>
              </a:ext>
            </a:extLst>
          </p:cNvPr>
          <p:cNvSpPr>
            <a:spLocks noGrp="1"/>
          </p:cNvSpPr>
          <p:nvPr/>
        </p:nvSpPr>
        <p:spPr>
          <a:xfrm>
            <a:off x="6191250" y="5238750"/>
            <a:ext cx="85725" cy="9525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C5CB1D3-F1D5-41FC-A758-4D85CB9F9BBD}"/>
              </a:ext>
            </a:extLst>
          </p:cNvPr>
          <p:cNvSpPr>
            <a:spLocks noGrp="1"/>
          </p:cNvSpPr>
          <p:nvPr/>
        </p:nvSpPr>
        <p:spPr>
          <a:xfrm>
            <a:off x="6400800" y="5400675"/>
            <a:ext cx="4667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F5A62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5A623"/>
                </a:solidFill>
                <a:latin typeface="DejaVu Sans"/>
                <a:ea typeface="DejaVu Sans"/>
                <a:cs typeface="DejaVu Sans"/>
              </a:rPr>
              <a:t>RNF06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D2422F8-82D1-4C1D-8408-1CDD0BFC1263}"/>
              </a:ext>
            </a:extLst>
          </p:cNvPr>
          <p:cNvSpPr>
            <a:spLocks noGrp="1"/>
          </p:cNvSpPr>
          <p:nvPr/>
        </p:nvSpPr>
        <p:spPr>
          <a:xfrm>
            <a:off x="6400800" y="576262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919"/>
          </a:bodyPr>
          <a:lstStyle/>
          <a:p>
            <a:pPr algn="l">
              <a:def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Use Cases dependem de interfaces e podem rodar com repositórios fake.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2720ACE-E36C-44D8-81D9-E0B0B621515C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188BC8B-FF89-4E23-B521-06F3307E04B2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FC0D4"/>
                </a:solidFill>
                <a:latin typeface="DejaVu Sans"/>
                <a:ea typeface="DejaVu Sans"/>
                <a:cs typeface="DejaVu Sans"/>
              </a:rPr>
              <a:t>Diagrama de componentes</a:t>
            </a:r>
          </a:p>
        </p:txBody>
      </p:sp>
    </p:spTree>
    <p:extLst>
      <p:ext uri="{BB962C8B-B14F-4D97-AF65-F5344CB8AC3E}">
        <p14:creationId xmlns:p14="http://schemas.microsoft.com/office/powerpoint/2010/main" val="13352342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5CE817C-F90E-49E9-B1D4-CB95DDB9320C}"/>
              </a:ext>
            </a:extLst>
          </p:cNvPr>
          <p:cNvSpPr>
            <a:spLocks noGrp="1"/>
          </p:cNvSpPr>
          <p:nvPr/>
        </p:nvSpPr>
        <p:spPr>
          <a:xfrm>
            <a:off x="285750" y="114300"/>
            <a:ext cx="11430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Diagrama de componentes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299441"/>
            <a:ext cx="12001500" cy="425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58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E4A78898-0596-46C3-977F-C54E92E5697C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12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106DE8C-FBF8-445B-B3A6-8041E9DDDF85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Decisões de arquitetura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F464CEB9-1395-4B23-B363-461144836434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7D926D2-C2CB-450B-8B6B-3BE223D75B72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2017225-58D6-4404-8DF4-FD17E90D7EF1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5048250" cy="1200150"/>
          </a:xfrm>
          <a:prstGeom prst="roundRect">
            <a:avLst>
              <a:gd name="adj" fmla="val 12698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643C15D-B461-4529-BFE5-85F94A1EFF39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85725" cy="1200150"/>
          </a:xfrm>
          <a:prstGeom prst="roundRect">
            <a:avLst>
              <a:gd name="adj" fmla="val 50000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D3D205F-1A30-41C1-93E9-F28655BEDAE0}"/>
              </a:ext>
            </a:extLst>
          </p:cNvPr>
          <p:cNvSpPr>
            <a:spLocks noGrp="1"/>
          </p:cNvSpPr>
          <p:nvPr/>
        </p:nvSpPr>
        <p:spPr>
          <a:xfrm>
            <a:off x="876300" y="1724025"/>
            <a:ext cx="4667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Regra no domínio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4E99E2F-1884-48A6-9A92-6B562BFE4FEC}"/>
              </a:ext>
            </a:extLst>
          </p:cNvPr>
          <p:cNvSpPr>
            <a:spLocks noGrp="1"/>
          </p:cNvSpPr>
          <p:nvPr/>
        </p:nvSpPr>
        <p:spPr>
          <a:xfrm>
            <a:off x="876300" y="2085975"/>
            <a:ext cx="466725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Uma chamada direta à API também respeita as transições.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A7B9501-0086-42B1-A78C-42A4613F5F96}"/>
              </a:ext>
            </a:extLst>
          </p:cNvPr>
          <p:cNvSpPr>
            <a:spLocks noGrp="1"/>
          </p:cNvSpPr>
          <p:nvPr/>
        </p:nvSpPr>
        <p:spPr>
          <a:xfrm>
            <a:off x="6096000" y="1562100"/>
            <a:ext cx="5048250" cy="1200150"/>
          </a:xfrm>
          <a:prstGeom prst="roundRect">
            <a:avLst>
              <a:gd name="adj" fmla="val 12698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92034D5-B4E2-4598-A270-D22796C7F2BF}"/>
              </a:ext>
            </a:extLst>
          </p:cNvPr>
          <p:cNvSpPr>
            <a:spLocks noGrp="1"/>
          </p:cNvSpPr>
          <p:nvPr/>
        </p:nvSpPr>
        <p:spPr>
          <a:xfrm>
            <a:off x="6096000" y="1562100"/>
            <a:ext cx="85725" cy="1200150"/>
          </a:xfrm>
          <a:prstGeom prst="roundRect">
            <a:avLst>
              <a:gd name="adj" fmla="val 50000"/>
            </a:avLst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B18F494-1A79-4411-A4EB-82B69C8F036A}"/>
              </a:ext>
            </a:extLst>
          </p:cNvPr>
          <p:cNvSpPr>
            <a:spLocks noGrp="1"/>
          </p:cNvSpPr>
          <p:nvPr/>
        </p:nvSpPr>
        <p:spPr>
          <a:xfrm>
            <a:off x="6305550" y="1724025"/>
            <a:ext cx="4667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Orçamento como root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CA10F1F-BA65-43CF-8302-8D9A26C68BF5}"/>
              </a:ext>
            </a:extLst>
          </p:cNvPr>
          <p:cNvSpPr>
            <a:spLocks noGrp="1"/>
          </p:cNvSpPr>
          <p:nvPr/>
        </p:nvSpPr>
        <p:spPr>
          <a:xfrm>
            <a:off x="6305550" y="2085975"/>
            <a:ext cx="466725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Interação só existe através do Orçamento.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4B089A1-652F-4882-92C8-F57FD7E6B688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5048250" cy="1200150"/>
          </a:xfrm>
          <a:prstGeom prst="roundRect">
            <a:avLst>
              <a:gd name="adj" fmla="val 12698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83F6165-D1A6-42F4-9F91-3DF03DA6D021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85725" cy="1200150"/>
          </a:xfrm>
          <a:prstGeom prst="roundRect">
            <a:avLst>
              <a:gd name="adj" fmla="val 50000"/>
            </a:avLst>
          </a:prstGeom>
          <a:solidFill>
            <a:srgbClr val="3277C8"/>
          </a:solidFill>
          <a:ln w="9525">
            <a:solidFill>
              <a:srgbClr val="3277C8"/>
            </a:solidFill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089CFE4-A22A-4BF9-8B49-50868CCC5BB1}"/>
              </a:ext>
            </a:extLst>
          </p:cNvPr>
          <p:cNvSpPr>
            <a:spLocks noGrp="1"/>
          </p:cNvSpPr>
          <p:nvPr/>
        </p:nvSpPr>
        <p:spPr>
          <a:xfrm>
            <a:off x="876300" y="3190875"/>
            <a:ext cx="4667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Agregados separados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168EB3D-988F-47BA-BBC7-896745EBCE84}"/>
              </a:ext>
            </a:extLst>
          </p:cNvPr>
          <p:cNvSpPr>
            <a:spLocks noGrp="1"/>
          </p:cNvSpPr>
          <p:nvPr/>
        </p:nvSpPr>
        <p:spPr>
          <a:xfrm>
            <a:off x="876300" y="3552825"/>
            <a:ext cx="466725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Mover um card não exige carregar todo o histórico do cliente.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FC1BD3F-47C5-493D-98B8-DA651EDBAF24}"/>
              </a:ext>
            </a:extLst>
          </p:cNvPr>
          <p:cNvSpPr>
            <a:spLocks noGrp="1"/>
          </p:cNvSpPr>
          <p:nvPr/>
        </p:nvSpPr>
        <p:spPr>
          <a:xfrm>
            <a:off x="6096000" y="3028950"/>
            <a:ext cx="5048250" cy="1200150"/>
          </a:xfrm>
          <a:prstGeom prst="roundRect">
            <a:avLst>
              <a:gd name="adj" fmla="val 12698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A68FDA5-69CE-4B79-ADC8-3ED7302FB61D}"/>
              </a:ext>
            </a:extLst>
          </p:cNvPr>
          <p:cNvSpPr>
            <a:spLocks noGrp="1"/>
          </p:cNvSpPr>
          <p:nvPr/>
        </p:nvSpPr>
        <p:spPr>
          <a:xfrm>
            <a:off x="6096000" y="3028950"/>
            <a:ext cx="85725" cy="120015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B853A13-A6AC-482E-AB5A-7FAA6047B78C}"/>
              </a:ext>
            </a:extLst>
          </p:cNvPr>
          <p:cNvSpPr>
            <a:spLocks noGrp="1"/>
          </p:cNvSpPr>
          <p:nvPr/>
        </p:nvSpPr>
        <p:spPr>
          <a:xfrm>
            <a:off x="6305550" y="3190875"/>
            <a:ext cx="4667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Estágio como enum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C141DD9-17A1-4B15-A19F-B1F0EE960BEE}"/>
              </a:ext>
            </a:extLst>
          </p:cNvPr>
          <p:cNvSpPr>
            <a:spLocks noGrp="1"/>
          </p:cNvSpPr>
          <p:nvPr/>
        </p:nvSpPr>
        <p:spPr>
          <a:xfrm>
            <a:off x="6305550" y="3552825"/>
            <a:ext cx="466725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Conjunto fixo evita join em toda consulta do Kanban.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2CC4F55D-DD85-4A7C-926D-94C874910A98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5048250" cy="1200150"/>
          </a:xfrm>
          <a:prstGeom prst="roundRect">
            <a:avLst>
              <a:gd name="adj" fmla="val 12698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BD4515A3-82F2-4DC7-B27C-E6CD866C3991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85725" cy="1200150"/>
          </a:xfrm>
          <a:prstGeom prst="roundRect">
            <a:avLst>
              <a:gd name="adj" fmla="val 50000"/>
            </a:avLst>
          </a:prstGeom>
          <a:solidFill>
            <a:srgbClr val="1FAD83"/>
          </a:solidFill>
          <a:ln w="9525">
            <a:solidFill>
              <a:srgbClr val="1FAD83"/>
            </a:solidFill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95B45E7-2369-498B-B9F8-546CE7573CA1}"/>
              </a:ext>
            </a:extLst>
          </p:cNvPr>
          <p:cNvSpPr>
            <a:spLocks noGrp="1"/>
          </p:cNvSpPr>
          <p:nvPr/>
        </p:nvSpPr>
        <p:spPr>
          <a:xfrm>
            <a:off x="876300" y="4657725"/>
            <a:ext cx="4667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Quatro camadas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362DC4B-2991-4604-98F4-D837688CEA72}"/>
              </a:ext>
            </a:extLst>
          </p:cNvPr>
          <p:cNvSpPr>
            <a:spLocks noGrp="1"/>
          </p:cNvSpPr>
          <p:nvPr/>
        </p:nvSpPr>
        <p:spPr>
          <a:xfrm>
            <a:off x="876300" y="5019675"/>
            <a:ext cx="466725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domain, application, adapters e infra.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4E8DDCC3-5567-4448-81BD-5293B57401C8}"/>
              </a:ext>
            </a:extLst>
          </p:cNvPr>
          <p:cNvSpPr>
            <a:spLocks noGrp="1"/>
          </p:cNvSpPr>
          <p:nvPr/>
        </p:nvSpPr>
        <p:spPr>
          <a:xfrm>
            <a:off x="6096000" y="4495800"/>
            <a:ext cx="5048250" cy="1200150"/>
          </a:xfrm>
          <a:prstGeom prst="roundRect">
            <a:avLst>
              <a:gd name="adj" fmla="val 12698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2E3B8C8-2936-4C01-A282-ECFFC2712310}"/>
              </a:ext>
            </a:extLst>
          </p:cNvPr>
          <p:cNvSpPr>
            <a:spLocks noGrp="1"/>
          </p:cNvSpPr>
          <p:nvPr/>
        </p:nvSpPr>
        <p:spPr>
          <a:xfrm>
            <a:off x="6096000" y="4495800"/>
            <a:ext cx="85725" cy="1200150"/>
          </a:xfrm>
          <a:prstGeom prst="roundRect">
            <a:avLst>
              <a:gd name="adj" fmla="val 50000"/>
            </a:avLst>
          </a:prstGeom>
          <a:solidFill>
            <a:srgbClr val="E45757"/>
          </a:solidFill>
          <a:ln w="9525">
            <a:solidFill>
              <a:srgbClr val="E45757"/>
            </a:solidFill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E16BA4D-3888-448D-9E94-4632CF5EDE3A}"/>
              </a:ext>
            </a:extLst>
          </p:cNvPr>
          <p:cNvSpPr>
            <a:spLocks noGrp="1"/>
          </p:cNvSpPr>
          <p:nvPr/>
        </p:nvSpPr>
        <p:spPr>
          <a:xfrm>
            <a:off x="6305550" y="4657725"/>
            <a:ext cx="4667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Tipagem estrita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2722B9E-C173-4369-BF90-6DE37C33552A}"/>
              </a:ext>
            </a:extLst>
          </p:cNvPr>
          <p:cNvSpPr>
            <a:spLocks noGrp="1"/>
          </p:cNvSpPr>
          <p:nvPr/>
        </p:nvSpPr>
        <p:spPr>
          <a:xfrm>
            <a:off x="6305550" y="5019675"/>
            <a:ext cx="466725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Mudança de contrato falha na compilação.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F1E3B55A-1667-4313-BFCF-F63C85DEC166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1BAD399-D627-43AB-BF9F-3B515126BC76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Decisões de arquitetura</a:t>
            </a:r>
          </a:p>
        </p:txBody>
      </p:sp>
    </p:spTree>
    <p:extLst>
      <p:ext uri="{BB962C8B-B14F-4D97-AF65-F5344CB8AC3E}">
        <p14:creationId xmlns:p14="http://schemas.microsoft.com/office/powerpoint/2010/main" val="1358427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53E66738-6FFD-48E4-980E-3DAFA8A51472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12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03978D1-40EC-4A52-B422-D741700F203C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Trade-offs e riscos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D890249F-0BF8-4879-B24C-D3ED2793B38A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77F31EE-54D5-404D-BAC1-2AB418362963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424B139-95F0-45B1-A048-BB7F746EFE11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Trade-offs aceitos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0BF82EC-A043-4459-A58A-0B3A1056E11F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5048250" cy="1047750"/>
          </a:xfrm>
          <a:prstGeom prst="roundRect">
            <a:avLst>
              <a:gd name="adj" fmla="val 14545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AB41EF1-B597-425A-856B-9AF412B272F5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85725" cy="1047750"/>
          </a:xfrm>
          <a:prstGeom prst="roundRect">
            <a:avLst>
              <a:gd name="adj" fmla="val 50000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F956577-4EF0-4936-904D-E1F37A657BAB}"/>
              </a:ext>
            </a:extLst>
          </p:cNvPr>
          <p:cNvSpPr>
            <a:spLocks noGrp="1"/>
          </p:cNvSpPr>
          <p:nvPr/>
        </p:nvSpPr>
        <p:spPr>
          <a:xfrm>
            <a:off x="895350" y="2143125"/>
            <a:ext cx="4667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Regra no domínio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C173653-3BCA-43E7-AF36-01728786FB20}"/>
              </a:ext>
            </a:extLst>
          </p:cNvPr>
          <p:cNvSpPr>
            <a:spLocks noGrp="1"/>
          </p:cNvSpPr>
          <p:nvPr/>
        </p:nvSpPr>
        <p:spPr>
          <a:xfrm>
            <a:off x="895350" y="2505075"/>
            <a:ext cx="46672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405"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Ganha testabilidade; escrita direta no banco poderia contornar a regra.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E68EB35-1104-40F7-8205-4EE78EB88362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5048250" cy="1047750"/>
          </a:xfrm>
          <a:prstGeom prst="roundRect">
            <a:avLst>
              <a:gd name="adj" fmla="val 14545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FD1F3A5-E9C8-49CB-ABA6-1490B76DF035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85725" cy="1047750"/>
          </a:xfrm>
          <a:prstGeom prst="roundRect">
            <a:avLst>
              <a:gd name="adj" fmla="val 50000"/>
            </a:avLst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63D514B-27E1-4A04-847C-0ABB7BFCC973}"/>
              </a:ext>
            </a:extLst>
          </p:cNvPr>
          <p:cNvSpPr>
            <a:spLocks noGrp="1"/>
          </p:cNvSpPr>
          <p:nvPr/>
        </p:nvSpPr>
        <p:spPr>
          <a:xfrm>
            <a:off x="895350" y="3381375"/>
            <a:ext cx="4667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Enum em código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6737128-22E7-4E72-92CD-CDE18B806E9A}"/>
              </a:ext>
            </a:extLst>
          </p:cNvPr>
          <p:cNvSpPr>
            <a:spLocks noGrp="1"/>
          </p:cNvSpPr>
          <p:nvPr/>
        </p:nvSpPr>
        <p:spPr>
          <a:xfrm>
            <a:off x="895350" y="3743325"/>
            <a:ext cx="46672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405"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Adicionar estágio exige deploy e migration; o funil é intencionalmente fixo.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CF5F9A0-9603-4CED-A253-303C4888A354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5048250" cy="1047750"/>
          </a:xfrm>
          <a:prstGeom prst="roundRect">
            <a:avLst>
              <a:gd name="adj" fmla="val 14545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AB33973-3F16-4E71-B116-6EDB7AB215F4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85725" cy="104775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54F6EAA-0944-440E-BA24-DCF28693513B}"/>
              </a:ext>
            </a:extLst>
          </p:cNvPr>
          <p:cNvSpPr>
            <a:spLocks noGrp="1"/>
          </p:cNvSpPr>
          <p:nvPr/>
        </p:nvSpPr>
        <p:spPr>
          <a:xfrm>
            <a:off x="895350" y="4619625"/>
            <a:ext cx="4667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 algn="l">
              <a:def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Duas escritas em UC01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465D5C3-889B-4371-86F2-C1FEE5B896D4}"/>
              </a:ext>
            </a:extLst>
          </p:cNvPr>
          <p:cNvSpPr>
            <a:spLocks noGrp="1"/>
          </p:cNvSpPr>
          <p:nvPr/>
        </p:nvSpPr>
        <p:spPr>
          <a:xfrm>
            <a:off x="895350" y="4981575"/>
            <a:ext cx="46672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405"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Cliente e Orçamento são separados; a transação do Use Case mitiga o risco.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53F236D-25D8-4937-A87A-AAC47AE42758}"/>
              </a:ext>
            </a:extLst>
          </p:cNvPr>
          <p:cNvSpPr>
            <a:spLocks noGrp="1"/>
          </p:cNvSpPr>
          <p:nvPr/>
        </p:nvSpPr>
        <p:spPr>
          <a:xfrm>
            <a:off x="6191250" y="15430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Riscos e mitigação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8C7AAC02-11E5-46B3-BED9-0A23990241BD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5276850" cy="68580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1E34417-701E-402B-9CF5-0588CA91B7AA}"/>
              </a:ext>
            </a:extLst>
          </p:cNvPr>
          <p:cNvSpPr>
            <a:spLocks noGrp="1"/>
          </p:cNvSpPr>
          <p:nvPr/>
        </p:nvSpPr>
        <p:spPr>
          <a:xfrm>
            <a:off x="6381750" y="210502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E4575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E45757"/>
                </a:solidFill>
                <a:latin typeface="DejaVu Sans"/>
                <a:ea typeface="DejaVu Sans"/>
                <a:cs typeface="DejaVu Sans"/>
              </a:rPr>
              <a:t>Regra duplicada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945569B-D2D7-4C39-BBF8-140108A20300}"/>
              </a:ext>
            </a:extLst>
          </p:cNvPr>
          <p:cNvSpPr>
            <a:spLocks noGrp="1"/>
          </p:cNvSpPr>
          <p:nvPr/>
        </p:nvSpPr>
        <p:spPr>
          <a:xfrm>
            <a:off x="8477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API expõe o mapa de transições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A27E069-AAA0-461D-82F8-B9321FFFAC9C}"/>
              </a:ext>
            </a:extLst>
          </p:cNvPr>
          <p:cNvSpPr>
            <a:spLocks noGrp="1"/>
          </p:cNvSpPr>
          <p:nvPr/>
        </p:nvSpPr>
        <p:spPr>
          <a:xfrm>
            <a:off x="6191250" y="2876550"/>
            <a:ext cx="527685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21E8749-EC40-431A-8464-99865A0C0486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E4575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E45757"/>
                </a:solidFill>
                <a:latin typeface="DejaVu Sans"/>
                <a:ea typeface="DejaVu Sans"/>
                <a:cs typeface="DejaVu Sans"/>
              </a:rPr>
              <a:t>Kanban lento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A75D6BC-7226-41CB-B0E9-A5924DB440DF}"/>
              </a:ext>
            </a:extLst>
          </p:cNvPr>
          <p:cNvSpPr>
            <a:spLocks noGrp="1"/>
          </p:cNvSpPr>
          <p:nvPr/>
        </p:nvSpPr>
        <p:spPr>
          <a:xfrm>
            <a:off x="8477250" y="300037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Índice por estágio e projeção enxuta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3588518B-300C-40B0-9AD6-D9D8F33952F0}"/>
              </a:ext>
            </a:extLst>
          </p:cNvPr>
          <p:cNvSpPr>
            <a:spLocks noGrp="1"/>
          </p:cNvSpPr>
          <p:nvPr/>
        </p:nvSpPr>
        <p:spPr>
          <a:xfrm>
            <a:off x="6191250" y="3771900"/>
            <a:ext cx="5276850" cy="68580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EDD8E5B-7978-4B47-9DF2-C2F54344F8CB}"/>
              </a:ext>
            </a:extLst>
          </p:cNvPr>
          <p:cNvSpPr>
            <a:spLocks noGrp="1"/>
          </p:cNvSpPr>
          <p:nvPr/>
        </p:nvSpPr>
        <p:spPr>
          <a:xfrm>
            <a:off x="6381750" y="389572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43"/>
          </a:bodyPr>
          <a:lstStyle/>
          <a:p>
            <a:pPr algn="l">
              <a:defRPr sz="1125" b="1">
                <a:solidFill>
                  <a:srgbClr val="E4575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E45757"/>
                </a:solidFill>
                <a:latin typeface="DejaVu Sans"/>
                <a:ea typeface="DejaVu Sans"/>
                <a:cs typeface="DejaVu Sans"/>
              </a:rPr>
              <a:t>Framework no domínio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FF4EC86-AE84-419E-B920-349208E4F059}"/>
              </a:ext>
            </a:extLst>
          </p:cNvPr>
          <p:cNvSpPr>
            <a:spLocks noGrp="1"/>
          </p:cNvSpPr>
          <p:nvPr/>
        </p:nvSpPr>
        <p:spPr>
          <a:xfrm>
            <a:off x="8477250" y="38957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Teste de arquitetura falha a build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F492D707-24FE-4647-A6B1-FEF42F9E3681}"/>
              </a:ext>
            </a:extLst>
          </p:cNvPr>
          <p:cNvSpPr>
            <a:spLocks noGrp="1"/>
          </p:cNvSpPr>
          <p:nvPr/>
        </p:nvSpPr>
        <p:spPr>
          <a:xfrm>
            <a:off x="6191250" y="4667250"/>
            <a:ext cx="527685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DFEA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FB09FD8-C883-4E02-8515-F4BBD3BBAC0C}"/>
              </a:ext>
            </a:extLst>
          </p:cNvPr>
          <p:cNvSpPr>
            <a:spLocks noGrp="1"/>
          </p:cNvSpPr>
          <p:nvPr/>
        </p:nvSpPr>
        <p:spPr>
          <a:xfrm>
            <a:off x="6381750" y="479107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E4575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E45757"/>
                </a:solidFill>
                <a:latin typeface="DejaVu Sans"/>
                <a:ea typeface="DejaVu Sans"/>
                <a:cs typeface="DejaVu Sans"/>
              </a:rPr>
              <a:t>UI otimista divergente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4904C80C-B28B-4F2F-BD88-330EC3E4A436}"/>
              </a:ext>
            </a:extLst>
          </p:cNvPr>
          <p:cNvSpPr>
            <a:spLocks noGrp="1"/>
          </p:cNvSpPr>
          <p:nvPr/>
        </p:nvSpPr>
        <p:spPr>
          <a:xfrm>
            <a:off x="8477250" y="479107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Rollback explícito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AF8C46BB-5AAF-4D81-B2BB-B3FFD7AE5123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30EF23D-356E-4163-97A9-CED827B00A34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Trade-offs e riscos</a:t>
            </a:r>
          </a:p>
        </p:txBody>
      </p:sp>
    </p:spTree>
    <p:extLst>
      <p:ext uri="{BB962C8B-B14F-4D97-AF65-F5344CB8AC3E}">
        <p14:creationId xmlns:p14="http://schemas.microsoft.com/office/powerpoint/2010/main" val="19422878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56189DE4-2668-447B-936E-84CCDF0F8B67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13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1BF4802-FD05-425D-8198-F8F177C5EFA1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DDD e estrutura de camadas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B550D01B-1C9B-40FB-8E11-B4BE4EABE5F1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39BDFBA-3844-4179-8F18-1D98FA492B4B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graphicFrame>
        <p:nvGraphicFramePr>
          <p:cNvPr id="22" name="Tabela 21"/>
          <p:cNvGraphicFramePr/>
          <p:nvPr/>
        </p:nvGraphicFramePr>
        <p:xfrm>
          <a:off x="666750" y="1543050"/>
          <a:ext cx="10839450" cy="19812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Aggregate root</a:t>
                      </a:r>
                    </a:p>
                  </a:txBody>
                  <a:tcPr marL="7620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Entidade interna</a:t>
                      </a:r>
                    </a:p>
                  </a:txBody>
                  <a:tcPr marL="7620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Objects</a:t>
                      </a:r>
                    </a:p>
                  </a:txBody>
                  <a:tcPr marL="7620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Repository</a:t>
                      </a:r>
                    </a:p>
                  </a:txBody>
                  <a:tcPr marL="76200" marR="76200" marT="57150" marB="57150"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Cliente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—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Telefone, E-mail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ClienteRepository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Orçamento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Interação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Estágio, Valor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OrcamentoRepository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Usuário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—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E-mail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UsuarioRepository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303EBF9-A4DA-4EBF-9ADC-358415420DE7}"/>
              </a:ext>
            </a:extLst>
          </p:cNvPr>
          <p:cNvSpPr>
            <a:spLocks noGrp="1"/>
          </p:cNvSpPr>
          <p:nvPr/>
        </p:nvSpPr>
        <p:spPr>
          <a:xfrm>
            <a:off x="666750" y="3771900"/>
            <a:ext cx="10839450" cy="2057400"/>
          </a:xfrm>
          <a:prstGeom prst="roundRect">
            <a:avLst>
              <a:gd name="adj" fmla="val 7407"/>
            </a:avLst>
          </a:prstGeom>
          <a:solidFill>
            <a:srgbClr val="0B1F3A"/>
          </a:solidFill>
          <a:ln w="9525">
            <a:solidFill>
              <a:srgbClr val="0B1F3A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CA1C37B-5BA3-4B01-B2A2-3A14FF8B71FC}"/>
              </a:ext>
            </a:extLst>
          </p:cNvPr>
          <p:cNvSpPr>
            <a:spLocks noGrp="1"/>
          </p:cNvSpPr>
          <p:nvPr/>
        </p:nvSpPr>
        <p:spPr>
          <a:xfrm>
            <a:off x="895350" y="39624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000"/>
          </a:bodyPr>
          <a:lstStyle/>
          <a:p>
            <a:pPr algn="l">
              <a:defRPr sz="1200" b="1">
                <a:solidFill>
                  <a:srgbClr val="19B5A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19B5A5"/>
                </a:solidFill>
                <a:latin typeface="DejaVu Sans Mono"/>
                <a:ea typeface="DejaVu Sans Mono"/>
                <a:cs typeface="DejaVu Sans Mono"/>
              </a:rPr>
              <a:t>backend/src/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8DE7CB8-1147-4F0D-9515-3F589C4C30E5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domain/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57460FF-B01B-426B-B859-E61217F4B767}"/>
              </a:ext>
            </a:extLst>
          </p:cNvPr>
          <p:cNvSpPr>
            <a:spLocks noGrp="1"/>
          </p:cNvSpPr>
          <p:nvPr/>
        </p:nvSpPr>
        <p:spPr>
          <a:xfrm>
            <a:off x="2514600" y="432435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 algn="l">
              <a:defRPr sz="1050" b="0">
                <a:solidFill>
                  <a:srgbClr val="D9E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D9E3EF"/>
                </a:solidFill>
                <a:latin typeface="DejaVu Sans Mono"/>
                <a:ea typeface="DejaVu Sans Mono"/>
                <a:cs typeface="DejaVu Sans Mono"/>
              </a:rPr>
              <a:t>entities · value_objects · exceptions · repository interfaces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9EAE978-D13B-4349-9F56-C2E033F6406F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application/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C853630-537D-446E-A7FF-81735CBB6DA2}"/>
              </a:ext>
            </a:extLst>
          </p:cNvPr>
          <p:cNvSpPr>
            <a:spLocks noGrp="1"/>
          </p:cNvSpPr>
          <p:nvPr/>
        </p:nvSpPr>
        <p:spPr>
          <a:xfrm>
            <a:off x="2514600" y="462915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 algn="l">
              <a:defRPr sz="1050" b="0">
                <a:solidFill>
                  <a:srgbClr val="D9E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D9E3EF"/>
                </a:solidFill>
                <a:latin typeface="DejaVu Sans Mono"/>
                <a:ea typeface="DejaVu Sans Mono"/>
                <a:cs typeface="DejaVu Sans Mono"/>
              </a:rPr>
              <a:t>use_cases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1E4175B-08A7-492E-9872-E557D2467B9D}"/>
              </a:ext>
            </a:extLst>
          </p:cNvPr>
          <p:cNvSpPr>
            <a:spLocks noGrp="1"/>
          </p:cNvSpPr>
          <p:nvPr/>
        </p:nvSpPr>
        <p:spPr>
          <a:xfrm>
            <a:off x="990600" y="4933950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adapters/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83D8BB8-615D-4FE6-9BFC-4038B45B67D2}"/>
              </a:ext>
            </a:extLst>
          </p:cNvPr>
          <p:cNvSpPr>
            <a:spLocks noGrp="1"/>
          </p:cNvSpPr>
          <p:nvPr/>
        </p:nvSpPr>
        <p:spPr>
          <a:xfrm>
            <a:off x="2514600" y="493395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 algn="l">
              <a:defRPr sz="1050" b="0">
                <a:solidFill>
                  <a:srgbClr val="D9E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D9E3EF"/>
                </a:solidFill>
                <a:latin typeface="DejaVu Sans Mono"/>
                <a:ea typeface="DejaVu Sans Mono"/>
                <a:cs typeface="DejaVu Sans Mono"/>
              </a:rPr>
              <a:t>controllers · repositories Postgres · schemas Pydantic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FD9A7D2-FD5F-42C1-A12D-C2C577FEB66B}"/>
              </a:ext>
            </a:extLst>
          </p:cNvPr>
          <p:cNvSpPr>
            <a:spLocks noGrp="1"/>
          </p:cNvSpPr>
          <p:nvPr/>
        </p:nvSpPr>
        <p:spPr>
          <a:xfrm>
            <a:off x="990600" y="5238750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infra/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9990D91-4154-4D9B-A5D2-C770A4FED21B}"/>
              </a:ext>
            </a:extLst>
          </p:cNvPr>
          <p:cNvSpPr>
            <a:spLocks noGrp="1"/>
          </p:cNvSpPr>
          <p:nvPr/>
        </p:nvSpPr>
        <p:spPr>
          <a:xfrm>
            <a:off x="2514600" y="5238750"/>
            <a:ext cx="82867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 algn="l">
              <a:defRPr sz="1050" b="0">
                <a:solidFill>
                  <a:srgbClr val="D9E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D9E3EF"/>
                </a:solidFill>
                <a:latin typeface="DejaVu Sans Mono"/>
                <a:ea typeface="DejaVu Sans Mono"/>
                <a:cs typeface="DejaVu Sans Mono"/>
              </a:rPr>
              <a:t>db · config · security · composition root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0F10609-EB23-41BB-A621-CB007AE27CBF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4E9E482-02F2-403D-BF68-0564E1A2C05D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DDD e camadas</a:t>
            </a:r>
          </a:p>
        </p:txBody>
      </p:sp>
    </p:spTree>
    <p:extLst>
      <p:ext uri="{BB962C8B-B14F-4D97-AF65-F5344CB8AC3E}">
        <p14:creationId xmlns:p14="http://schemas.microsoft.com/office/powerpoint/2010/main" val="1901175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96E29C3B-75CC-4ECC-8CE8-8463EC5A519D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13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FEA6E31-AE37-48AA-9760-91F9A099FB72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Plano de testes TDD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2FE4F7E0-3447-4485-860C-E0A1704E71AF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2079B0B-C389-4ABD-B24B-C6F5C2DEED6C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1A7CC5B-6D01-49FF-9999-3CF1E3D654B7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000"/>
          </a:bodyPr>
          <a:lstStyle/>
          <a:p>
            <a:pPr algn="l">
              <a:defRPr sz="1500" b="1">
                <a:solidFill>
                  <a:srgbClr val="E4575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E45757"/>
                </a:solidFill>
                <a:latin typeface="DejaVu Sans"/>
                <a:ea typeface="DejaVu Sans"/>
                <a:cs typeface="DejaVu Sans"/>
              </a:rPr>
              <a:t>RED  →  GREEN  →  REFACTOR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1C61678-2134-4E04-B133-6F8D430FFCC4}"/>
              </a:ext>
            </a:extLst>
          </p:cNvPr>
          <p:cNvSpPr>
            <a:spLocks noGrp="1"/>
          </p:cNvSpPr>
          <p:nvPr/>
        </p:nvSpPr>
        <p:spPr>
          <a:xfrm>
            <a:off x="3352800" y="1962150"/>
            <a:ext cx="3238500" cy="552450"/>
          </a:xfrm>
          <a:prstGeom prst="roundRect">
            <a:avLst>
              <a:gd name="adj" fmla="val 20690"/>
            </a:avLst>
          </a:prstGeom>
          <a:solidFill>
            <a:srgbClr val="E45757"/>
          </a:solidFill>
          <a:ln w="9525">
            <a:solidFill>
              <a:srgbClr val="E45757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18B5087-77FB-412F-BFA0-768397ED8EB8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E2E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6E9BEFF-897E-4557-9196-4DC00BC4FBCE}"/>
              </a:ext>
            </a:extLst>
          </p:cNvPr>
          <p:cNvSpPr>
            <a:spLocks noGrp="1"/>
          </p:cNvSpPr>
          <p:nvPr/>
        </p:nvSpPr>
        <p:spPr>
          <a:xfrm>
            <a:off x="5067300" y="2105025"/>
            <a:ext cx="13716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175"/>
          </a:bodyPr>
          <a:lstStyle/>
          <a:p>
            <a:pPr algn="r"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Fluxo ponta a ponta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2C461DE-C8FC-49BA-BFC7-5DA7AF68B603}"/>
              </a:ext>
            </a:extLst>
          </p:cNvPr>
          <p:cNvSpPr>
            <a:spLocks noGrp="1"/>
          </p:cNvSpPr>
          <p:nvPr/>
        </p:nvSpPr>
        <p:spPr>
          <a:xfrm>
            <a:off x="2686050" y="2676525"/>
            <a:ext cx="4572000" cy="552450"/>
          </a:xfrm>
          <a:prstGeom prst="roundRect">
            <a:avLst>
              <a:gd name="adj" fmla="val 20690"/>
            </a:avLst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26495B3-D593-4914-B690-605186671E89}"/>
              </a:ext>
            </a:extLst>
          </p:cNvPr>
          <p:cNvSpPr>
            <a:spLocks noGrp="1"/>
          </p:cNvSpPr>
          <p:nvPr/>
        </p:nvSpPr>
        <p:spPr>
          <a:xfrm>
            <a:off x="2838450" y="2828925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Frontend e rotas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5B24A28-860D-4D62-BBD7-12D40DB8ABF2}"/>
              </a:ext>
            </a:extLst>
          </p:cNvPr>
          <p:cNvSpPr>
            <a:spLocks noGrp="1"/>
          </p:cNvSpPr>
          <p:nvPr/>
        </p:nvSpPr>
        <p:spPr>
          <a:xfrm>
            <a:off x="4400550" y="2819400"/>
            <a:ext cx="2705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654"/>
          </a:bodyPr>
          <a:lstStyle/>
          <a:p>
            <a:pPr algn="r"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Drag-and-drop, rollback, HTTP 200/422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5C1B019-ECA2-4461-A859-C74FA76A739A}"/>
              </a:ext>
            </a:extLst>
          </p:cNvPr>
          <p:cNvSpPr>
            <a:spLocks noGrp="1"/>
          </p:cNvSpPr>
          <p:nvPr/>
        </p:nvSpPr>
        <p:spPr>
          <a:xfrm>
            <a:off x="2019300" y="3390900"/>
            <a:ext cx="5905500" cy="552450"/>
          </a:xfrm>
          <a:prstGeom prst="roundRect">
            <a:avLst>
              <a:gd name="adj" fmla="val 20690"/>
            </a:avLst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0A64FA2-CD4B-49CC-BAF0-B54F67A565E7}"/>
              </a:ext>
            </a:extLst>
          </p:cNvPr>
          <p:cNvSpPr>
            <a:spLocks noGrp="1"/>
          </p:cNvSpPr>
          <p:nvPr/>
        </p:nvSpPr>
        <p:spPr>
          <a:xfrm>
            <a:off x="2171700" y="354330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Integração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0D79A31-B346-40AA-98D6-965059A04732}"/>
              </a:ext>
            </a:extLst>
          </p:cNvPr>
          <p:cNvSpPr>
            <a:spLocks noGrp="1"/>
          </p:cNvSpPr>
          <p:nvPr/>
        </p:nvSpPr>
        <p:spPr>
          <a:xfrm>
            <a:off x="3733800" y="3533775"/>
            <a:ext cx="40386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Repositórios e banco de teste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A6ED06B-DE4F-45EA-9B0D-9EEB66ACBE8C}"/>
              </a:ext>
            </a:extLst>
          </p:cNvPr>
          <p:cNvSpPr>
            <a:spLocks noGrp="1"/>
          </p:cNvSpPr>
          <p:nvPr/>
        </p:nvSpPr>
        <p:spPr>
          <a:xfrm>
            <a:off x="1352550" y="4105275"/>
            <a:ext cx="7239000" cy="552450"/>
          </a:xfrm>
          <a:prstGeom prst="roundRect">
            <a:avLst>
              <a:gd name="adj" fmla="val 20690"/>
            </a:avLst>
          </a:prstGeom>
          <a:solidFill>
            <a:srgbClr val="3277C8"/>
          </a:solidFill>
          <a:ln w="9525">
            <a:solidFill>
              <a:srgbClr val="3277C8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0739E59-4CC6-4BC7-8F59-FB2EDD5F1335}"/>
              </a:ext>
            </a:extLst>
          </p:cNvPr>
          <p:cNvSpPr>
            <a:spLocks noGrp="1"/>
          </p:cNvSpPr>
          <p:nvPr/>
        </p:nvSpPr>
        <p:spPr>
          <a:xfrm>
            <a:off x="1504950" y="4257675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Use Cases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1A8CF8E-C930-42E4-BF59-E2390D959AAA}"/>
              </a:ext>
            </a:extLst>
          </p:cNvPr>
          <p:cNvSpPr>
            <a:spLocks noGrp="1"/>
          </p:cNvSpPr>
          <p:nvPr/>
        </p:nvSpPr>
        <p:spPr>
          <a:xfrm>
            <a:off x="3067050" y="4248150"/>
            <a:ext cx="5372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Fakes in-memory e erros sem salvar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1A76653-7432-4A7B-AB3D-EC47E0E48631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8572500" cy="552450"/>
          </a:xfrm>
          <a:prstGeom prst="roundRect">
            <a:avLst>
              <a:gd name="adj" fmla="val 20690"/>
            </a:avLst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3962C3D-A155-4C1B-BCE3-9152AB371AD1}"/>
              </a:ext>
            </a:extLst>
          </p:cNvPr>
          <p:cNvSpPr>
            <a:spLocks noGrp="1"/>
          </p:cNvSpPr>
          <p:nvPr/>
        </p:nvSpPr>
        <p:spPr>
          <a:xfrm>
            <a:off x="838200" y="497205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Domínio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08BD7D5-4F57-45F1-A11F-D05A2D1674E9}"/>
              </a:ext>
            </a:extLst>
          </p:cNvPr>
          <p:cNvSpPr>
            <a:spLocks noGrp="1"/>
          </p:cNvSpPr>
          <p:nvPr/>
        </p:nvSpPr>
        <p:spPr>
          <a:xfrm>
            <a:off x="2400300" y="4962525"/>
            <a:ext cx="67056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Transições, Value Objects e invariantes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6DFAEC3-431C-4C91-9817-8B07434BC12D}"/>
              </a:ext>
            </a:extLst>
          </p:cNvPr>
          <p:cNvSpPr>
            <a:spLocks noGrp="1"/>
          </p:cNvSpPr>
          <p:nvPr/>
        </p:nvSpPr>
        <p:spPr>
          <a:xfrm>
            <a:off x="9572625" y="1962150"/>
            <a:ext cx="1952625" cy="3409950"/>
          </a:xfrm>
          <a:prstGeom prst="roundRect">
            <a:avLst>
              <a:gd name="adj" fmla="val 7805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C96BEE1-EC6E-49AC-9AAD-2A56F6FCD3C0}"/>
              </a:ext>
            </a:extLst>
          </p:cNvPr>
          <p:cNvSpPr>
            <a:spLocks noGrp="1"/>
          </p:cNvSpPr>
          <p:nvPr/>
        </p:nvSpPr>
        <p:spPr>
          <a:xfrm>
            <a:off x="9572625" y="1962150"/>
            <a:ext cx="85725" cy="340995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9525">
            <a:solidFill>
              <a:srgbClr val="0B1F3A"/>
            </a:solidFill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F702E2F-5628-487C-8080-72C3899BA03B}"/>
              </a:ext>
            </a:extLst>
          </p:cNvPr>
          <p:cNvSpPr>
            <a:spLocks noGrp="1"/>
          </p:cNvSpPr>
          <p:nvPr/>
        </p:nvSpPr>
        <p:spPr>
          <a:xfrm>
            <a:off x="9782175" y="2124075"/>
            <a:ext cx="15716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Arquitetura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9FD7559-0FBE-4A6F-AA2E-0E8E4E6BDC06}"/>
              </a:ext>
            </a:extLst>
          </p:cNvPr>
          <p:cNvSpPr>
            <a:spLocks noGrp="1"/>
          </p:cNvSpPr>
          <p:nvPr/>
        </p:nvSpPr>
        <p:spPr>
          <a:xfrm>
            <a:off x="9782175" y="2486025"/>
            <a:ext cx="1571625" cy="2771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A build falha se domain/ ou application/ importarem FastAPI, Pydantic ou SQLAlchemy.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06ADCBF-D305-4989-9D43-C9CC1DB754E1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39E1550-19A1-488D-85FE-3D7DB7398375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TDD</a:t>
            </a:r>
          </a:p>
        </p:txBody>
      </p:sp>
    </p:spTree>
    <p:extLst>
      <p:ext uri="{BB962C8B-B14F-4D97-AF65-F5344CB8AC3E}">
        <p14:creationId xmlns:p14="http://schemas.microsoft.com/office/powerpoint/2010/main" val="1243498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tângulo 35">
            <a:extLst>
              <a:ext uri="{FF2B5EF4-FFF2-40B4-BE49-F238E27FC236}">
                <a16:creationId xmlns:a16="http://schemas.microsoft.com/office/drawing/2014/main" id="{7FDD210E-7881-4648-B8D3-5938D3410E45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14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B461AD1-C14D-4BE9-8EE0-6322D708A48E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Backlog priorizado por fase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64C0A250-8C90-471D-93F2-BFFAC9A7D24B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566285-E254-408F-AACA-79480EA4679D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493616A-3965-421B-9E20-D7C9E0DD4986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2038350" cy="2362200"/>
          </a:xfrm>
          <a:prstGeom prst="roundRect">
            <a:avLst>
              <a:gd name="adj" fmla="val 7477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80C2DB51-A9F6-41B8-A5B2-6E65DD6130F0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419100" cy="419100"/>
          </a:xfrm>
          <a:prstGeom prst="ellipse">
            <a:avLst/>
          </a:prstGeom>
          <a:solidFill>
            <a:srgbClr val="3277C8"/>
          </a:solidFill>
          <a:ln w="9525">
            <a:solidFill>
              <a:srgbClr val="3277C8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A355A67-6685-4FE1-B89C-41D18F2D52E5}"/>
              </a:ext>
            </a:extLst>
          </p:cNvPr>
          <p:cNvSpPr>
            <a:spLocks noGrp="1"/>
          </p:cNvSpPr>
          <p:nvPr/>
        </p:nvSpPr>
        <p:spPr>
          <a:xfrm>
            <a:off x="781050" y="193357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49DD56B-9C3C-425D-845F-356DF95625E2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Fundação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9E503EC-968E-44ED-AAD2-DCFF72327FE4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15811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Camadas, CI e Docker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ECFA68D-17CA-4C1C-9755-2E465F216975}"/>
              </a:ext>
            </a:extLst>
          </p:cNvPr>
          <p:cNvSpPr>
            <a:spLocks noGrp="1"/>
          </p:cNvSpPr>
          <p:nvPr/>
        </p:nvSpPr>
        <p:spPr>
          <a:xfrm>
            <a:off x="2895600" y="1676400"/>
            <a:ext cx="2038350" cy="2362200"/>
          </a:xfrm>
          <a:prstGeom prst="roundRect">
            <a:avLst>
              <a:gd name="adj" fmla="val 7477"/>
            </a:avLst>
          </a:prstGeom>
          <a:solidFill>
            <a:srgbClr val="E8F8F4"/>
          </a:solidFill>
          <a:ln w="9525">
            <a:solidFill>
              <a:srgbClr val="9CD9C8"/>
            </a:solidFill>
          </a:ln>
        </p:spPr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BBEF831-AE08-44EA-B515-F857808493C1}"/>
              </a:ext>
            </a:extLst>
          </p:cNvPr>
          <p:cNvSpPr>
            <a:spLocks noGrp="1"/>
          </p:cNvSpPr>
          <p:nvPr/>
        </p:nvSpPr>
        <p:spPr>
          <a:xfrm>
            <a:off x="3067050" y="1847850"/>
            <a:ext cx="419100" cy="419100"/>
          </a:xfrm>
          <a:prstGeom prst="ellipse">
            <a:avLst/>
          </a:prstGeom>
          <a:solidFill>
            <a:srgbClr val="19B5A5"/>
          </a:solidFill>
          <a:ln w="9525">
            <a:solidFill>
              <a:srgbClr val="19B5A5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579719A-96EA-4966-B968-E6CD6F42D759}"/>
              </a:ext>
            </a:extLst>
          </p:cNvPr>
          <p:cNvSpPr>
            <a:spLocks noGrp="1"/>
          </p:cNvSpPr>
          <p:nvPr/>
        </p:nvSpPr>
        <p:spPr>
          <a:xfrm>
            <a:off x="3067050" y="193357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DCBA127-4D9C-47E0-A022-E682D88D5130}"/>
              </a:ext>
            </a:extLst>
          </p:cNvPr>
          <p:cNvSpPr>
            <a:spLocks noGrp="1"/>
          </p:cNvSpPr>
          <p:nvPr/>
        </p:nvSpPr>
        <p:spPr>
          <a:xfrm>
            <a:off x="3086100" y="24574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MVP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4EF53EF-3617-4697-B5F6-28AFAD2601E8}"/>
              </a:ext>
            </a:extLst>
          </p:cNvPr>
          <p:cNvSpPr>
            <a:spLocks noGrp="1"/>
          </p:cNvSpPr>
          <p:nvPr/>
        </p:nvSpPr>
        <p:spPr>
          <a:xfrm>
            <a:off x="3124200" y="2990850"/>
            <a:ext cx="15811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Funil ponta a ponta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3ACC4D1-5E42-4C4D-B1F7-3517E85F2394}"/>
              </a:ext>
            </a:extLst>
          </p:cNvPr>
          <p:cNvSpPr>
            <a:spLocks noGrp="1"/>
          </p:cNvSpPr>
          <p:nvPr/>
        </p:nvSpPr>
        <p:spPr>
          <a:xfrm>
            <a:off x="5181600" y="1676400"/>
            <a:ext cx="2038350" cy="2362200"/>
          </a:xfrm>
          <a:prstGeom prst="roundRect">
            <a:avLst>
              <a:gd name="adj" fmla="val 7477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2B4CC25-960D-4C2C-BDEF-3A86E9ADD92C}"/>
              </a:ext>
            </a:extLst>
          </p:cNvPr>
          <p:cNvSpPr>
            <a:spLocks noGrp="1"/>
          </p:cNvSpPr>
          <p:nvPr/>
        </p:nvSpPr>
        <p:spPr>
          <a:xfrm>
            <a:off x="5353050" y="1847850"/>
            <a:ext cx="419100" cy="419100"/>
          </a:xfrm>
          <a:prstGeom prst="ellipse">
            <a:avLst/>
          </a:prstGeom>
          <a:solidFill>
            <a:srgbClr val="6D5EF3"/>
          </a:solidFill>
          <a:ln w="9525">
            <a:solidFill>
              <a:srgbClr val="6D5EF3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76FF1FD-DC76-4196-8892-4595C03608D7}"/>
              </a:ext>
            </a:extLst>
          </p:cNvPr>
          <p:cNvSpPr>
            <a:spLocks noGrp="1"/>
          </p:cNvSpPr>
          <p:nvPr/>
        </p:nvSpPr>
        <p:spPr>
          <a:xfrm>
            <a:off x="5353050" y="193357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2AAA12C-E587-464F-9193-29F42A175DBD}"/>
              </a:ext>
            </a:extLst>
          </p:cNvPr>
          <p:cNvSpPr>
            <a:spLocks noGrp="1"/>
          </p:cNvSpPr>
          <p:nvPr/>
        </p:nvSpPr>
        <p:spPr>
          <a:xfrm>
            <a:off x="5372100" y="24574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Histórico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92FE50B-6C23-4509-BE36-2BD64425FEE7}"/>
              </a:ext>
            </a:extLst>
          </p:cNvPr>
          <p:cNvSpPr>
            <a:spLocks noGrp="1"/>
          </p:cNvSpPr>
          <p:nvPr/>
        </p:nvSpPr>
        <p:spPr>
          <a:xfrm>
            <a:off x="5410200" y="2990850"/>
            <a:ext cx="15811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Interações e índices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BC8BDB6A-4106-4B36-B91D-6D2443442701}"/>
              </a:ext>
            </a:extLst>
          </p:cNvPr>
          <p:cNvSpPr>
            <a:spLocks noGrp="1"/>
          </p:cNvSpPr>
          <p:nvPr/>
        </p:nvSpPr>
        <p:spPr>
          <a:xfrm>
            <a:off x="7467600" y="1676400"/>
            <a:ext cx="2038350" cy="2362200"/>
          </a:xfrm>
          <a:prstGeom prst="roundRect">
            <a:avLst>
              <a:gd name="adj" fmla="val 7477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D9B89F5-9AC8-4838-B5B3-108A4FFB3BA9}"/>
              </a:ext>
            </a:extLst>
          </p:cNvPr>
          <p:cNvSpPr>
            <a:spLocks noGrp="1"/>
          </p:cNvSpPr>
          <p:nvPr/>
        </p:nvSpPr>
        <p:spPr>
          <a:xfrm>
            <a:off x="7639050" y="1847850"/>
            <a:ext cx="419100" cy="419100"/>
          </a:xfrm>
          <a:prstGeom prst="ellipse">
            <a:avLst/>
          </a:prstGeom>
          <a:solidFill>
            <a:srgbClr val="F5A623"/>
          </a:solidFill>
          <a:ln w="9525">
            <a:solidFill>
              <a:srgbClr val="F5A623"/>
            </a:solidFill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8516B5E-707C-4833-88E2-25338E89C724}"/>
              </a:ext>
            </a:extLst>
          </p:cNvPr>
          <p:cNvSpPr>
            <a:spLocks noGrp="1"/>
          </p:cNvSpPr>
          <p:nvPr/>
        </p:nvSpPr>
        <p:spPr>
          <a:xfrm>
            <a:off x="7639050" y="193357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41053A4-CF09-4334-AAF6-2047FE9A71B2}"/>
              </a:ext>
            </a:extLst>
          </p:cNvPr>
          <p:cNvSpPr>
            <a:spLocks noGrp="1"/>
          </p:cNvSpPr>
          <p:nvPr/>
        </p:nvSpPr>
        <p:spPr>
          <a:xfrm>
            <a:off x="7658100" y="24574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Medição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508FD57-AD61-4CF4-B68A-412CA11212BF}"/>
              </a:ext>
            </a:extLst>
          </p:cNvPr>
          <p:cNvSpPr>
            <a:spLocks noGrp="1"/>
          </p:cNvSpPr>
          <p:nvPr/>
        </p:nvSpPr>
        <p:spPr>
          <a:xfrm>
            <a:off x="7696200" y="2990850"/>
            <a:ext cx="15811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Métricas, JWT e admin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650AA363-13D8-4E94-B04D-03E4CF8A808C}"/>
              </a:ext>
            </a:extLst>
          </p:cNvPr>
          <p:cNvSpPr>
            <a:spLocks noGrp="1"/>
          </p:cNvSpPr>
          <p:nvPr/>
        </p:nvSpPr>
        <p:spPr>
          <a:xfrm>
            <a:off x="9753600" y="1676400"/>
            <a:ext cx="2038350" cy="2362200"/>
          </a:xfrm>
          <a:prstGeom prst="roundRect">
            <a:avLst>
              <a:gd name="adj" fmla="val 7477"/>
            </a:avLst>
          </a:prstGeom>
          <a:solidFill>
            <a:srgbClr val="F4F7FB"/>
          </a:solidFill>
          <a:ln w="9525">
            <a:solidFill>
              <a:srgbClr val="D6DFEA"/>
            </a:solidFill>
          </a:ln>
        </p:spPr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174D3E1-751F-4F76-BA18-11887697C085}"/>
              </a:ext>
            </a:extLst>
          </p:cNvPr>
          <p:cNvSpPr>
            <a:spLocks noGrp="1"/>
          </p:cNvSpPr>
          <p:nvPr/>
        </p:nvSpPr>
        <p:spPr>
          <a:xfrm>
            <a:off x="9925050" y="1847850"/>
            <a:ext cx="419100" cy="419100"/>
          </a:xfrm>
          <a:prstGeom prst="ellipse">
            <a:avLst/>
          </a:prstGeom>
          <a:solidFill>
            <a:srgbClr val="1FAD83"/>
          </a:solidFill>
          <a:ln w="9525">
            <a:solidFill>
              <a:srgbClr val="1FAD83"/>
            </a:solidFill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06B5E83-9806-4258-B4E9-96C20BE5A87E}"/>
              </a:ext>
            </a:extLst>
          </p:cNvPr>
          <p:cNvSpPr>
            <a:spLocks noGrp="1"/>
          </p:cNvSpPr>
          <p:nvPr/>
        </p:nvSpPr>
        <p:spPr>
          <a:xfrm>
            <a:off x="9925050" y="193357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4583"/>
          </a:bodyPr>
          <a:lstStyle/>
          <a:p>
            <a:pPr algn="ctr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84E3EF0-1CFC-4E35-A648-2572F8F25508}"/>
              </a:ext>
            </a:extLst>
          </p:cNvPr>
          <p:cNvSpPr>
            <a:spLocks noGrp="1"/>
          </p:cNvSpPr>
          <p:nvPr/>
        </p:nvSpPr>
        <p:spPr>
          <a:xfrm>
            <a:off x="9944100" y="2457450"/>
            <a:ext cx="16573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Evolução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35AABEB-F4B5-47BA-B4E8-23169B3A4F37}"/>
              </a:ext>
            </a:extLst>
          </p:cNvPr>
          <p:cNvSpPr>
            <a:spLocks noGrp="1"/>
          </p:cNvSpPr>
          <p:nvPr/>
        </p:nvSpPr>
        <p:spPr>
          <a:xfrm>
            <a:off x="9982200" y="2990850"/>
            <a:ext cx="15811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B687A"/>
                </a:solidFill>
                <a:latin typeface="DejaVu Sans"/>
                <a:ea typeface="DejaVu Sans"/>
                <a:cs typeface="DejaVu Sans"/>
              </a:rPr>
              <a:t>Filtros, busca e exportação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EFEC3C9-6D7A-430E-AD3A-63F2E1C930A2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0820400" cy="933450"/>
          </a:xfrm>
          <a:prstGeom prst="roundRect">
            <a:avLst>
              <a:gd name="adj" fmla="val 16327"/>
            </a:avLst>
          </a:prstGeom>
          <a:solidFill>
            <a:srgbClr val="0B1F3A"/>
          </a:solidFill>
          <a:ln w="9525">
            <a:solidFill>
              <a:srgbClr val="0B1F3A"/>
            </a:solidFill>
          </a:ln>
        </p:spPr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F16178E5-4E0C-40DE-8E70-C9F8F96C2048}"/>
              </a:ext>
            </a:extLst>
          </p:cNvPr>
          <p:cNvSpPr>
            <a:spLocks noGrp="1"/>
          </p:cNvSpPr>
          <p:nvPr/>
        </p:nvSpPr>
        <p:spPr>
          <a:xfrm>
            <a:off x="914400" y="4629150"/>
            <a:ext cx="2952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417"/>
          </a:bodyPr>
          <a:lstStyle/>
          <a:p>
            <a:pPr algn="l">
              <a:defRPr sz="1200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Definição de pronto da Fase 1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B7E205FF-07E6-4A7F-BA77-1E8E89E88470}"/>
              </a:ext>
            </a:extLst>
          </p:cNvPr>
          <p:cNvSpPr>
            <a:spLocks noGrp="1"/>
          </p:cNvSpPr>
          <p:nvPr/>
        </p:nvSpPr>
        <p:spPr>
          <a:xfrm>
            <a:off x="4000500" y="4572000"/>
            <a:ext cx="7143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518"/>
          </a:bodyPr>
          <a:lstStyle/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Registrar um contato e conduzi-lo até Fechado ou Perdido, com transições inválidas bloqueadas pelo domínio.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43249323-E923-4462-AC2A-F2C91B643282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1">
                <a:solidFill>
                  <a:srgbClr val="6D5EF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D5EF3"/>
                </a:solidFill>
                <a:latin typeface="DejaVu Sans"/>
                <a:ea typeface="DejaVu Sans"/>
                <a:cs typeface="DejaVu Sans"/>
              </a:rPr>
              <a:t>Domínio primeiro. Interface por último.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2480DC74-218B-4156-9D88-361233E6C284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C9F0EC46-2E35-4BB7-8775-CE66EC0C9333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Backlog</a:t>
            </a:r>
          </a:p>
        </p:txBody>
      </p:sp>
    </p:spTree>
    <p:extLst>
      <p:ext uri="{BB962C8B-B14F-4D97-AF65-F5344CB8AC3E}">
        <p14:creationId xmlns:p14="http://schemas.microsoft.com/office/powerpoint/2010/main" val="63419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0E0ACA8B-AFE0-4BB7-A0BE-22E35C655290}"/>
              </a:ext>
            </a:extLst>
          </p:cNvPr>
          <p:cNvSpPr>
            <a:spLocks noGrp="1"/>
          </p:cNvSpPr>
          <p:nvPr/>
        </p:nvSpPr>
        <p:spPr>
          <a:xfrm>
            <a:off x="628650" y="3238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111"/>
          </a:bodyPr>
          <a:lstStyle/>
          <a:p>
            <a:pPr algn="l">
              <a:def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9B5A5"/>
                </a:solidFill>
                <a:latin typeface="DejaVu Sans"/>
                <a:ea typeface="DejaVu Sans"/>
                <a:cs typeface="DejaVu Sans"/>
              </a:rPr>
              <a:t>SEÇÃO 15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B5BC542-74C4-4555-833B-DE25C200BB37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Checklist e rastreabilidade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9DFF5701-EFBC-4B6B-A17E-05715B1F9EAD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34700" cy="0"/>
          </a:xfrm>
          <a:prstGeom prst="line">
            <a:avLst/>
          </a:prstGeom>
          <a:noFill/>
          <a:ln w="28575">
            <a:solidFill>
              <a:srgbClr val="F5A623"/>
            </a:solidFill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53641C8-318D-4B4A-8202-E846141B45B5}"/>
              </a:ext>
            </a:extLst>
          </p:cNvPr>
          <p:cNvSpPr>
            <a:spLocks noGrp="1"/>
          </p:cNvSpPr>
          <p:nvPr/>
        </p:nvSpPr>
        <p:spPr>
          <a:xfrm>
            <a:off x="11201400" y="643890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2EB0A4-7113-4F3B-B7AC-ACECBFB2BFBA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Cobertura da proposta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542D97D-7F9A-495E-B63C-CBC21DBFAF79}"/>
              </a:ext>
            </a:extLst>
          </p:cNvPr>
          <p:cNvSpPr>
            <a:spLocks noGrp="1"/>
          </p:cNvSpPr>
          <p:nvPr/>
        </p:nvSpPr>
        <p:spPr>
          <a:xfrm>
            <a:off x="685800" y="2028825"/>
            <a:ext cx="285750" cy="285750"/>
          </a:xfrm>
          <a:prstGeom prst="ellipse">
            <a:avLst/>
          </a:prstGeom>
          <a:solidFill>
            <a:srgbClr val="1FAD83"/>
          </a:solidFill>
          <a:ln w="9525">
            <a:solidFill>
              <a:srgbClr val="1FAD83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8469785-7EEA-49FF-8637-0A4943C37405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6667"/>
          </a:bodyPr>
          <a:lstStyle/>
          <a:p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4C8E2ED-4EDB-4D21-90A8-D3ED3CD85809}"/>
              </a:ext>
            </a:extLst>
          </p:cNvPr>
          <p:cNvSpPr>
            <a:spLocks noGrp="1"/>
          </p:cNvSpPr>
          <p:nvPr/>
        </p:nvSpPr>
        <p:spPr>
          <a:xfrm>
            <a:off x="1085850" y="19812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Requisitos e casos de uso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9ACD9D4-4A83-40FD-AAC3-65FE0CFA3A08}"/>
              </a:ext>
            </a:extLst>
          </p:cNvPr>
          <p:cNvSpPr>
            <a:spLocks noGrp="1"/>
          </p:cNvSpPr>
          <p:nvPr/>
        </p:nvSpPr>
        <p:spPr>
          <a:xfrm>
            <a:off x="3590925" y="2028825"/>
            <a:ext cx="285750" cy="285750"/>
          </a:xfrm>
          <a:prstGeom prst="ellipse">
            <a:avLst/>
          </a:prstGeom>
          <a:solidFill>
            <a:srgbClr val="1FAD83"/>
          </a:solidFill>
          <a:ln w="9525">
            <a:solidFill>
              <a:srgbClr val="1FAD83"/>
            </a:solidFill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7774A48-691D-41F0-823A-B063C306A486}"/>
              </a:ext>
            </a:extLst>
          </p:cNvPr>
          <p:cNvSpPr>
            <a:spLocks noGrp="1"/>
          </p:cNvSpPr>
          <p:nvPr/>
        </p:nvSpPr>
        <p:spPr>
          <a:xfrm>
            <a:off x="3590925" y="205740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6667"/>
          </a:bodyPr>
          <a:lstStyle/>
          <a:p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6442936-A52F-49C0-9872-2E229D9891E4}"/>
              </a:ext>
            </a:extLst>
          </p:cNvPr>
          <p:cNvSpPr>
            <a:spLocks noGrp="1"/>
          </p:cNvSpPr>
          <p:nvPr/>
        </p:nvSpPr>
        <p:spPr>
          <a:xfrm>
            <a:off x="3990975" y="19812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Classes, objetos e estados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DC6B49B-69A8-4F2A-A2D0-AC942B71AE5B}"/>
              </a:ext>
            </a:extLst>
          </p:cNvPr>
          <p:cNvSpPr>
            <a:spLocks noGrp="1"/>
          </p:cNvSpPr>
          <p:nvPr/>
        </p:nvSpPr>
        <p:spPr>
          <a:xfrm>
            <a:off x="685800" y="2847975"/>
            <a:ext cx="285750" cy="285750"/>
          </a:xfrm>
          <a:prstGeom prst="ellipse">
            <a:avLst/>
          </a:prstGeom>
          <a:solidFill>
            <a:srgbClr val="1FAD83"/>
          </a:solidFill>
          <a:ln w="9525">
            <a:solidFill>
              <a:srgbClr val="1FAD83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B51130D-A2DC-48B8-9D0E-FD79CBBB6A1C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6667"/>
          </a:bodyPr>
          <a:lstStyle/>
          <a:p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B8E16F4-7EA0-44ED-96B1-64CB0DE6B2E8}"/>
              </a:ext>
            </a:extLst>
          </p:cNvPr>
          <p:cNvSpPr>
            <a:spLocks noGrp="1"/>
          </p:cNvSpPr>
          <p:nvPr/>
        </p:nvSpPr>
        <p:spPr>
          <a:xfrm>
            <a:off x="1085850" y="280035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Persistência e DER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3DF76AD-11BE-4B1F-B401-84967F9CB54A}"/>
              </a:ext>
            </a:extLst>
          </p:cNvPr>
          <p:cNvSpPr>
            <a:spLocks noGrp="1"/>
          </p:cNvSpPr>
          <p:nvPr/>
        </p:nvSpPr>
        <p:spPr>
          <a:xfrm>
            <a:off x="3590925" y="2847975"/>
            <a:ext cx="285750" cy="285750"/>
          </a:xfrm>
          <a:prstGeom prst="ellipse">
            <a:avLst/>
          </a:prstGeom>
          <a:solidFill>
            <a:srgbClr val="1FAD83"/>
          </a:solidFill>
          <a:ln w="9525">
            <a:solidFill>
              <a:srgbClr val="1FAD83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E98983D-A477-405C-A49E-BD09FEC9FB06}"/>
              </a:ext>
            </a:extLst>
          </p:cNvPr>
          <p:cNvSpPr>
            <a:spLocks noGrp="1"/>
          </p:cNvSpPr>
          <p:nvPr/>
        </p:nvSpPr>
        <p:spPr>
          <a:xfrm>
            <a:off x="3590925" y="287655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6667"/>
          </a:bodyPr>
          <a:lstStyle/>
          <a:p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9ED60A6-7E22-4DF3-8E8C-A8911F24D16B}"/>
              </a:ext>
            </a:extLst>
          </p:cNvPr>
          <p:cNvSpPr>
            <a:spLocks noGrp="1"/>
          </p:cNvSpPr>
          <p:nvPr/>
        </p:nvSpPr>
        <p:spPr>
          <a:xfrm>
            <a:off x="3990975" y="280035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BCE e sequências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1CE22B6E-F91D-4445-9245-0F71C2F3009E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285750" cy="285750"/>
          </a:xfrm>
          <a:prstGeom prst="ellipse">
            <a:avLst/>
          </a:prstGeom>
          <a:solidFill>
            <a:srgbClr val="1FAD83"/>
          </a:solidFill>
          <a:ln w="9525">
            <a:solidFill>
              <a:srgbClr val="1FAD83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3554B24-5353-42E5-A2CD-F228E388FF53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6667"/>
          </a:bodyPr>
          <a:lstStyle/>
          <a:p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4886CA0-21E0-4487-93D8-43E1AEACCC5B}"/>
              </a:ext>
            </a:extLst>
          </p:cNvPr>
          <p:cNvSpPr>
            <a:spLocks noGrp="1"/>
          </p:cNvSpPr>
          <p:nvPr/>
        </p:nvSpPr>
        <p:spPr>
          <a:xfrm>
            <a:off x="1085850" y="36195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Atividades e componentes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55BF6B4-5847-4E7A-8E6D-CB38226C3617}"/>
              </a:ext>
            </a:extLst>
          </p:cNvPr>
          <p:cNvSpPr>
            <a:spLocks noGrp="1"/>
          </p:cNvSpPr>
          <p:nvPr/>
        </p:nvSpPr>
        <p:spPr>
          <a:xfrm>
            <a:off x="3590925" y="3667125"/>
            <a:ext cx="285750" cy="285750"/>
          </a:xfrm>
          <a:prstGeom prst="ellipse">
            <a:avLst/>
          </a:prstGeom>
          <a:solidFill>
            <a:srgbClr val="1FAD83"/>
          </a:solidFill>
          <a:ln w="9525">
            <a:solidFill>
              <a:srgbClr val="1FAD83"/>
            </a:solidFill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D9D537B-0268-4DC9-B9F5-23C121A5C69D}"/>
              </a:ext>
            </a:extLst>
          </p:cNvPr>
          <p:cNvSpPr>
            <a:spLocks noGrp="1"/>
          </p:cNvSpPr>
          <p:nvPr/>
        </p:nvSpPr>
        <p:spPr>
          <a:xfrm>
            <a:off x="3590925" y="369570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6667"/>
          </a:bodyPr>
          <a:lstStyle/>
          <a:p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2560681-57B1-44F5-9B6B-30CFDC16AFFB}"/>
              </a:ext>
            </a:extLst>
          </p:cNvPr>
          <p:cNvSpPr>
            <a:spLocks noGrp="1"/>
          </p:cNvSpPr>
          <p:nvPr/>
        </p:nvSpPr>
        <p:spPr>
          <a:xfrm>
            <a:off x="3990975" y="36195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18233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82338"/>
                </a:solidFill>
                <a:latin typeface="DejaVu Sans"/>
                <a:ea typeface="DejaVu Sans"/>
                <a:cs typeface="DejaVu Sans"/>
              </a:rPr>
              <a:t>DDD, TDD e backlog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0FD116E-16A8-4A49-8E99-C384E41CCEED}"/>
              </a:ext>
            </a:extLst>
          </p:cNvPr>
          <p:cNvSpPr>
            <a:spLocks noGrp="1"/>
          </p:cNvSpPr>
          <p:nvPr/>
        </p:nvSpPr>
        <p:spPr>
          <a:xfrm>
            <a:off x="6477000" y="15049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273"/>
          </a:bodyPr>
          <a:lstStyle/>
          <a:p>
            <a:pPr algn="l">
              <a:defRPr sz="1650" b="1">
                <a:solidFill>
                  <a:srgbClr val="0B1F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1F3A"/>
                </a:solidFill>
                <a:latin typeface="DejaVu Sans"/>
                <a:ea typeface="DejaVu Sans"/>
                <a:cs typeface="DejaVu Sans"/>
              </a:rPr>
              <a:t>Amostra de rastreabilidade</a:t>
            </a:r>
          </a:p>
        </p:txBody>
      </p:sp>
      <p:graphicFrame>
        <p:nvGraphicFramePr>
          <p:cNvPr id="54" name="Tabela 53"/>
          <p:cNvGraphicFramePr/>
          <p:nvPr/>
        </p:nvGraphicFramePr>
        <p:xfrm>
          <a:off x="6477000" y="1962150"/>
          <a:ext cx="4991100" cy="287655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Req.</a:t>
                      </a:r>
                    </a:p>
                  </a:txBody>
                  <a:tcPr marL="7620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 de uso</a:t>
                      </a:r>
                    </a:p>
                  </a:txBody>
                  <a:tcPr marL="7620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Teste</a:t>
                      </a:r>
                    </a:p>
                  </a:txBody>
                  <a:tcPr marL="76200" marR="76200" marT="57150" marB="57150" anchor="ctr"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RF02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UC03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Rejeita salto de etapa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RF03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UC03/05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Exige valor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RF09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UC02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Recusa formato inválido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RNF01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UC07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Carga com 500 ativos</a:t>
                      </a:r>
                    </a:p>
                  </a:txBody>
                  <a:tcPr marL="76200" marR="76200" marT="47625" marB="47625"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RNF03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—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33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Import proibido falha a build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B62280D-4231-48B4-B413-CDBD16A9674A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782300" cy="762000"/>
          </a:xfrm>
          <a:prstGeom prst="roundRect">
            <a:avLst>
              <a:gd name="adj" fmla="val 17500"/>
            </a:avLst>
          </a:prstGeom>
          <a:solidFill>
            <a:srgbClr val="E9F8F2"/>
          </a:solidFill>
          <a:ln w="9525">
            <a:solidFill>
              <a:srgbClr val="A5DFC9"/>
            </a:solidFill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3654CCD-6508-4006-AC32-A0033D3D0C8E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>
                <a:solidFill>
                  <a:srgbClr val="1FAD8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FAD83"/>
                </a:solidFill>
                <a:latin typeface="DejaVu Sans"/>
                <a:ea typeface="DejaVu Sans"/>
                <a:cs typeface="DejaVu Sans"/>
              </a:rPr>
              <a:t>Resultado: uma proposta rastreável, organizada por domínio e pronta para orientar o MVP.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3EA1E88-0ABD-4265-A45B-42F2CB298AB3}"/>
              </a:ext>
            </a:extLst>
          </p:cNvPr>
          <p:cNvSpPr>
            <a:spLocks noGrp="1"/>
          </p:cNvSpPr>
          <p:nvPr/>
        </p:nvSpPr>
        <p:spPr>
          <a:xfrm>
            <a:off x="628650" y="6438900"/>
            <a:ext cx="4381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l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CRM de Atendimento e Orçamentos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CF7FD77-5845-4BF4-9596-CACDF59C72AE}"/>
              </a:ext>
            </a:extLst>
          </p:cNvPr>
          <p:cNvSpPr>
            <a:spLocks noGrp="1"/>
          </p:cNvSpPr>
          <p:nvPr/>
        </p:nvSpPr>
        <p:spPr>
          <a:xfrm>
            <a:off x="7810500" y="6438900"/>
            <a:ext cx="3333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3636"/>
          </a:bodyPr>
          <a:lstStyle/>
          <a:p>
            <a:pPr algn="r">
              <a:def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8C9AAF"/>
                </a:solidFill>
                <a:latin typeface="DejaVu Sans"/>
                <a:ea typeface="DejaVu Sans"/>
                <a:cs typeface="DejaVu Sans"/>
              </a:rPr>
              <a:t>Checklist e rastreabilidade</a:t>
            </a:r>
          </a:p>
        </p:txBody>
      </p:sp>
    </p:spTree>
    <p:extLst>
      <p:ext uri="{BB962C8B-B14F-4D97-AF65-F5344CB8AC3E}">
        <p14:creationId xmlns:p14="http://schemas.microsoft.com/office/powerpoint/2010/main" val="7342450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1787</Words>
  <Application>Microsoft Office PowerPoint</Application>
  <DocSecurity>0</DocSecurity>
  <PresentationFormat>Widescreen</PresentationFormat>
  <Paragraphs>491</Paragraphs>
  <Slides>34</Slides>
  <Notes>34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8" baseType="lpstr">
      <vt:lpstr>Calibri</vt:lpstr>
      <vt:lpstr>DejaVu Sans</vt:lpstr>
      <vt:lpstr>DejaVu Sans Mono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daviresende.orgwork@gmail.com</cp:lastModifiedBy>
  <cp:revision>3</cp:revision>
  <dcterms:created xsi:type="dcterms:W3CDTF">2026-09-16T21:27:32Z</dcterms:created>
  <dcterms:modified xsi:type="dcterms:W3CDTF">2026-09-17T22:45:44Z</dcterms:modified>
</cp:coreProperties>
</file>