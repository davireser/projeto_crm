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63" r:id="rId5"/>
    <p:sldId id="259" r:id="rId6"/>
    <p:sldId id="300" r:id="rIdNovo1"/>
    <p:sldId id="301" r:id="rIdNovo2"/>
    <p:sldId id="302" r:id="rIdNovo3"/>
    <p:sldId id="260" r:id="rId7"/>
    <p:sldId id="303" r:id="rIdNovo4"/>
    <p:sldId id="261" r:id="rId8"/>
    <p:sldId id="262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440">
          <p15:clr>
            <a:srgbClr val="000000"/>
          </p15:clr>
        </p15:guide>
        <p15:guide id="2" pos="192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754" y="125"/>
      </p:cViewPr>
      <p:guideLst>
        <p:guide orient="horz" pos="1440"/>
        <p:guide pos="19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Relationship Id="rIdNovo1" Type="http://schemas.openxmlformats.org/officeDocument/2006/relationships/slide" Target="slides/slide9.xml"/><Relationship Id="rIdNovo2" Type="http://schemas.openxmlformats.org/officeDocument/2006/relationships/slide" Target="slides/slide10.xml"/><Relationship Id="rIdNovo3" Type="http://schemas.openxmlformats.org/officeDocument/2006/relationships/slide" Target="slides/slide11.xml"/><Relationship Id="rIdNovo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78180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 dirty="0"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/>
            </a:lvl1pPr>
            <a:lvl2pPr marL="0" lvl="1" indent="0" algn="r">
              <a:spcBef>
                <a:spcPts val="0"/>
              </a:spcBef>
              <a:buNone/>
              <a:defRPr sz="800"/>
            </a:lvl2pPr>
            <a:lvl3pPr marL="0" lvl="2" indent="0" algn="r">
              <a:spcBef>
                <a:spcPts val="0"/>
              </a:spcBef>
              <a:buNone/>
              <a:defRPr sz="800"/>
            </a:lvl3pPr>
            <a:lvl4pPr marL="0" lvl="3" indent="0" algn="r">
              <a:spcBef>
                <a:spcPts val="0"/>
              </a:spcBef>
              <a:buNone/>
              <a:defRPr sz="800"/>
            </a:lvl4pPr>
            <a:lvl5pPr marL="0" lvl="4" indent="0" algn="r">
              <a:spcBef>
                <a:spcPts val="0"/>
              </a:spcBef>
              <a:buNone/>
              <a:defRPr sz="800"/>
            </a:lvl5pPr>
            <a:lvl6pPr marL="0" lvl="5" indent="0" algn="r">
              <a:spcBef>
                <a:spcPts val="0"/>
              </a:spcBef>
              <a:buNone/>
              <a:defRPr sz="800"/>
            </a:lvl6pPr>
            <a:lvl7pPr marL="0" lvl="6" indent="0" algn="r">
              <a:spcBef>
                <a:spcPts val="0"/>
              </a:spcBef>
              <a:buNone/>
              <a:defRPr sz="800"/>
            </a:lvl7pPr>
            <a:lvl8pPr marL="0" lvl="7" indent="0" algn="r">
              <a:spcBef>
                <a:spcPts val="0"/>
              </a:spcBef>
              <a:buNone/>
              <a:defRPr sz="800"/>
            </a:lvl8pPr>
            <a:lvl9pPr marL="0" lvl="8" indent="0" algn="r">
              <a:spcBef>
                <a:spcPts val="0"/>
              </a:spcBef>
              <a:buNone/>
              <a:defRPr sz="8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5" name="Google Shape;85;p13"/>
          <p:cNvSpPr/>
          <p:nvPr userDrawn="1"/>
        </p:nvSpPr>
        <p:spPr>
          <a:xfrm>
            <a:off x="318847" y="5938410"/>
            <a:ext cx="1063217" cy="887096"/>
          </a:xfrm>
          <a:custGeom>
            <a:avLst/>
            <a:gdLst/>
            <a:ahLst/>
            <a:cxnLst/>
            <a:rect l="l" t="t" r="r" b="b"/>
            <a:pathLst>
              <a:path w="1592834" h="1328983" extrusionOk="0">
                <a:moveTo>
                  <a:pt x="0" y="0"/>
                </a:moveTo>
                <a:lnTo>
                  <a:pt x="1592834" y="0"/>
                </a:lnTo>
                <a:lnTo>
                  <a:pt x="1592834" y="1328983"/>
                </a:lnTo>
                <a:lnTo>
                  <a:pt x="0" y="13289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25131" t="-38889" r="-23197" b="-38889"/>
            </a:stretch>
          </a:blipFill>
          <a:ln>
            <a:noFill/>
          </a:ln>
        </p:spPr>
      </p:sp>
      <p:sp>
        <p:nvSpPr>
          <p:cNvPr id="6" name="Google Shape;86;p13"/>
          <p:cNvSpPr/>
          <p:nvPr userDrawn="1"/>
        </p:nvSpPr>
        <p:spPr>
          <a:xfrm>
            <a:off x="1525663" y="5990114"/>
            <a:ext cx="671050" cy="826985"/>
          </a:xfrm>
          <a:custGeom>
            <a:avLst/>
            <a:gdLst/>
            <a:ahLst/>
            <a:cxnLst/>
            <a:rect l="l" t="t" r="r" b="b"/>
            <a:pathLst>
              <a:path w="1492606" h="1688150" extrusionOk="0">
                <a:moveTo>
                  <a:pt x="0" y="0"/>
                </a:moveTo>
                <a:lnTo>
                  <a:pt x="1492605" y="0"/>
                </a:lnTo>
                <a:lnTo>
                  <a:pt x="1492605" y="1688149"/>
                </a:lnTo>
                <a:lnTo>
                  <a:pt x="0" y="168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7" name="Google Shape;87;p13"/>
          <p:cNvSpPr/>
          <p:nvPr userDrawn="1"/>
        </p:nvSpPr>
        <p:spPr>
          <a:xfrm>
            <a:off x="11059843" y="6031015"/>
            <a:ext cx="1133572" cy="828018"/>
          </a:xfrm>
          <a:custGeom>
            <a:avLst/>
            <a:gdLst/>
            <a:ahLst/>
            <a:cxnLst/>
            <a:rect l="l" t="t" r="r" b="b"/>
            <a:pathLst>
              <a:path w="1698235" h="1240477" extrusionOk="0">
                <a:moveTo>
                  <a:pt x="0" y="0"/>
                </a:moveTo>
                <a:lnTo>
                  <a:pt x="1698235" y="0"/>
                </a:lnTo>
                <a:lnTo>
                  <a:pt x="1698235" y="1240477"/>
                </a:lnTo>
                <a:lnTo>
                  <a:pt x="0" y="1240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9744" t="-34435" r="-17366" b="-26455"/>
            </a:stretch>
          </a:blipFill>
          <a:ln>
            <a:noFill/>
          </a:ln>
        </p:spPr>
      </p:sp>
      <p:sp>
        <p:nvSpPr>
          <p:cNvPr id="8" name="Google Shape;88;p13"/>
          <p:cNvSpPr/>
          <p:nvPr userDrawn="1"/>
        </p:nvSpPr>
        <p:spPr>
          <a:xfrm>
            <a:off x="9350027" y="6031015"/>
            <a:ext cx="1711957" cy="786084"/>
          </a:xfrm>
          <a:custGeom>
            <a:avLst/>
            <a:gdLst/>
            <a:ahLst/>
            <a:cxnLst/>
            <a:rect l="l" t="t" r="r" b="b"/>
            <a:pathLst>
              <a:path w="2568349" h="1196141" extrusionOk="0">
                <a:moveTo>
                  <a:pt x="0" y="0"/>
                </a:moveTo>
                <a:lnTo>
                  <a:pt x="2568349" y="0"/>
                </a:lnTo>
                <a:lnTo>
                  <a:pt x="2568349" y="1196141"/>
                </a:lnTo>
                <a:lnTo>
                  <a:pt x="0" y="11961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" name="Google Shape;89;p13"/>
          <p:cNvSpPr/>
          <p:nvPr userDrawn="1"/>
        </p:nvSpPr>
        <p:spPr>
          <a:xfrm>
            <a:off x="7414987" y="6248504"/>
            <a:ext cx="1821377" cy="466332"/>
          </a:xfrm>
          <a:custGeom>
            <a:avLst/>
            <a:gdLst/>
            <a:ahLst/>
            <a:cxnLst/>
            <a:rect l="l" t="t" r="r" b="b"/>
            <a:pathLst>
              <a:path w="2898936" h="652467" extrusionOk="0">
                <a:moveTo>
                  <a:pt x="0" y="0"/>
                </a:moveTo>
                <a:lnTo>
                  <a:pt x="2898936" y="0"/>
                </a:lnTo>
                <a:lnTo>
                  <a:pt x="2898936" y="652468"/>
                </a:lnTo>
                <a:lnTo>
                  <a:pt x="0" y="652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" name="Google Shape;90;p13"/>
          <p:cNvSpPr/>
          <p:nvPr userDrawn="1"/>
        </p:nvSpPr>
        <p:spPr>
          <a:xfrm>
            <a:off x="5107932" y="6066184"/>
            <a:ext cx="1043486" cy="750916"/>
          </a:xfrm>
          <a:custGeom>
            <a:avLst/>
            <a:gdLst/>
            <a:ahLst/>
            <a:cxnLst/>
            <a:rect l="l" t="t" r="r" b="b"/>
            <a:pathLst>
              <a:path w="1761235" h="1198746" extrusionOk="0">
                <a:moveTo>
                  <a:pt x="0" y="0"/>
                </a:moveTo>
                <a:lnTo>
                  <a:pt x="1761235" y="0"/>
                </a:lnTo>
                <a:lnTo>
                  <a:pt x="1761235" y="1198746"/>
                </a:lnTo>
                <a:lnTo>
                  <a:pt x="0" y="11987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" name="Google Shape;91;p13"/>
          <p:cNvSpPr/>
          <p:nvPr userDrawn="1"/>
        </p:nvSpPr>
        <p:spPr>
          <a:xfrm>
            <a:off x="6344908" y="5970904"/>
            <a:ext cx="985663" cy="887096"/>
          </a:xfrm>
          <a:custGeom>
            <a:avLst/>
            <a:gdLst/>
            <a:ahLst/>
            <a:cxnLst/>
            <a:rect l="l" t="t" r="r" b="b"/>
            <a:pathLst>
              <a:path w="1476648" h="1328983" extrusionOk="0">
                <a:moveTo>
                  <a:pt x="0" y="0"/>
                </a:moveTo>
                <a:lnTo>
                  <a:pt x="1476648" y="0"/>
                </a:lnTo>
                <a:lnTo>
                  <a:pt x="1476648" y="1328983"/>
                </a:lnTo>
                <a:lnTo>
                  <a:pt x="0" y="13289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" name="Google Shape;92;p13"/>
          <p:cNvSpPr txBox="1"/>
          <p:nvPr userDrawn="1"/>
        </p:nvSpPr>
        <p:spPr>
          <a:xfrm>
            <a:off x="1382064" y="5665002"/>
            <a:ext cx="1005290" cy="273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9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Realizadores</a:t>
            </a:r>
            <a:endParaRPr sz="933" dirty="0"/>
          </a:p>
        </p:txBody>
      </p:sp>
      <p:sp>
        <p:nvSpPr>
          <p:cNvPr id="16" name="Google Shape;93;p13"/>
          <p:cNvSpPr txBox="1"/>
          <p:nvPr userDrawn="1"/>
        </p:nvSpPr>
        <p:spPr>
          <a:xfrm>
            <a:off x="7826162" y="5653075"/>
            <a:ext cx="1242000" cy="1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9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Apoiadores</a:t>
            </a:r>
            <a:endParaRPr sz="933" dirty="0"/>
          </a:p>
        </p:txBody>
      </p:sp>
      <p:sp>
        <p:nvSpPr>
          <p:cNvPr id="17" name="Google Shape;101;p14"/>
          <p:cNvSpPr/>
          <p:nvPr userDrawn="1"/>
        </p:nvSpPr>
        <p:spPr>
          <a:xfrm>
            <a:off x="2340312" y="6058836"/>
            <a:ext cx="1209176" cy="758263"/>
          </a:xfrm>
          <a:custGeom>
            <a:avLst/>
            <a:gdLst/>
            <a:ahLst/>
            <a:cxnLst/>
            <a:rect l="l" t="t" r="r" b="b"/>
            <a:pathLst>
              <a:path w="2065472" h="1297023" extrusionOk="0">
                <a:moveTo>
                  <a:pt x="0" y="0"/>
                </a:moveTo>
                <a:lnTo>
                  <a:pt x="2065472" y="0"/>
                </a:lnTo>
                <a:lnTo>
                  <a:pt x="2065472" y="1297023"/>
                </a:lnTo>
                <a:lnTo>
                  <a:pt x="0" y="1297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457200" y="1420283"/>
            <a:ext cx="5181600" cy="9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2933"/>
            </a:lvl1pPr>
            <a:lvl2pPr lvl="1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lvl="0" algn="ctr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1pPr>
            <a:lvl2pPr lvl="1" algn="ctr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2pPr>
            <a:lvl3pPr lvl="2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lvl="3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 sz="1333">
                <a:solidFill>
                  <a:srgbClr val="888888"/>
                </a:solidFill>
              </a:defRPr>
            </a:lvl4pPr>
            <a:lvl5pPr lvl="4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 sz="1333">
                <a:solidFill>
                  <a:srgbClr val="888888"/>
                </a:solidFill>
              </a:defRPr>
            </a:lvl5pPr>
            <a:lvl6pPr lvl="5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 sz="1333">
                <a:solidFill>
                  <a:srgbClr val="888888"/>
                </a:solidFill>
              </a:defRPr>
            </a:lvl6pPr>
            <a:lvl7pPr lvl="6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 sz="1333">
                <a:solidFill>
                  <a:srgbClr val="888888"/>
                </a:solidFill>
              </a:defRPr>
            </a:lvl7pPr>
            <a:lvl8pPr lvl="7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 sz="1333">
                <a:solidFill>
                  <a:srgbClr val="888888"/>
                </a:solidFill>
              </a:defRPr>
            </a:lvl8pPr>
            <a:lvl9pPr lvl="8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 sz="1333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/>
            </a:lvl1pPr>
            <a:lvl2pPr marL="0" lvl="1" indent="0" algn="r">
              <a:spcBef>
                <a:spcPts val="0"/>
              </a:spcBef>
              <a:buNone/>
              <a:defRPr sz="800"/>
            </a:lvl2pPr>
            <a:lvl3pPr marL="0" lvl="2" indent="0" algn="r">
              <a:spcBef>
                <a:spcPts val="0"/>
              </a:spcBef>
              <a:buNone/>
              <a:defRPr sz="800"/>
            </a:lvl3pPr>
            <a:lvl4pPr marL="0" lvl="3" indent="0" algn="r">
              <a:spcBef>
                <a:spcPts val="0"/>
              </a:spcBef>
              <a:buNone/>
              <a:defRPr sz="800"/>
            </a:lvl4pPr>
            <a:lvl5pPr marL="0" lvl="4" indent="0" algn="r">
              <a:spcBef>
                <a:spcPts val="0"/>
              </a:spcBef>
              <a:buNone/>
              <a:defRPr sz="800"/>
            </a:lvl5pPr>
            <a:lvl6pPr marL="0" lvl="5" indent="0" algn="r">
              <a:spcBef>
                <a:spcPts val="0"/>
              </a:spcBef>
              <a:buNone/>
              <a:defRPr sz="800"/>
            </a:lvl6pPr>
            <a:lvl7pPr marL="0" lvl="6" indent="0" algn="r">
              <a:spcBef>
                <a:spcPts val="0"/>
              </a:spcBef>
              <a:buNone/>
              <a:defRPr sz="800"/>
            </a:lvl7pPr>
            <a:lvl8pPr marL="0" lvl="7" indent="0" algn="r">
              <a:spcBef>
                <a:spcPts val="0"/>
              </a:spcBef>
              <a:buNone/>
              <a:defRPr sz="800"/>
            </a:lvl8pPr>
            <a:lvl9pPr marL="0" lvl="8" indent="0" algn="r">
              <a:spcBef>
                <a:spcPts val="0"/>
              </a:spcBef>
              <a:buNone/>
              <a:defRPr sz="8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7" name="Google Shape;85;p13"/>
          <p:cNvSpPr/>
          <p:nvPr userDrawn="1"/>
        </p:nvSpPr>
        <p:spPr>
          <a:xfrm>
            <a:off x="318847" y="5938410"/>
            <a:ext cx="1063217" cy="887096"/>
          </a:xfrm>
          <a:custGeom>
            <a:avLst/>
            <a:gdLst/>
            <a:ahLst/>
            <a:cxnLst/>
            <a:rect l="l" t="t" r="r" b="b"/>
            <a:pathLst>
              <a:path w="1592834" h="1328983" extrusionOk="0">
                <a:moveTo>
                  <a:pt x="0" y="0"/>
                </a:moveTo>
                <a:lnTo>
                  <a:pt x="1592834" y="0"/>
                </a:lnTo>
                <a:lnTo>
                  <a:pt x="1592834" y="1328983"/>
                </a:lnTo>
                <a:lnTo>
                  <a:pt x="0" y="13289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25131" t="-38889" r="-23197" b="-38889"/>
            </a:stretch>
          </a:blipFill>
          <a:ln>
            <a:noFill/>
          </a:ln>
        </p:spPr>
      </p:sp>
      <p:sp>
        <p:nvSpPr>
          <p:cNvPr id="8" name="Google Shape;86;p13"/>
          <p:cNvSpPr/>
          <p:nvPr userDrawn="1"/>
        </p:nvSpPr>
        <p:spPr>
          <a:xfrm>
            <a:off x="1525663" y="5990114"/>
            <a:ext cx="671050" cy="826985"/>
          </a:xfrm>
          <a:custGeom>
            <a:avLst/>
            <a:gdLst/>
            <a:ahLst/>
            <a:cxnLst/>
            <a:rect l="l" t="t" r="r" b="b"/>
            <a:pathLst>
              <a:path w="1492606" h="1688150" extrusionOk="0">
                <a:moveTo>
                  <a:pt x="0" y="0"/>
                </a:moveTo>
                <a:lnTo>
                  <a:pt x="1492605" y="0"/>
                </a:lnTo>
                <a:lnTo>
                  <a:pt x="1492605" y="1688149"/>
                </a:lnTo>
                <a:lnTo>
                  <a:pt x="0" y="168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" name="Google Shape;87;p13"/>
          <p:cNvSpPr/>
          <p:nvPr userDrawn="1"/>
        </p:nvSpPr>
        <p:spPr>
          <a:xfrm>
            <a:off x="11059843" y="6031015"/>
            <a:ext cx="1133572" cy="828018"/>
          </a:xfrm>
          <a:custGeom>
            <a:avLst/>
            <a:gdLst/>
            <a:ahLst/>
            <a:cxnLst/>
            <a:rect l="l" t="t" r="r" b="b"/>
            <a:pathLst>
              <a:path w="1698235" h="1240477" extrusionOk="0">
                <a:moveTo>
                  <a:pt x="0" y="0"/>
                </a:moveTo>
                <a:lnTo>
                  <a:pt x="1698235" y="0"/>
                </a:lnTo>
                <a:lnTo>
                  <a:pt x="1698235" y="1240477"/>
                </a:lnTo>
                <a:lnTo>
                  <a:pt x="0" y="1240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9744" t="-34435" r="-17366" b="-26455"/>
            </a:stretch>
          </a:blipFill>
          <a:ln>
            <a:noFill/>
          </a:ln>
        </p:spPr>
      </p:sp>
      <p:sp>
        <p:nvSpPr>
          <p:cNvPr id="10" name="Google Shape;88;p13"/>
          <p:cNvSpPr/>
          <p:nvPr userDrawn="1"/>
        </p:nvSpPr>
        <p:spPr>
          <a:xfrm>
            <a:off x="9350027" y="6031015"/>
            <a:ext cx="1711957" cy="786084"/>
          </a:xfrm>
          <a:custGeom>
            <a:avLst/>
            <a:gdLst/>
            <a:ahLst/>
            <a:cxnLst/>
            <a:rect l="l" t="t" r="r" b="b"/>
            <a:pathLst>
              <a:path w="2568349" h="1196141" extrusionOk="0">
                <a:moveTo>
                  <a:pt x="0" y="0"/>
                </a:moveTo>
                <a:lnTo>
                  <a:pt x="2568349" y="0"/>
                </a:lnTo>
                <a:lnTo>
                  <a:pt x="2568349" y="1196141"/>
                </a:lnTo>
                <a:lnTo>
                  <a:pt x="0" y="11961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" name="Google Shape;89;p13"/>
          <p:cNvSpPr/>
          <p:nvPr userDrawn="1"/>
        </p:nvSpPr>
        <p:spPr>
          <a:xfrm>
            <a:off x="7414987" y="6248504"/>
            <a:ext cx="1821377" cy="466332"/>
          </a:xfrm>
          <a:custGeom>
            <a:avLst/>
            <a:gdLst/>
            <a:ahLst/>
            <a:cxnLst/>
            <a:rect l="l" t="t" r="r" b="b"/>
            <a:pathLst>
              <a:path w="2898936" h="652467" extrusionOk="0">
                <a:moveTo>
                  <a:pt x="0" y="0"/>
                </a:moveTo>
                <a:lnTo>
                  <a:pt x="2898936" y="0"/>
                </a:lnTo>
                <a:lnTo>
                  <a:pt x="2898936" y="652468"/>
                </a:lnTo>
                <a:lnTo>
                  <a:pt x="0" y="652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" name="Google Shape;90;p13"/>
          <p:cNvSpPr/>
          <p:nvPr userDrawn="1"/>
        </p:nvSpPr>
        <p:spPr>
          <a:xfrm>
            <a:off x="5107932" y="6066184"/>
            <a:ext cx="1043486" cy="750916"/>
          </a:xfrm>
          <a:custGeom>
            <a:avLst/>
            <a:gdLst/>
            <a:ahLst/>
            <a:cxnLst/>
            <a:rect l="l" t="t" r="r" b="b"/>
            <a:pathLst>
              <a:path w="1761235" h="1198746" extrusionOk="0">
                <a:moveTo>
                  <a:pt x="0" y="0"/>
                </a:moveTo>
                <a:lnTo>
                  <a:pt x="1761235" y="0"/>
                </a:lnTo>
                <a:lnTo>
                  <a:pt x="1761235" y="1198746"/>
                </a:lnTo>
                <a:lnTo>
                  <a:pt x="0" y="11987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" name="Google Shape;91;p13"/>
          <p:cNvSpPr/>
          <p:nvPr userDrawn="1"/>
        </p:nvSpPr>
        <p:spPr>
          <a:xfrm>
            <a:off x="6344908" y="5970904"/>
            <a:ext cx="985663" cy="887096"/>
          </a:xfrm>
          <a:custGeom>
            <a:avLst/>
            <a:gdLst/>
            <a:ahLst/>
            <a:cxnLst/>
            <a:rect l="l" t="t" r="r" b="b"/>
            <a:pathLst>
              <a:path w="1476648" h="1328983" extrusionOk="0">
                <a:moveTo>
                  <a:pt x="0" y="0"/>
                </a:moveTo>
                <a:lnTo>
                  <a:pt x="1476648" y="0"/>
                </a:lnTo>
                <a:lnTo>
                  <a:pt x="1476648" y="1328983"/>
                </a:lnTo>
                <a:lnTo>
                  <a:pt x="0" y="13289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" name="Google Shape;92;p13"/>
          <p:cNvSpPr txBox="1"/>
          <p:nvPr userDrawn="1"/>
        </p:nvSpPr>
        <p:spPr>
          <a:xfrm>
            <a:off x="1382064" y="5665002"/>
            <a:ext cx="1005290" cy="273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9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Realizadores</a:t>
            </a:r>
            <a:endParaRPr sz="933" dirty="0"/>
          </a:p>
        </p:txBody>
      </p:sp>
      <p:sp>
        <p:nvSpPr>
          <p:cNvPr id="15" name="Google Shape;93;p13"/>
          <p:cNvSpPr txBox="1"/>
          <p:nvPr userDrawn="1"/>
        </p:nvSpPr>
        <p:spPr>
          <a:xfrm>
            <a:off x="7826162" y="5653075"/>
            <a:ext cx="1242000" cy="1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9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Apoiadores</a:t>
            </a:r>
            <a:endParaRPr sz="933" dirty="0"/>
          </a:p>
        </p:txBody>
      </p:sp>
      <p:sp>
        <p:nvSpPr>
          <p:cNvPr id="21" name="Google Shape;101;p14"/>
          <p:cNvSpPr/>
          <p:nvPr userDrawn="1"/>
        </p:nvSpPr>
        <p:spPr>
          <a:xfrm>
            <a:off x="2340312" y="6058836"/>
            <a:ext cx="1209176" cy="758263"/>
          </a:xfrm>
          <a:custGeom>
            <a:avLst/>
            <a:gdLst/>
            <a:ahLst/>
            <a:cxnLst/>
            <a:rect l="l" t="t" r="r" b="b"/>
            <a:pathLst>
              <a:path w="2065472" h="1297023" extrusionOk="0">
                <a:moveTo>
                  <a:pt x="0" y="0"/>
                </a:moveTo>
                <a:lnTo>
                  <a:pt x="2065472" y="0"/>
                </a:lnTo>
                <a:lnTo>
                  <a:pt x="2065472" y="1297023"/>
                </a:lnTo>
                <a:lnTo>
                  <a:pt x="0" y="1297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2933"/>
            </a:lvl1pPr>
            <a:lvl2pPr lvl="1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04800" y="1066800"/>
            <a:ext cx="5486400" cy="30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marL="457200" lvl="0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2133"/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867"/>
            </a:lvl2pPr>
            <a:lvl3pPr marL="1371600" lvl="2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60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333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333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333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333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333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333"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/>
            </a:lvl1pPr>
            <a:lvl2pPr marL="0" lvl="1" indent="0" algn="r">
              <a:spcBef>
                <a:spcPts val="0"/>
              </a:spcBef>
              <a:buNone/>
              <a:defRPr sz="800"/>
            </a:lvl2pPr>
            <a:lvl3pPr marL="0" lvl="2" indent="0" algn="r">
              <a:spcBef>
                <a:spcPts val="0"/>
              </a:spcBef>
              <a:buNone/>
              <a:defRPr sz="800"/>
            </a:lvl3pPr>
            <a:lvl4pPr marL="0" lvl="3" indent="0" algn="r">
              <a:spcBef>
                <a:spcPts val="0"/>
              </a:spcBef>
              <a:buNone/>
              <a:defRPr sz="800"/>
            </a:lvl4pPr>
            <a:lvl5pPr marL="0" lvl="4" indent="0" algn="r">
              <a:spcBef>
                <a:spcPts val="0"/>
              </a:spcBef>
              <a:buNone/>
              <a:defRPr sz="800"/>
            </a:lvl5pPr>
            <a:lvl6pPr marL="0" lvl="5" indent="0" algn="r">
              <a:spcBef>
                <a:spcPts val="0"/>
              </a:spcBef>
              <a:buNone/>
              <a:defRPr sz="800"/>
            </a:lvl6pPr>
            <a:lvl7pPr marL="0" lvl="6" indent="0" algn="r">
              <a:spcBef>
                <a:spcPts val="0"/>
              </a:spcBef>
              <a:buNone/>
              <a:defRPr sz="800"/>
            </a:lvl7pPr>
            <a:lvl8pPr marL="0" lvl="7" indent="0" algn="r">
              <a:spcBef>
                <a:spcPts val="0"/>
              </a:spcBef>
              <a:buNone/>
              <a:defRPr sz="800"/>
            </a:lvl8pPr>
            <a:lvl9pPr marL="0" lvl="8" indent="0" algn="r">
              <a:spcBef>
                <a:spcPts val="0"/>
              </a:spcBef>
              <a:buNone/>
              <a:defRPr sz="8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481542" y="2937933"/>
            <a:ext cx="51816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sz="2667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481542" y="1937809"/>
            <a:ext cx="5181600" cy="10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b" anchorCtr="0">
            <a:normAutofit/>
          </a:bodyPr>
          <a:lstStyle>
            <a:lvl1pPr marL="457200" lvl="0" indent="-228600" algn="l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 sz="1333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13"/>
              </a:spcBef>
              <a:spcAft>
                <a:spcPts val="0"/>
              </a:spcAft>
              <a:buClr>
                <a:srgbClr val="888888"/>
              </a:buClr>
              <a:buSzPts val="1067"/>
              <a:buNone/>
              <a:defRPr sz="1067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933"/>
              <a:buNone/>
              <a:defRPr sz="933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933"/>
              <a:buNone/>
              <a:defRPr sz="933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933"/>
              <a:buNone/>
              <a:defRPr sz="933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933"/>
              <a:buNone/>
              <a:defRPr sz="933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933"/>
              <a:buNone/>
              <a:defRPr sz="933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933"/>
              <a:buNone/>
              <a:defRPr sz="933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/>
            </a:lvl1pPr>
            <a:lvl2pPr marL="0" lvl="1" indent="0" algn="r">
              <a:spcBef>
                <a:spcPts val="0"/>
              </a:spcBef>
              <a:buNone/>
              <a:defRPr sz="800"/>
            </a:lvl2pPr>
            <a:lvl3pPr marL="0" lvl="2" indent="0" algn="r">
              <a:spcBef>
                <a:spcPts val="0"/>
              </a:spcBef>
              <a:buNone/>
              <a:defRPr sz="800"/>
            </a:lvl3pPr>
            <a:lvl4pPr marL="0" lvl="3" indent="0" algn="r">
              <a:spcBef>
                <a:spcPts val="0"/>
              </a:spcBef>
              <a:buNone/>
              <a:defRPr sz="800"/>
            </a:lvl4pPr>
            <a:lvl5pPr marL="0" lvl="4" indent="0" algn="r">
              <a:spcBef>
                <a:spcPts val="0"/>
              </a:spcBef>
              <a:buNone/>
              <a:defRPr sz="800"/>
            </a:lvl5pPr>
            <a:lvl6pPr marL="0" lvl="5" indent="0" algn="r">
              <a:spcBef>
                <a:spcPts val="0"/>
              </a:spcBef>
              <a:buNone/>
              <a:defRPr sz="800"/>
            </a:lvl6pPr>
            <a:lvl7pPr marL="0" lvl="6" indent="0" algn="r">
              <a:spcBef>
                <a:spcPts val="0"/>
              </a:spcBef>
              <a:buNone/>
              <a:defRPr sz="800"/>
            </a:lvl7pPr>
            <a:lvl8pPr marL="0" lvl="7" indent="0" algn="r">
              <a:spcBef>
                <a:spcPts val="0"/>
              </a:spcBef>
              <a:buNone/>
              <a:defRPr sz="800"/>
            </a:lvl8pPr>
            <a:lvl9pPr marL="0" lvl="8" indent="0" algn="r">
              <a:spcBef>
                <a:spcPts val="0"/>
              </a:spcBef>
              <a:buNone/>
              <a:defRPr sz="8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2933"/>
            </a:lvl1pPr>
            <a:lvl2pPr lvl="1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304800" y="1066800"/>
            <a:ext cx="2692500" cy="30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marL="457200" lvl="0" indent="-347134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Char char="•"/>
              <a:defRPr sz="1867"/>
            </a:lvl1pPr>
            <a:lvl2pPr marL="914400" lvl="1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marL="1371600" lvl="2" indent="-313266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3098800" y="1066800"/>
            <a:ext cx="2692500" cy="30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marL="457200" lvl="0" indent="-347134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Char char="•"/>
              <a:defRPr sz="1867"/>
            </a:lvl1pPr>
            <a:lvl2pPr marL="914400" lvl="1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marL="1371600" lvl="2" indent="-313266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/>
            </a:lvl1pPr>
            <a:lvl2pPr marL="0" lvl="1" indent="0" algn="r">
              <a:spcBef>
                <a:spcPts val="0"/>
              </a:spcBef>
              <a:buNone/>
              <a:defRPr sz="800"/>
            </a:lvl2pPr>
            <a:lvl3pPr marL="0" lvl="2" indent="0" algn="r">
              <a:spcBef>
                <a:spcPts val="0"/>
              </a:spcBef>
              <a:buNone/>
              <a:defRPr sz="800"/>
            </a:lvl3pPr>
            <a:lvl4pPr marL="0" lvl="3" indent="0" algn="r">
              <a:spcBef>
                <a:spcPts val="0"/>
              </a:spcBef>
              <a:buNone/>
              <a:defRPr sz="800"/>
            </a:lvl4pPr>
            <a:lvl5pPr marL="0" lvl="4" indent="0" algn="r">
              <a:spcBef>
                <a:spcPts val="0"/>
              </a:spcBef>
              <a:buNone/>
              <a:defRPr sz="800"/>
            </a:lvl5pPr>
            <a:lvl6pPr marL="0" lvl="5" indent="0" algn="r">
              <a:spcBef>
                <a:spcPts val="0"/>
              </a:spcBef>
              <a:buNone/>
              <a:defRPr sz="800"/>
            </a:lvl6pPr>
            <a:lvl7pPr marL="0" lvl="6" indent="0" algn="r">
              <a:spcBef>
                <a:spcPts val="0"/>
              </a:spcBef>
              <a:buNone/>
              <a:defRPr sz="800"/>
            </a:lvl7pPr>
            <a:lvl8pPr marL="0" lvl="7" indent="0" algn="r">
              <a:spcBef>
                <a:spcPts val="0"/>
              </a:spcBef>
              <a:buNone/>
              <a:defRPr sz="800"/>
            </a:lvl8pPr>
            <a:lvl9pPr marL="0" lvl="8" indent="0" algn="r">
              <a:spcBef>
                <a:spcPts val="0"/>
              </a:spcBef>
              <a:buNone/>
              <a:defRPr sz="8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33"/>
              <a:buFont typeface="Calibri"/>
              <a:buNone/>
              <a:defRPr sz="2933"/>
            </a:lvl1pPr>
            <a:lvl2pPr lvl="1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304800" y="1023409"/>
            <a:ext cx="2693400" cy="4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b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1pPr>
            <a:lvl2pPr marL="914400" lvl="1" indent="-228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 b="1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3pPr>
            <a:lvl4pPr marL="1828800" lvl="3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4pPr>
            <a:lvl5pPr marL="2286000" lvl="4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5pPr>
            <a:lvl6pPr marL="2743200" lvl="5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6pPr>
            <a:lvl7pPr marL="3200400" lvl="6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7pPr>
            <a:lvl8pPr marL="3657600" lvl="7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8pPr>
            <a:lvl9pPr marL="4114800" lvl="8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304800" y="1449917"/>
            <a:ext cx="2693400" cy="26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marL="457200" lvl="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3266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–"/>
              <a:defRPr sz="1333"/>
            </a:lvl2pPr>
            <a:lvl3pPr marL="1371600" lvl="2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633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–"/>
              <a:defRPr sz="1067"/>
            </a:lvl4pPr>
            <a:lvl5pPr marL="2286000" lvl="4" indent="-29633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»"/>
              <a:defRPr sz="1067"/>
            </a:lvl5pPr>
            <a:lvl6pPr marL="2743200" lvl="5" indent="-29633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6pPr>
            <a:lvl7pPr marL="3200400" lvl="6" indent="-29633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7pPr>
            <a:lvl8pPr marL="3657600" lvl="7" indent="-29633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8pPr>
            <a:lvl9pPr marL="4114800" lvl="8" indent="-29633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3096683" y="1023409"/>
            <a:ext cx="2694600" cy="4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b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1pPr>
            <a:lvl2pPr marL="914400" lvl="1" indent="-228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 b="1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3pPr>
            <a:lvl4pPr marL="1828800" lvl="3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4pPr>
            <a:lvl5pPr marL="2286000" lvl="4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5pPr>
            <a:lvl6pPr marL="2743200" lvl="5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6pPr>
            <a:lvl7pPr marL="3200400" lvl="6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7pPr>
            <a:lvl8pPr marL="3657600" lvl="7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8pPr>
            <a:lvl9pPr marL="4114800" lvl="8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3096683" y="1449917"/>
            <a:ext cx="2694600" cy="26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marL="457200" lvl="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3266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–"/>
              <a:defRPr sz="1333"/>
            </a:lvl2pPr>
            <a:lvl3pPr marL="1371600" lvl="2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633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–"/>
              <a:defRPr sz="1067"/>
            </a:lvl4pPr>
            <a:lvl5pPr marL="2286000" lvl="4" indent="-29633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»"/>
              <a:defRPr sz="1067"/>
            </a:lvl5pPr>
            <a:lvl6pPr marL="2743200" lvl="5" indent="-29633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6pPr>
            <a:lvl7pPr marL="3200400" lvl="6" indent="-29633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7pPr>
            <a:lvl8pPr marL="3657600" lvl="7" indent="-29633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8pPr>
            <a:lvl9pPr marL="4114800" lvl="8" indent="-29633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/>
            </a:lvl1pPr>
            <a:lvl2pPr marL="0" lvl="1" indent="0" algn="r">
              <a:spcBef>
                <a:spcPts val="0"/>
              </a:spcBef>
              <a:buNone/>
              <a:defRPr sz="800"/>
            </a:lvl2pPr>
            <a:lvl3pPr marL="0" lvl="2" indent="0" algn="r">
              <a:spcBef>
                <a:spcPts val="0"/>
              </a:spcBef>
              <a:buNone/>
              <a:defRPr sz="800"/>
            </a:lvl3pPr>
            <a:lvl4pPr marL="0" lvl="3" indent="0" algn="r">
              <a:spcBef>
                <a:spcPts val="0"/>
              </a:spcBef>
              <a:buNone/>
              <a:defRPr sz="800"/>
            </a:lvl4pPr>
            <a:lvl5pPr marL="0" lvl="4" indent="0" algn="r">
              <a:spcBef>
                <a:spcPts val="0"/>
              </a:spcBef>
              <a:buNone/>
              <a:defRPr sz="800"/>
            </a:lvl5pPr>
            <a:lvl6pPr marL="0" lvl="5" indent="0" algn="r">
              <a:spcBef>
                <a:spcPts val="0"/>
              </a:spcBef>
              <a:buNone/>
              <a:defRPr sz="800"/>
            </a:lvl6pPr>
            <a:lvl7pPr marL="0" lvl="6" indent="0" algn="r">
              <a:spcBef>
                <a:spcPts val="0"/>
              </a:spcBef>
              <a:buNone/>
              <a:defRPr sz="800"/>
            </a:lvl7pPr>
            <a:lvl8pPr marL="0" lvl="7" indent="0" algn="r">
              <a:spcBef>
                <a:spcPts val="0"/>
              </a:spcBef>
              <a:buNone/>
              <a:defRPr sz="800"/>
            </a:lvl8pPr>
            <a:lvl9pPr marL="0" lvl="8" indent="0" algn="r">
              <a:spcBef>
                <a:spcPts val="0"/>
              </a:spcBef>
              <a:buNone/>
              <a:defRPr sz="8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2933"/>
            </a:lvl1pPr>
            <a:lvl2pPr lvl="1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/>
            </a:lvl1pPr>
            <a:lvl2pPr marL="0" lvl="1" indent="0" algn="r">
              <a:spcBef>
                <a:spcPts val="0"/>
              </a:spcBef>
              <a:buNone/>
              <a:defRPr sz="800"/>
            </a:lvl2pPr>
            <a:lvl3pPr marL="0" lvl="2" indent="0" algn="r">
              <a:spcBef>
                <a:spcPts val="0"/>
              </a:spcBef>
              <a:buNone/>
              <a:defRPr sz="800"/>
            </a:lvl3pPr>
            <a:lvl4pPr marL="0" lvl="3" indent="0" algn="r">
              <a:spcBef>
                <a:spcPts val="0"/>
              </a:spcBef>
              <a:buNone/>
              <a:defRPr sz="800"/>
            </a:lvl4pPr>
            <a:lvl5pPr marL="0" lvl="4" indent="0" algn="r">
              <a:spcBef>
                <a:spcPts val="0"/>
              </a:spcBef>
              <a:buNone/>
              <a:defRPr sz="800"/>
            </a:lvl5pPr>
            <a:lvl6pPr marL="0" lvl="5" indent="0" algn="r">
              <a:spcBef>
                <a:spcPts val="0"/>
              </a:spcBef>
              <a:buNone/>
              <a:defRPr sz="800"/>
            </a:lvl6pPr>
            <a:lvl7pPr marL="0" lvl="6" indent="0" algn="r">
              <a:spcBef>
                <a:spcPts val="0"/>
              </a:spcBef>
              <a:buNone/>
              <a:defRPr sz="800"/>
            </a:lvl7pPr>
            <a:lvl8pPr marL="0" lvl="7" indent="0" algn="r">
              <a:spcBef>
                <a:spcPts val="0"/>
              </a:spcBef>
              <a:buNone/>
              <a:defRPr sz="800"/>
            </a:lvl8pPr>
            <a:lvl9pPr marL="0" lvl="8" indent="0" algn="r">
              <a:spcBef>
                <a:spcPts val="0"/>
              </a:spcBef>
              <a:buNone/>
              <a:defRPr sz="8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304800" y="182033"/>
            <a:ext cx="2005500" cy="7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Calibri"/>
              <a:buNone/>
              <a:defRPr sz="1333" b="1"/>
            </a:lvl1pPr>
            <a:lvl2pPr lvl="1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2383367" y="182033"/>
            <a:ext cx="3407700" cy="39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marL="457200" lvl="0" indent="-364066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1pPr>
            <a:lvl2pPr marL="914400" lvl="1" indent="-347134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Char char="–"/>
              <a:defRPr sz="1867"/>
            </a:lvl2pPr>
            <a:lvl3pPr marL="1371600" lvl="2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3266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–"/>
              <a:defRPr sz="1333"/>
            </a:lvl4pPr>
            <a:lvl5pPr marL="2286000" lvl="4" indent="-313267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»"/>
              <a:defRPr sz="1333"/>
            </a:lvl5pPr>
            <a:lvl6pPr marL="2743200" lvl="5" indent="-313267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/>
            </a:lvl6pPr>
            <a:lvl7pPr marL="3200400" lvl="6" indent="-313267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/>
            </a:lvl7pPr>
            <a:lvl8pPr marL="3657600" lvl="7" indent="-313267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/>
            </a:lvl8pPr>
            <a:lvl9pPr marL="4114800" lvl="8" indent="-313267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304800" y="956733"/>
            <a:ext cx="2005500" cy="3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marL="457200" lvl="0" indent="-228600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933"/>
              <a:buNone/>
              <a:defRPr sz="933"/>
            </a:lvl1pPr>
            <a:lvl2pPr marL="914400" lvl="1" indent="-2286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marL="1371600" lvl="2" indent="-228600" algn="l"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667"/>
              <a:buNone/>
              <a:defRPr sz="667"/>
            </a:lvl3pPr>
            <a:lvl4pPr marL="1828800" lvl="3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4pPr>
            <a:lvl5pPr marL="2286000" lvl="4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5pPr>
            <a:lvl6pPr marL="2743200" lvl="5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6pPr>
            <a:lvl7pPr marL="3200400" lvl="6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7pPr>
            <a:lvl8pPr marL="3657600" lvl="7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8pPr>
            <a:lvl9pPr marL="4114800" lvl="8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/>
            </a:lvl1pPr>
            <a:lvl2pPr marL="0" lvl="1" indent="0" algn="r">
              <a:spcBef>
                <a:spcPts val="0"/>
              </a:spcBef>
              <a:buNone/>
              <a:defRPr sz="800"/>
            </a:lvl2pPr>
            <a:lvl3pPr marL="0" lvl="2" indent="0" algn="r">
              <a:spcBef>
                <a:spcPts val="0"/>
              </a:spcBef>
              <a:buNone/>
              <a:defRPr sz="800"/>
            </a:lvl3pPr>
            <a:lvl4pPr marL="0" lvl="3" indent="0" algn="r">
              <a:spcBef>
                <a:spcPts val="0"/>
              </a:spcBef>
              <a:buNone/>
              <a:defRPr sz="800"/>
            </a:lvl4pPr>
            <a:lvl5pPr marL="0" lvl="4" indent="0" algn="r">
              <a:spcBef>
                <a:spcPts val="0"/>
              </a:spcBef>
              <a:buNone/>
              <a:defRPr sz="800"/>
            </a:lvl5pPr>
            <a:lvl6pPr marL="0" lvl="5" indent="0" algn="r">
              <a:spcBef>
                <a:spcPts val="0"/>
              </a:spcBef>
              <a:buNone/>
              <a:defRPr sz="800"/>
            </a:lvl6pPr>
            <a:lvl7pPr marL="0" lvl="6" indent="0" algn="r">
              <a:spcBef>
                <a:spcPts val="0"/>
              </a:spcBef>
              <a:buNone/>
              <a:defRPr sz="800"/>
            </a:lvl7pPr>
            <a:lvl8pPr marL="0" lvl="7" indent="0" algn="r">
              <a:spcBef>
                <a:spcPts val="0"/>
              </a:spcBef>
              <a:buNone/>
              <a:defRPr sz="800"/>
            </a:lvl8pPr>
            <a:lvl9pPr marL="0" lvl="8" indent="0" algn="r">
              <a:spcBef>
                <a:spcPts val="0"/>
              </a:spcBef>
              <a:buNone/>
              <a:defRPr sz="8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194859" y="3200400"/>
            <a:ext cx="3657600" cy="3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Calibri"/>
              <a:buNone/>
              <a:defRPr sz="1333" b="1"/>
            </a:lvl1pPr>
            <a:lvl2pPr lvl="1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194859" y="408517"/>
            <a:ext cx="3657600" cy="27432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194859" y="3578225"/>
            <a:ext cx="36576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marL="457200" lvl="0" indent="-228600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933"/>
              <a:buNone/>
              <a:defRPr sz="933"/>
            </a:lvl1pPr>
            <a:lvl2pPr marL="914400" lvl="1" indent="-2286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marL="1371600" lvl="2" indent="-228600" algn="l"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667"/>
              <a:buNone/>
              <a:defRPr sz="667"/>
            </a:lvl3pPr>
            <a:lvl4pPr marL="1828800" lvl="3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4pPr>
            <a:lvl5pPr marL="2286000" lvl="4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5pPr>
            <a:lvl6pPr marL="2743200" lvl="5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6pPr>
            <a:lvl7pPr marL="3200400" lvl="6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7pPr>
            <a:lvl8pPr marL="3657600" lvl="7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8pPr>
            <a:lvl9pPr marL="4114800" lvl="8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/>
            </a:lvl1pPr>
            <a:lvl2pPr marL="0" lvl="1" indent="0" algn="r">
              <a:spcBef>
                <a:spcPts val="0"/>
              </a:spcBef>
              <a:buNone/>
              <a:defRPr sz="800"/>
            </a:lvl2pPr>
            <a:lvl3pPr marL="0" lvl="2" indent="0" algn="r">
              <a:spcBef>
                <a:spcPts val="0"/>
              </a:spcBef>
              <a:buNone/>
              <a:defRPr sz="800"/>
            </a:lvl3pPr>
            <a:lvl4pPr marL="0" lvl="3" indent="0" algn="r">
              <a:spcBef>
                <a:spcPts val="0"/>
              </a:spcBef>
              <a:buNone/>
              <a:defRPr sz="800"/>
            </a:lvl4pPr>
            <a:lvl5pPr marL="0" lvl="4" indent="0" algn="r">
              <a:spcBef>
                <a:spcPts val="0"/>
              </a:spcBef>
              <a:buNone/>
              <a:defRPr sz="800"/>
            </a:lvl5pPr>
            <a:lvl6pPr marL="0" lvl="5" indent="0" algn="r">
              <a:spcBef>
                <a:spcPts val="0"/>
              </a:spcBef>
              <a:buNone/>
              <a:defRPr sz="800"/>
            </a:lvl6pPr>
            <a:lvl7pPr marL="0" lvl="6" indent="0" algn="r">
              <a:spcBef>
                <a:spcPts val="0"/>
              </a:spcBef>
              <a:buNone/>
              <a:defRPr sz="800"/>
            </a:lvl7pPr>
            <a:lvl8pPr marL="0" lvl="7" indent="0" algn="r">
              <a:spcBef>
                <a:spcPts val="0"/>
              </a:spcBef>
              <a:buNone/>
              <a:defRPr sz="800"/>
            </a:lvl8pPr>
            <a:lvl9pPr marL="0" lvl="8" indent="0" algn="r">
              <a:spcBef>
                <a:spcPts val="0"/>
              </a:spcBef>
              <a:buNone/>
              <a:defRPr sz="8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2933"/>
            </a:lvl1pPr>
            <a:lvl2pPr lvl="1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1539300" y="-167700"/>
            <a:ext cx="3017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marL="457200" lvl="0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2133"/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867"/>
            </a:lvl2pPr>
            <a:lvl3pPr marL="1371600" lvl="2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60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333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333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333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333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333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333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/>
            </a:lvl1pPr>
            <a:lvl2pPr marL="0" lvl="1" indent="0" algn="r">
              <a:spcBef>
                <a:spcPts val="0"/>
              </a:spcBef>
              <a:buNone/>
              <a:defRPr sz="800"/>
            </a:lvl2pPr>
            <a:lvl3pPr marL="0" lvl="2" indent="0" algn="r">
              <a:spcBef>
                <a:spcPts val="0"/>
              </a:spcBef>
              <a:buNone/>
              <a:defRPr sz="800"/>
            </a:lvl3pPr>
            <a:lvl4pPr marL="0" lvl="3" indent="0" algn="r">
              <a:spcBef>
                <a:spcPts val="0"/>
              </a:spcBef>
              <a:buNone/>
              <a:defRPr sz="800"/>
            </a:lvl4pPr>
            <a:lvl5pPr marL="0" lvl="4" indent="0" algn="r">
              <a:spcBef>
                <a:spcPts val="0"/>
              </a:spcBef>
              <a:buNone/>
              <a:defRPr sz="800"/>
            </a:lvl5pPr>
            <a:lvl6pPr marL="0" lvl="5" indent="0" algn="r">
              <a:spcBef>
                <a:spcPts val="0"/>
              </a:spcBef>
              <a:buNone/>
              <a:defRPr sz="800"/>
            </a:lvl6pPr>
            <a:lvl7pPr marL="0" lvl="6" indent="0" algn="r">
              <a:spcBef>
                <a:spcPts val="0"/>
              </a:spcBef>
              <a:buNone/>
              <a:defRPr sz="800"/>
            </a:lvl7pPr>
            <a:lvl8pPr marL="0" lvl="7" indent="0" algn="r">
              <a:spcBef>
                <a:spcPts val="0"/>
              </a:spcBef>
              <a:buNone/>
              <a:defRPr sz="800"/>
            </a:lvl8pPr>
            <a:lvl9pPr marL="0" lvl="8" indent="0" algn="r">
              <a:spcBef>
                <a:spcPts val="0"/>
              </a:spcBef>
              <a:buNone/>
              <a:defRPr sz="8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3154950" y="1447742"/>
            <a:ext cx="39009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2933"/>
            </a:lvl1pPr>
            <a:lvl2pPr lvl="1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361000" y="126992"/>
            <a:ext cx="3900900" cy="40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marL="457200" lvl="0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2133"/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867"/>
            </a:lvl2pPr>
            <a:lvl3pPr marL="1371600" lvl="2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60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333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333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333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333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333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333"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/>
            </a:lvl1pPr>
            <a:lvl2pPr marL="0" lvl="1" indent="0" algn="r">
              <a:spcBef>
                <a:spcPts val="0"/>
              </a:spcBef>
              <a:buNone/>
              <a:defRPr sz="800"/>
            </a:lvl2pPr>
            <a:lvl3pPr marL="0" lvl="2" indent="0" algn="r">
              <a:spcBef>
                <a:spcPts val="0"/>
              </a:spcBef>
              <a:buNone/>
              <a:defRPr sz="800"/>
            </a:lvl3pPr>
            <a:lvl4pPr marL="0" lvl="3" indent="0" algn="r">
              <a:spcBef>
                <a:spcPts val="0"/>
              </a:spcBef>
              <a:buNone/>
              <a:defRPr sz="800"/>
            </a:lvl4pPr>
            <a:lvl5pPr marL="0" lvl="4" indent="0" algn="r">
              <a:spcBef>
                <a:spcPts val="0"/>
              </a:spcBef>
              <a:buNone/>
              <a:defRPr sz="800"/>
            </a:lvl5pPr>
            <a:lvl6pPr marL="0" lvl="5" indent="0" algn="r">
              <a:spcBef>
                <a:spcPts val="0"/>
              </a:spcBef>
              <a:buNone/>
              <a:defRPr sz="800"/>
            </a:lvl6pPr>
            <a:lvl7pPr marL="0" lvl="6" indent="0" algn="r">
              <a:spcBef>
                <a:spcPts val="0"/>
              </a:spcBef>
              <a:buNone/>
              <a:defRPr sz="800"/>
            </a:lvl7pPr>
            <a:lvl8pPr marL="0" lvl="7" indent="0" algn="r">
              <a:spcBef>
                <a:spcPts val="0"/>
              </a:spcBef>
              <a:buNone/>
              <a:defRPr sz="800"/>
            </a:lvl8pPr>
            <a:lvl9pPr marL="0" lvl="8" indent="0" algn="r">
              <a:spcBef>
                <a:spcPts val="0"/>
              </a:spcBef>
              <a:buNone/>
              <a:defRPr sz="8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33"/>
              <a:buFont typeface="Calibri"/>
              <a:buNone/>
              <a:defRPr sz="29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04800" y="1066800"/>
            <a:ext cx="5486400" cy="30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marL="457200" marR="0" lvl="0" indent="-364066" algn="l" rtl="0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•"/>
              <a:defRPr sz="21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7134" algn="l" rtl="0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Char char="–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3266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–"/>
              <a:defRPr sz="13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326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»"/>
              <a:defRPr sz="13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326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326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326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326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933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2.png"/></Relationships>
</file>

<file path=ppt/slides/_rels/slide4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Img1" Type="http://schemas.openxmlformats.org/officeDocument/2006/relationships/image" Target="../media/crm_swagger.png"/><Relationship Id="rIdImg2" Type="http://schemas.openxmlformats.org/officeDocument/2006/relationships/image" Target="../media/crm_cobertura.png"/></Relationships>
</file>

<file path=ppt/slides/_rels/slide7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g1" Type="http://schemas.openxmlformats.org/officeDocument/2006/relationships/image" Target="../media/crm_terminal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 txBox="1"/>
          <p:nvPr/>
        </p:nvSpPr>
        <p:spPr>
          <a:xfrm>
            <a:off x="1209209" y="1451427"/>
            <a:ext cx="9773581" cy="725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33" b="1" i="0" u="none" strike="noStrike" cap="none" dirty="0" err="1" smtClean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Simpósio</a:t>
            </a:r>
            <a:r>
              <a:rPr lang="en-US" sz="2033" b="1" i="0" u="none" strike="noStrike" cap="none" dirty="0" smtClean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33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de </a:t>
            </a:r>
            <a:r>
              <a:rPr lang="en-US" sz="2033" b="1" dirty="0" err="1" smtClean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Inovação</a:t>
            </a:r>
            <a:r>
              <a:rPr lang="en-US" sz="2033" b="1" dirty="0" smtClean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033" b="1" dirty="0" err="1" smtClean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Tecnologia</a:t>
            </a:r>
            <a:r>
              <a:rPr lang="en-US" sz="2033" b="1" dirty="0" smtClean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033" b="1" dirty="0" err="1" smtClean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Empreendedorismo</a:t>
            </a:r>
            <a:r>
              <a:rPr lang="en-US" sz="2033" b="1" dirty="0" smtClean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2033" b="1" dirty="0" err="1" smtClean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Ciências</a:t>
            </a:r>
            <a:r>
              <a:rPr lang="en-US" sz="2033" b="1" dirty="0" smtClean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33" b="1" dirty="0" err="1" smtClean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Computacionais</a:t>
            </a:r>
            <a:endParaRPr sz="1633" b="1" dirty="0"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33" b="0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179600" y="2433325"/>
            <a:ext cx="122868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Título: CRM de Atendimento e Orçamentos para pequenos negócios</a:t>
            </a:r>
            <a:endParaRPr sz="2400"/>
          </a:p>
          <a:p>
            <a:pPr marL="0" marR="0" lvl="0" indent="0" algn="ctr" rtl="0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Área Temática: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Projeto de Extensão</a:t>
            </a:r>
            <a:endParaRPr sz="2400"/>
          </a:p>
        </p:txBody>
      </p:sp>
      <p:sp>
        <p:nvSpPr>
          <p:cNvPr id="96" name="Google Shape;96;p13"/>
          <p:cNvSpPr txBox="1"/>
          <p:nvPr/>
        </p:nvSpPr>
        <p:spPr>
          <a:xfrm>
            <a:off x="1786801" y="3775300"/>
            <a:ext cx="86184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Autores</a:t>
            </a:r>
            <a:endParaRPr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Davi Ferreira Resende (Apresentador)</a:t>
            </a:r>
            <a:endParaRPr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Lázaro Eduardo da Silva (Orientador)</a:t>
            </a:r>
            <a:endParaRPr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Imagem 1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79" t="20314" r="19849" b="36665"/>
          <a:stretch/>
        </p:blipFill>
        <p:spPr bwMode="auto">
          <a:xfrm>
            <a:off x="4384002" y="31477"/>
            <a:ext cx="3423996" cy="138242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exto 201"/>
          <p:cNvSpPr txBox="1"/>
          <p:nvPr/>
        </p:nvSpPr>
        <p:spPr>
          <a:xfrm>
            <a:off x="457200" y="20116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b="1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OBJETIVO</a:t>
            </a:r>
            <a:endParaRPr lang="pt-BR" sz="4000" dirty="0"/>
          </a:p>
        </p:txBody>
      </p:sp>
      <p:sp>
        <p:nvSpPr>
          <p:cNvPr id="202" name="Texto 20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1" dirty="0">
                <a:solidFill>
                  <a:srgbClr val="2B7A99"/>
                </a:solidFill>
                <a:latin typeface="Calibri"/>
                <a:ea typeface="Calibri"/>
                <a:cs typeface="Calibri"/>
              </a:rPr>
              <a:t>Trocar o caderno e a planilha por um funil de orçamentos visível e rastreável</a:t>
            </a:r>
            <a:endParaRPr lang="pt-BR" sz="1800" dirty="0"/>
          </a:p>
        </p:txBody>
      </p:sp>
      <p:sp>
        <p:nvSpPr>
          <p:cNvPr id="203" name="Texto 203"/>
          <p:cNvSpPr txBox="1"/>
          <p:nvPr/>
        </p:nvSpPr>
        <p:spPr>
          <a:xfrm>
            <a:off x="457200" y="1417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Desenvolver um CRM enxuto para pequenos negócios que vendem por atendimento direto (WhatsApp, ligação, indicação), com as regras de negócio garantidas no próprio código do domínio, e não apenas na tela.</a:t>
            </a:r>
            <a:endParaRPr lang="pt-BR" sz="2000" dirty="0"/>
          </a:p>
        </p:txBody>
      </p:sp>
      <p:sp>
        <p:nvSpPr>
          <p:cNvPr id="204" name="Cartao 204"/>
          <p:cNvSpPr/>
          <p:nvPr/>
        </p:nvSpPr>
        <p:spPr>
          <a:xfrm>
            <a:off x="457200" y="2606040"/>
            <a:ext cx="3566160" cy="278892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</p:sp>
      <p:sp>
        <p:nvSpPr>
          <p:cNvPr id="205" name="Numero 205"/>
          <p:cNvSpPr/>
          <p:nvPr/>
        </p:nvSpPr>
        <p:spPr>
          <a:xfrm>
            <a:off x="685800" y="2834640"/>
            <a:ext cx="566928" cy="566928"/>
          </a:xfrm>
          <a:prstGeom prst="ellipse">
            <a:avLst/>
          </a:prstGeom>
          <a:solidFill>
            <a:srgbClr val="1F5596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lang="pt-BR" sz="2200" dirty="0"/>
          </a:p>
        </p:txBody>
      </p:sp>
      <p:sp>
        <p:nvSpPr>
          <p:cNvPr id="206" name="Texto 206"/>
          <p:cNvSpPr txBox="1"/>
          <p:nvPr/>
        </p:nvSpPr>
        <p:spPr>
          <a:xfrm>
            <a:off x="685800" y="3538728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 b="1" i="0" dirty="0">
                <a:solidFill>
                  <a:srgbClr val="1F5596"/>
                </a:solidFill>
                <a:latin typeface="Calibri"/>
                <a:ea typeface="Calibri"/>
                <a:cs typeface="Calibri"/>
              </a:rPr>
              <a:t>Organizar o funil</a:t>
            </a:r>
            <a:endParaRPr lang="pt-BR" sz="1900" dirty="0"/>
          </a:p>
        </p:txBody>
      </p:sp>
      <p:sp>
        <p:nvSpPr>
          <p:cNvPr id="207" name="Texto 207"/>
          <p:cNvSpPr txBox="1"/>
          <p:nvPr/>
        </p:nvSpPr>
        <p:spPr>
          <a:xfrm>
            <a:off x="685800" y="3977640"/>
            <a:ext cx="3108960" cy="1307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Cada orçamento passa por 5 estágios, de Novo Contato até Fechado ou Perdido, sem pular etapas.</a:t>
            </a:r>
            <a:endParaRPr lang="pt-BR" sz="1600" dirty="0"/>
          </a:p>
        </p:txBody>
      </p:sp>
      <p:sp>
        <p:nvSpPr>
          <p:cNvPr id="208" name="Cartao 208"/>
          <p:cNvSpPr/>
          <p:nvPr/>
        </p:nvSpPr>
        <p:spPr>
          <a:xfrm>
            <a:off x="4297680" y="2606040"/>
            <a:ext cx="3566160" cy="278892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</p:sp>
      <p:sp>
        <p:nvSpPr>
          <p:cNvPr id="209" name="Numero 209"/>
          <p:cNvSpPr/>
          <p:nvPr/>
        </p:nvSpPr>
        <p:spPr>
          <a:xfrm>
            <a:off x="4526280" y="2834640"/>
            <a:ext cx="566928" cy="566928"/>
          </a:xfrm>
          <a:prstGeom prst="ellipse">
            <a:avLst/>
          </a:prstGeom>
          <a:solidFill>
            <a:srgbClr val="2B7A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lang="pt-BR" sz="2200" dirty="0"/>
          </a:p>
        </p:txBody>
      </p:sp>
      <p:sp>
        <p:nvSpPr>
          <p:cNvPr id="210" name="Texto 210"/>
          <p:cNvSpPr txBox="1"/>
          <p:nvPr/>
        </p:nvSpPr>
        <p:spPr>
          <a:xfrm>
            <a:off x="4526280" y="3538728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 b="1" i="0" dirty="0">
                <a:solidFill>
                  <a:srgbClr val="1F5596"/>
                </a:solidFill>
                <a:latin typeface="Calibri"/>
                <a:ea typeface="Calibri"/>
                <a:cs typeface="Calibri"/>
              </a:rPr>
              <a:t>Guardar o histórico</a:t>
            </a:r>
            <a:endParaRPr lang="pt-BR" sz="1900" dirty="0"/>
          </a:p>
        </p:txBody>
      </p:sp>
      <p:sp>
        <p:nvSpPr>
          <p:cNvPr id="211" name="Texto 211"/>
          <p:cNvSpPr txBox="1"/>
          <p:nvPr/>
        </p:nvSpPr>
        <p:spPr>
          <a:xfrm>
            <a:off x="4526280" y="3977640"/>
            <a:ext cx="3108960" cy="1307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Mensagens, ligações e reuniões ficam registradas numa linha do tempo de cada cliente.</a:t>
            </a:r>
            <a:endParaRPr lang="pt-BR" sz="1600" dirty="0"/>
          </a:p>
        </p:txBody>
      </p:sp>
      <p:sp>
        <p:nvSpPr>
          <p:cNvPr id="212" name="Cartao 212"/>
          <p:cNvSpPr/>
          <p:nvPr/>
        </p:nvSpPr>
        <p:spPr>
          <a:xfrm>
            <a:off x="8138160" y="2606040"/>
            <a:ext cx="3566160" cy="278892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</p:sp>
      <p:sp>
        <p:nvSpPr>
          <p:cNvPr id="213" name="Numero 213"/>
          <p:cNvSpPr/>
          <p:nvPr/>
        </p:nvSpPr>
        <p:spPr>
          <a:xfrm>
            <a:off x="8366760" y="2834640"/>
            <a:ext cx="566928" cy="566928"/>
          </a:xfrm>
          <a:prstGeom prst="ellipse">
            <a:avLst/>
          </a:prstGeom>
          <a:solidFill>
            <a:srgbClr val="7B3F98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lang="pt-BR" sz="2200" dirty="0"/>
          </a:p>
        </p:txBody>
      </p:sp>
      <p:sp>
        <p:nvSpPr>
          <p:cNvPr id="214" name="Texto 214"/>
          <p:cNvSpPr txBox="1"/>
          <p:nvPr/>
        </p:nvSpPr>
        <p:spPr>
          <a:xfrm>
            <a:off x="8366760" y="3538728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 b="1" i="0" dirty="0">
                <a:solidFill>
                  <a:srgbClr val="1F5596"/>
                </a:solidFill>
                <a:latin typeface="Calibri"/>
                <a:ea typeface="Calibri"/>
                <a:cs typeface="Calibri"/>
              </a:rPr>
              <a:t>Medir a conversão</a:t>
            </a:r>
            <a:endParaRPr lang="pt-BR" sz="1900" dirty="0"/>
          </a:p>
        </p:txBody>
      </p:sp>
      <p:sp>
        <p:nvSpPr>
          <p:cNvPr id="215" name="Texto 215"/>
          <p:cNvSpPr txBox="1"/>
          <p:nvPr/>
        </p:nvSpPr>
        <p:spPr>
          <a:xfrm>
            <a:off x="8366760" y="3977640"/>
            <a:ext cx="3108960" cy="1307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 API calcula quantos orçamentos estão em aberto e a taxa de fechamento do negócio.</a:t>
            </a:r>
            <a:endParaRPr lang="pt-BR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exto 201"/>
          <p:cNvSpPr txBox="1"/>
          <p:nvPr/>
        </p:nvSpPr>
        <p:spPr>
          <a:xfrm>
            <a:off x="457200" y="20116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b="1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JUSTIFICATIVA</a:t>
            </a:r>
            <a:endParaRPr lang="pt-BR" sz="4000" dirty="0"/>
          </a:p>
        </p:txBody>
      </p:sp>
      <p:sp>
        <p:nvSpPr>
          <p:cNvPr id="202" name="Texto 20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1" dirty="0">
                <a:solidFill>
                  <a:srgbClr val="2B7A99"/>
                </a:solidFill>
                <a:latin typeface="Calibri"/>
                <a:ea typeface="Calibri"/>
                <a:cs typeface="Calibri"/>
              </a:rPr>
              <a:t>Público: pequenos negócios que vendem por contato direto, como uma empresa de embalagens</a:t>
            </a:r>
            <a:endParaRPr lang="pt-BR" sz="1800" dirty="0"/>
          </a:p>
        </p:txBody>
      </p:sp>
      <p:sp>
        <p:nvSpPr>
          <p:cNvPr id="203" name="Forma 203"/>
          <p:cNvSpPr/>
          <p:nvPr/>
        </p:nvSpPr>
        <p:spPr>
          <a:xfrm>
            <a:off x="457200" y="1417320"/>
            <a:ext cx="5303520" cy="3977640"/>
          </a:xfrm>
          <a:prstGeom prst="roundRect">
            <a:avLst>
              <a:gd name="adj" fmla="val 6000"/>
            </a:avLst>
          </a:prstGeom>
          <a:solidFill>
            <a:srgbClr val="FCE8EE"/>
          </a:solidFill>
          <a:ln>
            <a:noFill/>
          </a:ln>
        </p:spPr>
      </p:sp>
      <p:sp>
        <p:nvSpPr>
          <p:cNvPr id="204" name="Texto 204"/>
          <p:cNvSpPr txBox="1"/>
          <p:nvPr/>
        </p:nvSpPr>
        <p:spPr>
          <a:xfrm>
            <a:off x="731520" y="160020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i="0" dirty="0">
                <a:solidFill>
                  <a:srgbClr val="C2185B"/>
                </a:solidFill>
                <a:latin typeface="Calibri"/>
                <a:ea typeface="Calibri"/>
                <a:cs typeface="Calibri"/>
              </a:rPr>
              <a:t>Como é hoje</a:t>
            </a:r>
            <a:endParaRPr lang="pt-BR" sz="2200" dirty="0"/>
          </a:p>
        </p:txBody>
      </p:sp>
      <p:sp>
        <p:nvSpPr>
          <p:cNvPr id="205" name="Texto 205"/>
          <p:cNvSpPr txBox="1"/>
          <p:nvPr/>
        </p:nvSpPr>
        <p:spPr>
          <a:xfrm>
            <a:off x="731520" y="2148840"/>
            <a:ext cx="4846320" cy="3108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lang="pt-BR" sz="19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Orçamentos anotados em caderno, planilha ou conversa solta no WhatsApp</a:t>
            </a:r>
            <a:endParaRPr lang="pt-BR" sz="1900" dirty="0"/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lang="pt-BR" sz="19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Clientes esquecidos, sem retorno</a:t>
            </a:r>
            <a:endParaRPr lang="pt-BR" sz="1900" dirty="0"/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lang="pt-BR" sz="19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O dono não sabe quantos orçamentos fecha nem onde perde vendas</a:t>
            </a:r>
            <a:endParaRPr lang="pt-BR" sz="1900" dirty="0"/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lang="pt-BR" sz="19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CRMs comerciais são caros e complexos demais</a:t>
            </a:r>
            <a:endParaRPr lang="pt-BR" sz="1900" dirty="0"/>
          </a:p>
        </p:txBody>
      </p:sp>
      <p:sp>
        <p:nvSpPr>
          <p:cNvPr id="206" name="Seta 206"/>
          <p:cNvSpPr/>
          <p:nvPr/>
        </p:nvSpPr>
        <p:spPr>
          <a:xfrm>
            <a:off x="5897880" y="3063240"/>
            <a:ext cx="411480" cy="640080"/>
          </a:xfrm>
          <a:prstGeom prst="rightArrow">
            <a:avLst/>
          </a:prstGeom>
          <a:solidFill>
            <a:srgbClr val="1F5596"/>
          </a:solidFill>
          <a:ln>
            <a:noFill/>
          </a:ln>
        </p:spPr>
      </p:sp>
      <p:sp>
        <p:nvSpPr>
          <p:cNvPr id="207" name="Forma 207"/>
          <p:cNvSpPr/>
          <p:nvPr/>
        </p:nvSpPr>
        <p:spPr>
          <a:xfrm>
            <a:off x="6446520" y="1417320"/>
            <a:ext cx="5257800" cy="3977640"/>
          </a:xfrm>
          <a:prstGeom prst="roundRect">
            <a:avLst>
              <a:gd name="adj" fmla="val 6000"/>
            </a:avLst>
          </a:prstGeom>
          <a:solidFill>
            <a:srgbClr val="E3F1F5"/>
          </a:solidFill>
          <a:ln>
            <a:noFill/>
          </a:ln>
        </p:spPr>
      </p:sp>
      <p:sp>
        <p:nvSpPr>
          <p:cNvPr id="208" name="Texto 208"/>
          <p:cNvSpPr txBox="1"/>
          <p:nvPr/>
        </p:nvSpPr>
        <p:spPr>
          <a:xfrm>
            <a:off x="6720840" y="160020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i="0" dirty="0">
                <a:solidFill>
                  <a:srgbClr val="2B7A99"/>
                </a:solidFill>
                <a:latin typeface="Calibri"/>
                <a:ea typeface="Calibri"/>
                <a:cs typeface="Calibri"/>
              </a:rPr>
              <a:t>Com o CRM</a:t>
            </a:r>
            <a:endParaRPr lang="pt-BR" sz="2200" dirty="0"/>
          </a:p>
        </p:txBody>
      </p:sp>
      <p:sp>
        <p:nvSpPr>
          <p:cNvPr id="209" name="Texto 209"/>
          <p:cNvSpPr txBox="1"/>
          <p:nvPr/>
        </p:nvSpPr>
        <p:spPr>
          <a:xfrm>
            <a:off x="6720840" y="2148840"/>
            <a:ext cx="4800600" cy="3108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lang="pt-BR" sz="19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Todos os orçamentos num funil, cada um no seu estágio</a:t>
            </a:r>
            <a:endParaRPr lang="pt-BR" sz="1900" dirty="0"/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lang="pt-BR" sz="19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Histórico de cada cliente num só lugar</a:t>
            </a:r>
            <a:endParaRPr lang="pt-BR" sz="1900" dirty="0"/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lang="pt-BR" sz="19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Nenhum orçamento muda de estágio de forma inconsistente</a:t>
            </a:r>
            <a:endParaRPr lang="pt-BR" sz="1900" dirty="0"/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lang="pt-BR" sz="19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Gratuito, simples e focado no essencial</a:t>
            </a:r>
            <a:endParaRPr lang="pt-BR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exto 201"/>
          <p:cNvSpPr txBox="1"/>
          <p:nvPr/>
        </p:nvSpPr>
        <p:spPr>
          <a:xfrm>
            <a:off x="457200" y="20116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b="1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METODOLOGIA</a:t>
            </a:r>
            <a:endParaRPr lang="pt-BR" sz="4000" dirty="0"/>
          </a:p>
        </p:txBody>
      </p:sp>
      <p:sp>
        <p:nvSpPr>
          <p:cNvPr id="202" name="Texto 20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1" dirty="0">
                <a:solidFill>
                  <a:srgbClr val="2B7A99"/>
                </a:solidFill>
                <a:latin typeface="Calibri"/>
                <a:ea typeface="Calibri"/>
                <a:cs typeface="Calibri"/>
              </a:rPr>
              <a:t>Do requisito ao container: cada etapa alimenta a seguinte</a:t>
            </a:r>
            <a:endParaRPr lang="pt-BR" sz="1800" dirty="0"/>
          </a:p>
        </p:txBody>
      </p:sp>
      <p:sp>
        <p:nvSpPr>
          <p:cNvPr id="203" name="Forma 203"/>
          <p:cNvSpPr/>
          <p:nvPr/>
        </p:nvSpPr>
        <p:spPr>
          <a:xfrm>
            <a:off x="457200" y="1417320"/>
            <a:ext cx="2029968" cy="26060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</p:sp>
      <p:sp>
        <p:nvSpPr>
          <p:cNvPr id="204" name="Forma 204"/>
          <p:cNvSpPr/>
          <p:nvPr/>
        </p:nvSpPr>
        <p:spPr>
          <a:xfrm>
            <a:off x="1179576" y="1600200"/>
            <a:ext cx="585216" cy="585216"/>
          </a:xfrm>
          <a:prstGeom prst="ellipse">
            <a:avLst/>
          </a:prstGeom>
          <a:solidFill>
            <a:srgbClr val="1F5596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lang="pt-BR" sz="2200" dirty="0"/>
          </a:p>
        </p:txBody>
      </p:sp>
      <p:sp>
        <p:nvSpPr>
          <p:cNvPr id="205" name="Texto 205"/>
          <p:cNvSpPr txBox="1"/>
          <p:nvPr/>
        </p:nvSpPr>
        <p:spPr>
          <a:xfrm>
            <a:off x="566928" y="2286000"/>
            <a:ext cx="181051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b="1" i="0" dirty="0">
                <a:solidFill>
                  <a:srgbClr val="1F5596"/>
                </a:solidFill>
                <a:latin typeface="Calibri"/>
                <a:ea typeface="Calibri"/>
                <a:cs typeface="Calibri"/>
              </a:rPr>
              <a:t>Requisitos</a:t>
            </a:r>
            <a:endParaRPr lang="pt-BR" sz="1700" dirty="0"/>
          </a:p>
        </p:txBody>
      </p:sp>
      <p:sp>
        <p:nvSpPr>
          <p:cNvPr id="206" name="Texto 206"/>
          <p:cNvSpPr txBox="1"/>
          <p:nvPr/>
        </p:nvSpPr>
        <p:spPr>
          <a:xfrm>
            <a:off x="594360" y="2788920"/>
            <a:ext cx="1755648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Documento de software, casos de uso e backlog</a:t>
            </a:r>
            <a:endParaRPr lang="pt-BR" sz="1500" dirty="0"/>
          </a:p>
        </p:txBody>
      </p:sp>
      <p:sp>
        <p:nvSpPr>
          <p:cNvPr id="207" name="Seta 207"/>
          <p:cNvSpPr/>
          <p:nvPr/>
        </p:nvSpPr>
        <p:spPr>
          <a:xfrm>
            <a:off x="2523744" y="2587752"/>
            <a:ext cx="201168" cy="274320"/>
          </a:xfrm>
          <a:prstGeom prst="rightArrow">
            <a:avLst/>
          </a:prstGeom>
          <a:solidFill>
            <a:srgbClr val="9DB3CF"/>
          </a:solidFill>
          <a:ln>
            <a:noFill/>
          </a:ln>
        </p:spPr>
      </p:sp>
      <p:sp>
        <p:nvSpPr>
          <p:cNvPr id="208" name="Forma 208"/>
          <p:cNvSpPr/>
          <p:nvPr/>
        </p:nvSpPr>
        <p:spPr>
          <a:xfrm>
            <a:off x="2761488" y="1417320"/>
            <a:ext cx="2029968" cy="26060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</p:sp>
      <p:sp>
        <p:nvSpPr>
          <p:cNvPr id="209" name="Forma 209"/>
          <p:cNvSpPr/>
          <p:nvPr/>
        </p:nvSpPr>
        <p:spPr>
          <a:xfrm>
            <a:off x="3483864" y="1600200"/>
            <a:ext cx="585216" cy="585216"/>
          </a:xfrm>
          <a:prstGeom prst="ellipse">
            <a:avLst/>
          </a:prstGeom>
          <a:solidFill>
            <a:srgbClr val="2B7A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lang="pt-BR" sz="2200" dirty="0"/>
          </a:p>
        </p:txBody>
      </p:sp>
      <p:sp>
        <p:nvSpPr>
          <p:cNvPr id="210" name="Texto 210"/>
          <p:cNvSpPr txBox="1"/>
          <p:nvPr/>
        </p:nvSpPr>
        <p:spPr>
          <a:xfrm>
            <a:off x="2871216" y="2286000"/>
            <a:ext cx="181051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b="1" i="0" dirty="0">
                <a:solidFill>
                  <a:srgbClr val="1F5596"/>
                </a:solidFill>
                <a:latin typeface="Calibri"/>
                <a:ea typeface="Calibri"/>
                <a:cs typeface="Calibri"/>
              </a:rPr>
              <a:t>Modelagem DDD</a:t>
            </a:r>
            <a:endParaRPr lang="pt-BR" sz="1700" dirty="0"/>
          </a:p>
        </p:txBody>
      </p:sp>
      <p:sp>
        <p:nvSpPr>
          <p:cNvPr id="211" name="Texto 211"/>
          <p:cNvSpPr txBox="1"/>
          <p:nvPr/>
        </p:nvSpPr>
        <p:spPr>
          <a:xfrm>
            <a:off x="2898648" y="2788920"/>
            <a:ext cx="1755648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Linguagem única: Cliente, Orçamento, Interação</a:t>
            </a:r>
            <a:endParaRPr lang="pt-BR" sz="1500" dirty="0"/>
          </a:p>
        </p:txBody>
      </p:sp>
      <p:sp>
        <p:nvSpPr>
          <p:cNvPr id="212" name="Seta 212"/>
          <p:cNvSpPr/>
          <p:nvPr/>
        </p:nvSpPr>
        <p:spPr>
          <a:xfrm>
            <a:off x="4828032" y="2587752"/>
            <a:ext cx="201168" cy="274320"/>
          </a:xfrm>
          <a:prstGeom prst="rightArrow">
            <a:avLst/>
          </a:prstGeom>
          <a:solidFill>
            <a:srgbClr val="9DB3CF"/>
          </a:solidFill>
          <a:ln>
            <a:noFill/>
          </a:ln>
        </p:spPr>
      </p:sp>
      <p:sp>
        <p:nvSpPr>
          <p:cNvPr id="213" name="Forma 213"/>
          <p:cNvSpPr/>
          <p:nvPr/>
        </p:nvSpPr>
        <p:spPr>
          <a:xfrm>
            <a:off x="5065776" y="1417320"/>
            <a:ext cx="2029968" cy="26060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</p:sp>
      <p:sp>
        <p:nvSpPr>
          <p:cNvPr id="214" name="Forma 214"/>
          <p:cNvSpPr/>
          <p:nvPr/>
        </p:nvSpPr>
        <p:spPr>
          <a:xfrm>
            <a:off x="5788152" y="1600200"/>
            <a:ext cx="585216" cy="585216"/>
          </a:xfrm>
          <a:prstGeom prst="ellipse">
            <a:avLst/>
          </a:prstGeom>
          <a:solidFill>
            <a:srgbClr val="7B3F98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lang="pt-BR" sz="2200" dirty="0"/>
          </a:p>
        </p:txBody>
      </p:sp>
      <p:sp>
        <p:nvSpPr>
          <p:cNvPr id="215" name="Texto 215"/>
          <p:cNvSpPr txBox="1"/>
          <p:nvPr/>
        </p:nvSpPr>
        <p:spPr>
          <a:xfrm>
            <a:off x="5175504" y="2286000"/>
            <a:ext cx="181051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b="1" i="0" dirty="0">
                <a:solidFill>
                  <a:srgbClr val="1F5596"/>
                </a:solidFill>
                <a:latin typeface="Calibri"/>
                <a:ea typeface="Calibri"/>
                <a:cs typeface="Calibri"/>
              </a:rPr>
              <a:t>TDD</a:t>
            </a:r>
            <a:endParaRPr lang="pt-BR" sz="1700" dirty="0"/>
          </a:p>
        </p:txBody>
      </p:sp>
      <p:sp>
        <p:nvSpPr>
          <p:cNvPr id="216" name="Texto 216"/>
          <p:cNvSpPr txBox="1"/>
          <p:nvPr/>
        </p:nvSpPr>
        <p:spPr>
          <a:xfrm>
            <a:off x="5202936" y="2788920"/>
            <a:ext cx="1755648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Primeiro o teste que falha, depois o código</a:t>
            </a:r>
            <a:endParaRPr lang="pt-BR" sz="1500" dirty="0"/>
          </a:p>
        </p:txBody>
      </p:sp>
      <p:sp>
        <p:nvSpPr>
          <p:cNvPr id="217" name="Seta 217"/>
          <p:cNvSpPr/>
          <p:nvPr/>
        </p:nvSpPr>
        <p:spPr>
          <a:xfrm>
            <a:off x="7132320" y="2587752"/>
            <a:ext cx="201168" cy="274320"/>
          </a:xfrm>
          <a:prstGeom prst="rightArrow">
            <a:avLst/>
          </a:prstGeom>
          <a:solidFill>
            <a:srgbClr val="9DB3CF"/>
          </a:solidFill>
          <a:ln>
            <a:noFill/>
          </a:ln>
        </p:spPr>
      </p:sp>
      <p:sp>
        <p:nvSpPr>
          <p:cNvPr id="218" name="Forma 218"/>
          <p:cNvSpPr/>
          <p:nvPr/>
        </p:nvSpPr>
        <p:spPr>
          <a:xfrm>
            <a:off x="7370064" y="1417320"/>
            <a:ext cx="2029968" cy="26060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</p:sp>
      <p:sp>
        <p:nvSpPr>
          <p:cNvPr id="219" name="Forma 219"/>
          <p:cNvSpPr/>
          <p:nvPr/>
        </p:nvSpPr>
        <p:spPr>
          <a:xfrm>
            <a:off x="8092440" y="1600200"/>
            <a:ext cx="585216" cy="585216"/>
          </a:xfrm>
          <a:prstGeom prst="ellipse">
            <a:avLst/>
          </a:prstGeom>
          <a:solidFill>
            <a:srgbClr val="C2185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lang="pt-BR" sz="2200" dirty="0"/>
          </a:p>
        </p:txBody>
      </p:sp>
      <p:sp>
        <p:nvSpPr>
          <p:cNvPr id="220" name="Texto 220"/>
          <p:cNvSpPr txBox="1"/>
          <p:nvPr/>
        </p:nvSpPr>
        <p:spPr>
          <a:xfrm>
            <a:off x="7479792" y="2286000"/>
            <a:ext cx="181051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b="1" i="0" dirty="0">
                <a:solidFill>
                  <a:srgbClr val="1F5596"/>
                </a:solidFill>
                <a:latin typeface="Calibri"/>
                <a:ea typeface="Calibri"/>
                <a:cs typeface="Calibri"/>
              </a:rPr>
              <a:t>Clean Architecture</a:t>
            </a:r>
            <a:endParaRPr lang="pt-BR" sz="1700" dirty="0"/>
          </a:p>
        </p:txBody>
      </p:sp>
      <p:sp>
        <p:nvSpPr>
          <p:cNvPr id="221" name="Texto 221"/>
          <p:cNvSpPr txBox="1"/>
          <p:nvPr/>
        </p:nvSpPr>
        <p:spPr>
          <a:xfrm>
            <a:off x="7507224" y="2788920"/>
            <a:ext cx="1755648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Regras isoladas de framework e banco</a:t>
            </a:r>
            <a:endParaRPr lang="pt-BR" sz="1500" dirty="0"/>
          </a:p>
        </p:txBody>
      </p:sp>
      <p:sp>
        <p:nvSpPr>
          <p:cNvPr id="222" name="Seta 222"/>
          <p:cNvSpPr/>
          <p:nvPr/>
        </p:nvSpPr>
        <p:spPr>
          <a:xfrm>
            <a:off x="9436608" y="2587752"/>
            <a:ext cx="201168" cy="274320"/>
          </a:xfrm>
          <a:prstGeom prst="rightArrow">
            <a:avLst/>
          </a:prstGeom>
          <a:solidFill>
            <a:srgbClr val="9DB3CF"/>
          </a:solidFill>
          <a:ln>
            <a:noFill/>
          </a:ln>
        </p:spPr>
      </p:sp>
      <p:sp>
        <p:nvSpPr>
          <p:cNvPr id="223" name="Forma 223"/>
          <p:cNvSpPr/>
          <p:nvPr/>
        </p:nvSpPr>
        <p:spPr>
          <a:xfrm>
            <a:off x="9674352" y="1417320"/>
            <a:ext cx="2029968" cy="26060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</p:sp>
      <p:sp>
        <p:nvSpPr>
          <p:cNvPr id="224" name="Forma 224"/>
          <p:cNvSpPr/>
          <p:nvPr/>
        </p:nvSpPr>
        <p:spPr>
          <a:xfrm>
            <a:off x="10396728" y="1600200"/>
            <a:ext cx="585216" cy="585216"/>
          </a:xfrm>
          <a:prstGeom prst="ellipse">
            <a:avLst/>
          </a:prstGeom>
          <a:solidFill>
            <a:srgbClr val="1F5596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lang="pt-BR" sz="2200" dirty="0"/>
          </a:p>
        </p:txBody>
      </p:sp>
      <p:sp>
        <p:nvSpPr>
          <p:cNvPr id="225" name="Texto 225"/>
          <p:cNvSpPr txBox="1"/>
          <p:nvPr/>
        </p:nvSpPr>
        <p:spPr>
          <a:xfrm>
            <a:off x="9784080" y="2286000"/>
            <a:ext cx="181051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b="1" i="0" dirty="0">
                <a:solidFill>
                  <a:srgbClr val="1F5596"/>
                </a:solidFill>
                <a:latin typeface="Calibri"/>
                <a:ea typeface="Calibri"/>
                <a:cs typeface="Calibri"/>
              </a:rPr>
              <a:t>Docker</a:t>
            </a:r>
            <a:endParaRPr lang="pt-BR" sz="1700" dirty="0"/>
          </a:p>
        </p:txBody>
      </p:sp>
      <p:sp>
        <p:nvSpPr>
          <p:cNvPr id="226" name="Texto 226"/>
          <p:cNvSpPr txBox="1"/>
          <p:nvPr/>
        </p:nvSpPr>
        <p:spPr>
          <a:xfrm>
            <a:off x="9811512" y="2788920"/>
            <a:ext cx="1755648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Banco, API e testes sobem com um comando</a:t>
            </a:r>
            <a:endParaRPr lang="pt-BR" sz="1500" dirty="0"/>
          </a:p>
        </p:txBody>
      </p:sp>
      <p:sp>
        <p:nvSpPr>
          <p:cNvPr id="227" name="Texto 227"/>
          <p:cNvSpPr txBox="1"/>
          <p:nvPr/>
        </p:nvSpPr>
        <p:spPr>
          <a:xfrm>
            <a:off x="457200" y="4224528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b="1" i="0" dirty="0">
                <a:solidFill>
                  <a:srgbClr val="1F5596"/>
                </a:solidFill>
                <a:latin typeface="Calibri"/>
                <a:ea typeface="Calibri"/>
                <a:cs typeface="Calibri"/>
              </a:rPr>
              <a:t>Ferramentas</a:t>
            </a:r>
            <a:endParaRPr lang="pt-BR" sz="1700" dirty="0"/>
          </a:p>
        </p:txBody>
      </p:sp>
      <p:sp>
        <p:nvSpPr>
          <p:cNvPr id="228" name="Etiqueta 228"/>
          <p:cNvSpPr/>
          <p:nvPr/>
        </p:nvSpPr>
        <p:spPr>
          <a:xfrm>
            <a:off x="457200" y="4663440"/>
            <a:ext cx="1389888" cy="438912"/>
          </a:xfrm>
          <a:prstGeom prst="roundRect">
            <a:avLst>
              <a:gd name="adj" fmla="val 50000"/>
            </a:avLst>
          </a:prstGeom>
          <a:solidFill>
            <a:srgbClr val="E3F1F5"/>
          </a:solidFill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i="0" dirty="0">
                <a:solidFill>
                  <a:srgbClr val="1F5596"/>
                </a:solidFill>
                <a:latin typeface="Calibri"/>
                <a:ea typeface="Calibri"/>
                <a:cs typeface="Calibri"/>
              </a:rPr>
              <a:t>Python 3.14</a:t>
            </a:r>
            <a:endParaRPr lang="pt-BR" sz="1400" dirty="0"/>
          </a:p>
        </p:txBody>
      </p:sp>
      <p:sp>
        <p:nvSpPr>
          <p:cNvPr id="229" name="Etiqueta 229"/>
          <p:cNvSpPr/>
          <p:nvPr/>
        </p:nvSpPr>
        <p:spPr>
          <a:xfrm>
            <a:off x="1975104" y="4663440"/>
            <a:ext cx="1024128" cy="438912"/>
          </a:xfrm>
          <a:prstGeom prst="roundRect">
            <a:avLst>
              <a:gd name="adj" fmla="val 50000"/>
            </a:avLst>
          </a:prstGeom>
          <a:solidFill>
            <a:srgbClr val="E3F1F5"/>
          </a:solidFill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i="0" dirty="0">
                <a:solidFill>
                  <a:srgbClr val="1F5596"/>
                </a:solidFill>
                <a:latin typeface="Calibri"/>
                <a:ea typeface="Calibri"/>
                <a:cs typeface="Calibri"/>
              </a:rPr>
              <a:t>FastAPI</a:t>
            </a:r>
            <a:endParaRPr lang="pt-BR" sz="1400" dirty="0"/>
          </a:p>
        </p:txBody>
      </p:sp>
      <p:sp>
        <p:nvSpPr>
          <p:cNvPr id="230" name="Etiqueta 230"/>
          <p:cNvSpPr/>
          <p:nvPr/>
        </p:nvSpPr>
        <p:spPr>
          <a:xfrm>
            <a:off x="3127248" y="4663440"/>
            <a:ext cx="2212848" cy="438912"/>
          </a:xfrm>
          <a:prstGeom prst="roundRect">
            <a:avLst>
              <a:gd name="adj" fmla="val 50000"/>
            </a:avLst>
          </a:prstGeom>
          <a:solidFill>
            <a:srgbClr val="E3F1F5"/>
          </a:solidFill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i="0" dirty="0">
                <a:solidFill>
                  <a:srgbClr val="1F5596"/>
                </a:solidFill>
                <a:latin typeface="Calibri"/>
                <a:ea typeface="Calibri"/>
                <a:cs typeface="Calibri"/>
              </a:rPr>
              <a:t>SQLAlchemy + Alembic</a:t>
            </a:r>
            <a:endParaRPr lang="pt-BR" sz="1400" dirty="0"/>
          </a:p>
        </p:txBody>
      </p:sp>
      <p:sp>
        <p:nvSpPr>
          <p:cNvPr id="231" name="Etiqueta 231"/>
          <p:cNvSpPr/>
          <p:nvPr/>
        </p:nvSpPr>
        <p:spPr>
          <a:xfrm>
            <a:off x="5468112" y="4663440"/>
            <a:ext cx="1572768" cy="438912"/>
          </a:xfrm>
          <a:prstGeom prst="roundRect">
            <a:avLst>
              <a:gd name="adj" fmla="val 50000"/>
            </a:avLst>
          </a:prstGeom>
          <a:solidFill>
            <a:srgbClr val="E3F1F5"/>
          </a:solidFill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i="0" dirty="0">
                <a:solidFill>
                  <a:srgbClr val="1F5596"/>
                </a:solidFill>
                <a:latin typeface="Calibri"/>
                <a:ea typeface="Calibri"/>
                <a:cs typeface="Calibri"/>
              </a:rPr>
              <a:t>PostgreSQL 17</a:t>
            </a:r>
            <a:endParaRPr lang="pt-BR" sz="1400" dirty="0"/>
          </a:p>
        </p:txBody>
      </p:sp>
      <p:sp>
        <p:nvSpPr>
          <p:cNvPr id="232" name="Etiqueta 232"/>
          <p:cNvSpPr/>
          <p:nvPr/>
        </p:nvSpPr>
        <p:spPr>
          <a:xfrm>
            <a:off x="7168896" y="4663440"/>
            <a:ext cx="932688" cy="438912"/>
          </a:xfrm>
          <a:prstGeom prst="roundRect">
            <a:avLst>
              <a:gd name="adj" fmla="val 50000"/>
            </a:avLst>
          </a:prstGeom>
          <a:solidFill>
            <a:srgbClr val="E3F1F5"/>
          </a:solidFill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i="0" dirty="0">
                <a:solidFill>
                  <a:srgbClr val="1F5596"/>
                </a:solidFill>
                <a:latin typeface="Calibri"/>
                <a:ea typeface="Calibri"/>
                <a:cs typeface="Calibri"/>
              </a:rPr>
              <a:t>pytest</a:t>
            </a:r>
            <a:endParaRPr lang="pt-BR" sz="1400" dirty="0"/>
          </a:p>
        </p:txBody>
      </p:sp>
      <p:sp>
        <p:nvSpPr>
          <p:cNvPr id="233" name="Etiqueta 233"/>
          <p:cNvSpPr/>
          <p:nvPr/>
        </p:nvSpPr>
        <p:spPr>
          <a:xfrm>
            <a:off x="8229600" y="4663440"/>
            <a:ext cx="1389888" cy="438912"/>
          </a:xfrm>
          <a:prstGeom prst="roundRect">
            <a:avLst>
              <a:gd name="adj" fmla="val 50000"/>
            </a:avLst>
          </a:prstGeom>
          <a:solidFill>
            <a:srgbClr val="E3F1F5"/>
          </a:solidFill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i="0" dirty="0">
                <a:solidFill>
                  <a:srgbClr val="1F5596"/>
                </a:solidFill>
                <a:latin typeface="Calibri"/>
                <a:ea typeface="Calibri"/>
                <a:cs typeface="Calibri"/>
              </a:rPr>
              <a:t>ruff + mypy</a:t>
            </a:r>
            <a:endParaRPr lang="pt-BR" sz="1400" dirty="0"/>
          </a:p>
        </p:txBody>
      </p:sp>
      <p:sp>
        <p:nvSpPr>
          <p:cNvPr id="234" name="Etiqueta 234"/>
          <p:cNvSpPr/>
          <p:nvPr/>
        </p:nvSpPr>
        <p:spPr>
          <a:xfrm>
            <a:off x="9747504" y="4663440"/>
            <a:ext cx="932688" cy="438912"/>
          </a:xfrm>
          <a:prstGeom prst="roundRect">
            <a:avLst>
              <a:gd name="adj" fmla="val 50000"/>
            </a:avLst>
          </a:prstGeom>
          <a:solidFill>
            <a:srgbClr val="E3F1F5"/>
          </a:solidFill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i="0" dirty="0">
                <a:solidFill>
                  <a:srgbClr val="1F5596"/>
                </a:solidFill>
                <a:latin typeface="Calibri"/>
                <a:ea typeface="Calibri"/>
                <a:cs typeface="Calibri"/>
              </a:rPr>
              <a:t>Docker</a:t>
            </a:r>
            <a:endParaRPr lang="pt-BR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exto 201"/>
          <p:cNvSpPr txBox="1"/>
          <p:nvPr/>
        </p:nvSpPr>
        <p:spPr>
          <a:xfrm>
            <a:off x="457200" y="20116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b="1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DESCRIÇÃO DO PROJETO</a:t>
            </a:r>
            <a:endParaRPr lang="pt-BR" sz="4000" dirty="0"/>
          </a:p>
        </p:txBody>
      </p:sp>
      <p:sp>
        <p:nvSpPr>
          <p:cNvPr id="202" name="Texto 20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1" dirty="0">
                <a:solidFill>
                  <a:srgbClr val="2B7A99"/>
                </a:solidFill>
                <a:latin typeface="Calibri"/>
                <a:ea typeface="Calibri"/>
                <a:cs typeface="Calibri"/>
              </a:rPr>
              <a:t>1/4 · Arquitetura em camadas (Clean Architecture)</a:t>
            </a:r>
            <a:endParaRPr lang="pt-BR" sz="1800" dirty="0"/>
          </a:p>
        </p:txBody>
      </p:sp>
      <p:sp>
        <p:nvSpPr>
          <p:cNvPr id="203" name="Forma 203"/>
          <p:cNvSpPr/>
          <p:nvPr/>
        </p:nvSpPr>
        <p:spPr>
          <a:xfrm>
            <a:off x="457200" y="1417320"/>
            <a:ext cx="5120640" cy="3977640"/>
          </a:xfrm>
          <a:prstGeom prst="roundRect">
            <a:avLst>
              <a:gd name="adj" fmla="val 7000"/>
            </a:avLst>
          </a:prstGeom>
          <a:solidFill>
            <a:srgbClr val="E3ECF6"/>
          </a:solidFill>
          <a:ln>
            <a:noFill/>
          </a:ln>
        </p:spPr>
      </p:sp>
      <p:sp>
        <p:nvSpPr>
          <p:cNvPr id="204" name="Texto 204"/>
          <p:cNvSpPr txBox="1"/>
          <p:nvPr/>
        </p:nvSpPr>
        <p:spPr>
          <a:xfrm>
            <a:off x="457200" y="1463040"/>
            <a:ext cx="51206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dirty="0">
                <a:solidFill>
                  <a:srgbClr val="1F5596"/>
                </a:solidFill>
                <a:latin typeface="Calibri"/>
                <a:ea typeface="Calibri"/>
                <a:cs typeface="Calibri"/>
              </a:rPr>
              <a:t>infra</a:t>
            </a:r>
            <a:endParaRPr lang="pt-BR" sz="1600" dirty="0"/>
          </a:p>
        </p:txBody>
      </p:sp>
      <p:sp>
        <p:nvSpPr>
          <p:cNvPr id="205" name="Forma 205"/>
          <p:cNvSpPr/>
          <p:nvPr/>
        </p:nvSpPr>
        <p:spPr>
          <a:xfrm>
            <a:off x="914400" y="1874520"/>
            <a:ext cx="4206240" cy="3063240"/>
          </a:xfrm>
          <a:prstGeom prst="roundRect">
            <a:avLst>
              <a:gd name="adj" fmla="val 7000"/>
            </a:avLst>
          </a:prstGeom>
          <a:solidFill>
            <a:srgbClr val="C5D7EC"/>
          </a:solidFill>
          <a:ln>
            <a:noFill/>
          </a:ln>
        </p:spPr>
      </p:sp>
      <p:sp>
        <p:nvSpPr>
          <p:cNvPr id="206" name="Texto 206"/>
          <p:cNvSpPr txBox="1"/>
          <p:nvPr/>
        </p:nvSpPr>
        <p:spPr>
          <a:xfrm>
            <a:off x="914400" y="1920240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dirty="0">
                <a:solidFill>
                  <a:srgbClr val="1F5596"/>
                </a:solidFill>
                <a:latin typeface="Calibri"/>
                <a:ea typeface="Calibri"/>
                <a:cs typeface="Calibri"/>
              </a:rPr>
              <a:t>adapters</a:t>
            </a:r>
            <a:endParaRPr lang="pt-BR" sz="1600" dirty="0"/>
          </a:p>
        </p:txBody>
      </p:sp>
      <p:sp>
        <p:nvSpPr>
          <p:cNvPr id="207" name="Forma 207"/>
          <p:cNvSpPr/>
          <p:nvPr/>
        </p:nvSpPr>
        <p:spPr>
          <a:xfrm>
            <a:off x="1371600" y="2331720"/>
            <a:ext cx="3291840" cy="2148840"/>
          </a:xfrm>
          <a:prstGeom prst="roundRect">
            <a:avLst>
              <a:gd name="adj" fmla="val 7000"/>
            </a:avLst>
          </a:prstGeom>
          <a:solidFill>
            <a:srgbClr val="8FB3DA"/>
          </a:solidFill>
          <a:ln>
            <a:noFill/>
          </a:ln>
        </p:spPr>
      </p:sp>
      <p:sp>
        <p:nvSpPr>
          <p:cNvPr id="208" name="Texto 208"/>
          <p:cNvSpPr txBox="1"/>
          <p:nvPr/>
        </p:nvSpPr>
        <p:spPr>
          <a:xfrm>
            <a:off x="1371600" y="2377440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application</a:t>
            </a:r>
            <a:endParaRPr lang="pt-BR" sz="1600" dirty="0"/>
          </a:p>
        </p:txBody>
      </p:sp>
      <p:sp>
        <p:nvSpPr>
          <p:cNvPr id="209" name="Forma 209"/>
          <p:cNvSpPr/>
          <p:nvPr/>
        </p:nvSpPr>
        <p:spPr>
          <a:xfrm>
            <a:off x="1828800" y="2788920"/>
            <a:ext cx="2377440" cy="1234440"/>
          </a:xfrm>
          <a:prstGeom prst="roundRect">
            <a:avLst>
              <a:gd name="adj" fmla="val 7000"/>
            </a:avLst>
          </a:prstGeom>
          <a:solidFill>
            <a:srgbClr val="1F5596"/>
          </a:solidFill>
          <a:ln>
            <a:noFill/>
          </a:ln>
        </p:spPr>
      </p:sp>
      <p:sp>
        <p:nvSpPr>
          <p:cNvPr id="210" name="Texto 210"/>
          <p:cNvSpPr txBox="1"/>
          <p:nvPr/>
        </p:nvSpPr>
        <p:spPr>
          <a:xfrm>
            <a:off x="1828800" y="283464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domain</a:t>
            </a:r>
            <a:endParaRPr lang="pt-BR" sz="1600" dirty="0"/>
          </a:p>
        </p:txBody>
      </p:sp>
      <p:sp>
        <p:nvSpPr>
          <p:cNvPr id="211" name="Texto 211"/>
          <p:cNvSpPr txBox="1"/>
          <p:nvPr/>
        </p:nvSpPr>
        <p:spPr>
          <a:xfrm>
            <a:off x="1828800" y="3246120"/>
            <a:ext cx="237744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Orçamento · Cliente</a:t>
            </a:r>
            <a:endParaRPr lang="pt-BR" sz="15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Interação · regras do funil</a:t>
            </a:r>
            <a:endParaRPr lang="pt-BR" sz="1500" dirty="0"/>
          </a:p>
        </p:txBody>
      </p:sp>
      <p:sp>
        <p:nvSpPr>
          <p:cNvPr id="212" name="Forma 212"/>
          <p:cNvSpPr/>
          <p:nvPr/>
        </p:nvSpPr>
        <p:spPr>
          <a:xfrm>
            <a:off x="5943600" y="1536192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1F5596"/>
          </a:solidFill>
          <a:ln>
            <a:noFill/>
          </a:ln>
        </p:spPr>
      </p:sp>
      <p:sp>
        <p:nvSpPr>
          <p:cNvPr id="213" name="Texto 213"/>
          <p:cNvSpPr txBox="1"/>
          <p:nvPr/>
        </p:nvSpPr>
        <p:spPr>
          <a:xfrm>
            <a:off x="6400800" y="1463040"/>
            <a:ext cx="53035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dirty="0">
                <a:solidFill>
                  <a:srgbClr val="1F5596"/>
                </a:solidFill>
                <a:latin typeface="Calibri"/>
                <a:ea typeface="Calibri"/>
                <a:cs typeface="Calibri"/>
              </a:rPr>
              <a:t xml:space="preserve">domain  </a:t>
            </a:r>
            <a:r>
              <a:rPr lang="pt-BR"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Entidades, objetos de valor e regras do funil. Python puro, sem framework.</a:t>
            </a:r>
            <a:endParaRPr lang="pt-BR" sz="1600" dirty="0"/>
          </a:p>
        </p:txBody>
      </p:sp>
      <p:sp>
        <p:nvSpPr>
          <p:cNvPr id="214" name="Forma 214"/>
          <p:cNvSpPr/>
          <p:nvPr/>
        </p:nvSpPr>
        <p:spPr>
          <a:xfrm>
            <a:off x="5943600" y="237744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5E8FC7"/>
          </a:solidFill>
          <a:ln>
            <a:noFill/>
          </a:ln>
        </p:spPr>
      </p:sp>
      <p:sp>
        <p:nvSpPr>
          <p:cNvPr id="215" name="Texto 215"/>
          <p:cNvSpPr txBox="1"/>
          <p:nvPr/>
        </p:nvSpPr>
        <p:spPr>
          <a:xfrm>
            <a:off x="6400800" y="2304288"/>
            <a:ext cx="53035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dirty="0">
                <a:solidFill>
                  <a:srgbClr val="1F5596"/>
                </a:solidFill>
                <a:latin typeface="Calibri"/>
                <a:ea typeface="Calibri"/>
                <a:cs typeface="Calibri"/>
              </a:rPr>
              <a:t xml:space="preserve">application  </a:t>
            </a:r>
            <a:r>
              <a:rPr lang="pt-BR"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Casos de uso (registrar contato, mover estágio...) e as portas dos repositórios.</a:t>
            </a:r>
            <a:endParaRPr lang="pt-BR" sz="1600" dirty="0"/>
          </a:p>
        </p:txBody>
      </p:sp>
      <p:sp>
        <p:nvSpPr>
          <p:cNvPr id="216" name="Forma 216"/>
          <p:cNvSpPr/>
          <p:nvPr/>
        </p:nvSpPr>
        <p:spPr>
          <a:xfrm>
            <a:off x="5943600" y="3218688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8FB3DA"/>
          </a:solidFill>
          <a:ln>
            <a:noFill/>
          </a:ln>
        </p:spPr>
      </p:sp>
      <p:sp>
        <p:nvSpPr>
          <p:cNvPr id="217" name="Texto 217"/>
          <p:cNvSpPr txBox="1"/>
          <p:nvPr/>
        </p:nvSpPr>
        <p:spPr>
          <a:xfrm>
            <a:off x="6400800" y="3145536"/>
            <a:ext cx="53035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dirty="0">
                <a:solidFill>
                  <a:srgbClr val="1F5596"/>
                </a:solidFill>
                <a:latin typeface="Calibri"/>
                <a:ea typeface="Calibri"/>
                <a:cs typeface="Calibri"/>
              </a:rPr>
              <a:t xml:space="preserve">adapters  </a:t>
            </a:r>
            <a:r>
              <a:rPr lang="pt-BR"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Rotas FastAPI, schemas de entrada e saída e repositórios PostgreSQL.</a:t>
            </a:r>
            <a:endParaRPr lang="pt-BR" sz="1600" dirty="0"/>
          </a:p>
        </p:txBody>
      </p:sp>
      <p:sp>
        <p:nvSpPr>
          <p:cNvPr id="218" name="Forma 218"/>
          <p:cNvSpPr/>
          <p:nvPr/>
        </p:nvSpPr>
        <p:spPr>
          <a:xfrm>
            <a:off x="5943600" y="4059936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B9CDE6"/>
          </a:solidFill>
          <a:ln>
            <a:noFill/>
          </a:ln>
        </p:spPr>
      </p:sp>
      <p:sp>
        <p:nvSpPr>
          <p:cNvPr id="219" name="Texto 219"/>
          <p:cNvSpPr txBox="1"/>
          <p:nvPr/>
        </p:nvSpPr>
        <p:spPr>
          <a:xfrm>
            <a:off x="6400800" y="3986784"/>
            <a:ext cx="53035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dirty="0">
                <a:solidFill>
                  <a:srgbClr val="1F5596"/>
                </a:solidFill>
                <a:latin typeface="Calibri"/>
                <a:ea typeface="Calibri"/>
                <a:cs typeface="Calibri"/>
              </a:rPr>
              <a:t xml:space="preserve">infra  </a:t>
            </a:r>
            <a:r>
              <a:rPr lang="pt-BR"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Conexão com o banco (SQLAlchemy + Alembic), configuração e JWT.</a:t>
            </a:r>
            <a:endParaRPr lang="pt-BR" sz="1600" dirty="0"/>
          </a:p>
        </p:txBody>
      </p:sp>
      <p:sp>
        <p:nvSpPr>
          <p:cNvPr id="220" name="Forma 220"/>
          <p:cNvSpPr/>
          <p:nvPr/>
        </p:nvSpPr>
        <p:spPr>
          <a:xfrm>
            <a:off x="5943600" y="4846320"/>
            <a:ext cx="5760720" cy="548640"/>
          </a:xfrm>
          <a:prstGeom prst="roundRect">
            <a:avLst>
              <a:gd name="adj" fmla="val 20000"/>
            </a:avLst>
          </a:prstGeom>
          <a:solidFill>
            <a:srgbClr val="E3F1F5"/>
          </a:solidFill>
          <a:ln>
            <a:noFill/>
          </a:ln>
        </p:spPr>
        <p:txBody>
          <a:bodyPr wrap="square" lIns="182880" tIns="0" rIns="182880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i="1" dirty="0">
                <a:solidFill>
                  <a:srgbClr val="2B7A99"/>
                </a:solidFill>
                <a:latin typeface="Calibri"/>
                <a:ea typeface="Calibri"/>
                <a:cs typeface="Calibri"/>
              </a:rPr>
              <a:t>Teste automático: o domínio não pode importar FastAPI nem SQLAlchemy.</a:t>
            </a:r>
            <a:endParaRPr lang="pt-BR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exto 201"/>
          <p:cNvSpPr txBox="1"/>
          <p:nvPr/>
        </p:nvSpPr>
        <p:spPr>
          <a:xfrm>
            <a:off x="457200" y="20116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b="1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FOTOS OU PRINTS DE TELA</a:t>
            </a:r>
            <a:endParaRPr lang="pt-BR" sz="4000" dirty="0"/>
          </a:p>
        </p:txBody>
      </p:sp>
      <p:sp>
        <p:nvSpPr>
          <p:cNvPr id="202" name="Texto 20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1" dirty="0">
                <a:solidFill>
                  <a:srgbClr val="2B7A99"/>
                </a:solidFill>
                <a:latin typeface="Calibri"/>
                <a:ea typeface="Calibri"/>
                <a:cs typeface="Calibri"/>
              </a:rPr>
              <a:t>O backend rodando no Docker</a:t>
            </a:r>
            <a:endParaRPr lang="pt-BR" sz="1800" dirty="0"/>
          </a:p>
        </p:txBody>
      </p:sp>
      <p:pic>
        <p:nvPicPr>
          <p:cNvPr id="203" name="Imagem 203" descr="swagger.png"/>
          <p:cNvPicPr>
            <a:picLocks noChangeAspect="1"/>
          </p:cNvPicPr>
          <p:nvPr/>
        </p:nvPicPr>
        <p:blipFill>
          <a:blip r:embed="rIdImg1"/>
          <a:srcRect l="0" t="0" r="0" b="10000"/>
          <a:stretch>
            <a:fillRect/>
          </a:stretch>
        </p:blipFill>
        <p:spPr>
          <a:xfrm>
            <a:off x="1325880" y="1417320"/>
            <a:ext cx="4480560" cy="3639312"/>
          </a:xfrm>
          <a:prstGeom prst="rect">
            <a:avLst/>
          </a:prstGeom>
          <a:ln w="12700">
            <a:solidFill>
              <a:srgbClr val="BFBFBF"/>
            </a:solidFill>
          </a:ln>
        </p:spPr>
      </p:pic>
      <p:pic>
        <p:nvPicPr>
          <p:cNvPr id="204" name="Imagem 204" descr="cobertura.png"/>
          <p:cNvPicPr>
            <a:picLocks noChangeAspect="1"/>
          </p:cNvPicPr>
          <p:nvPr/>
        </p:nvPicPr>
        <p:blipFill>
          <a:blip r:embed="rIdImg2"/>
          <a:srcRect l="0" t="0" r="25700" b="7000"/>
          <a:stretch>
            <a:fillRect/>
          </a:stretch>
        </p:blipFill>
        <p:spPr>
          <a:xfrm>
            <a:off x="6172200" y="1417320"/>
            <a:ext cx="4709160" cy="3639312"/>
          </a:xfrm>
          <a:prstGeom prst="rect">
            <a:avLst/>
          </a:prstGeom>
          <a:ln w="12700">
            <a:solidFill>
              <a:srgbClr val="BFBFBF"/>
            </a:solidFill>
          </a:ln>
        </p:spPr>
      </p:pic>
      <p:sp>
        <p:nvSpPr>
          <p:cNvPr id="205" name="Texto 205"/>
          <p:cNvSpPr txBox="1"/>
          <p:nvPr/>
        </p:nvSpPr>
        <p:spPr>
          <a:xfrm>
            <a:off x="1325880" y="5102352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dirty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Swagger: as 14 rotas da API documentadas</a:t>
            </a:r>
            <a:endParaRPr lang="pt-BR" sz="1400" dirty="0"/>
          </a:p>
        </p:txBody>
      </p:sp>
      <p:sp>
        <p:nvSpPr>
          <p:cNvPr id="206" name="Texto 206"/>
          <p:cNvSpPr txBox="1"/>
          <p:nvPr/>
        </p:nvSpPr>
        <p:spPr>
          <a:xfrm>
            <a:off x="6172200" y="5102352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dirty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Relatório de cobertura: 100% em todos os arquivos</a:t>
            </a:r>
            <a:endParaRPr lang="pt-BR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exto 201"/>
          <p:cNvSpPr txBox="1"/>
          <p:nvPr/>
        </p:nvSpPr>
        <p:spPr>
          <a:xfrm>
            <a:off x="457200" y="20116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b="1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CONSIDERAÇÕES FINAIS</a:t>
            </a:r>
            <a:endParaRPr lang="pt-BR" sz="4000" dirty="0"/>
          </a:p>
        </p:txBody>
      </p:sp>
      <p:sp>
        <p:nvSpPr>
          <p:cNvPr id="202" name="Forma 202"/>
          <p:cNvSpPr/>
          <p:nvPr/>
        </p:nvSpPr>
        <p:spPr>
          <a:xfrm>
            <a:off x="457200" y="1188720"/>
            <a:ext cx="5532120" cy="3291840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</p:spPr>
      </p:sp>
      <p:sp>
        <p:nvSpPr>
          <p:cNvPr id="203" name="Texto 20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 i="0" dirty="0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O que foi entregue</a:t>
            </a:r>
            <a:endParaRPr lang="pt-BR" sz="2100" dirty="0"/>
          </a:p>
        </p:txBody>
      </p:sp>
      <p:sp>
        <p:nvSpPr>
          <p:cNvPr id="204" name="Texto 204"/>
          <p:cNvSpPr txBox="1"/>
          <p:nvPr/>
        </p:nvSpPr>
        <p:spPr>
          <a:xfrm>
            <a:off x="731520" y="1920240"/>
            <a:ext cx="5074920" cy="2514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pt-BR" sz="18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Backend completo com 14 rotas e as regras do funil no domínio</a:t>
            </a:r>
            <a:endParaRPr lang="pt-BR" sz="1800" dirty="0"/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pt-BR" sz="18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424 testes e 100% de cobertura (meta: 80%)</a:t>
            </a:r>
            <a:endParaRPr lang="pt-BR" sz="1800" dirty="0"/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pt-BR" sz="18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Projeto inteiro sobe com um único comando Docker</a:t>
            </a:r>
            <a:endParaRPr lang="pt-BR" sz="1800" dirty="0"/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pt-BR" sz="18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Arquitetura pronta para crescer sem mexer nas regras</a:t>
            </a:r>
            <a:endParaRPr lang="pt-BR" sz="1800" dirty="0"/>
          </a:p>
        </p:txBody>
      </p:sp>
      <p:sp>
        <p:nvSpPr>
          <p:cNvPr id="205" name="Forma 205"/>
          <p:cNvSpPr/>
          <p:nvPr/>
        </p:nvSpPr>
        <p:spPr>
          <a:xfrm>
            <a:off x="6217920" y="1188720"/>
            <a:ext cx="5486400" cy="329184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</p:spPr>
      </p:sp>
      <p:sp>
        <p:nvSpPr>
          <p:cNvPr id="206" name="Texto 206"/>
          <p:cNvSpPr txBox="1"/>
          <p:nvPr/>
        </p:nvSpPr>
        <p:spPr>
          <a:xfrm>
            <a:off x="6492240" y="137160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 i="0" dirty="0">
                <a:solidFill>
                  <a:srgbClr val="1F5596"/>
                </a:solidFill>
                <a:latin typeface="Calibri"/>
                <a:ea typeface="Calibri"/>
                <a:cs typeface="Calibri"/>
              </a:rPr>
              <a:t>Próximos passos</a:t>
            </a:r>
            <a:endParaRPr lang="pt-BR" sz="2100" dirty="0"/>
          </a:p>
        </p:txBody>
      </p:sp>
      <p:sp>
        <p:nvSpPr>
          <p:cNvPr id="207" name="Texto 207"/>
          <p:cNvSpPr txBox="1"/>
          <p:nvPr/>
        </p:nvSpPr>
        <p:spPr>
          <a:xfrm>
            <a:off x="6492240" y="1920240"/>
            <a:ext cx="5029200" cy="2514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pt-BR" sz="18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Frontend em Next.js com painel Kanban de arrastar e soltar</a:t>
            </a:r>
            <a:endParaRPr lang="pt-BR" sz="1800" dirty="0"/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pt-BR" sz="18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Abrir um novo orçamento para um cliente já cadastrado</a:t>
            </a:r>
            <a:endParaRPr lang="pt-BR" sz="1800" dirty="0"/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pt-BR" sz="18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Publicar na nuvem e testar com pequenos negócios parceiros</a:t>
            </a:r>
            <a:endParaRPr lang="pt-BR" sz="1800" dirty="0"/>
          </a:p>
        </p:txBody>
      </p:sp>
      <p:sp>
        <p:nvSpPr>
          <p:cNvPr id="208" name="Forma 208"/>
          <p:cNvSpPr/>
          <p:nvPr/>
        </p:nvSpPr>
        <p:spPr>
          <a:xfrm>
            <a:off x="457200" y="4709160"/>
            <a:ext cx="11247120" cy="713232"/>
          </a:xfrm>
          <a:prstGeom prst="roundRect">
            <a:avLst>
              <a:gd name="adj" fmla="val 20000"/>
            </a:avLst>
          </a:prstGeom>
          <a:solidFill>
            <a:srgbClr val="1F5596"/>
          </a:solidFill>
          <a:ln>
            <a:noFill/>
          </a:ln>
        </p:spPr>
        <p:txBody>
          <a:bodyPr wrap="square" lIns="274320" tIns="0" rIns="274320" bIns="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i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 o CRM, o pequeno negócio troca o caderno por um funil que mostra onde está cada venda.</a:t>
            </a:r>
            <a:endParaRPr lang="pt-BR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exto 201"/>
          <p:cNvSpPr txBox="1"/>
          <p:nvPr/>
        </p:nvSpPr>
        <p:spPr>
          <a:xfrm>
            <a:off x="457200" y="20116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b="1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REFERÊNCIAS BIBLIOGRÁFICAS</a:t>
            </a:r>
            <a:endParaRPr lang="pt-BR" sz="4000" dirty="0"/>
          </a:p>
        </p:txBody>
      </p:sp>
      <p:sp>
        <p:nvSpPr>
          <p:cNvPr id="202" name="Texto 202"/>
          <p:cNvSpPr txBox="1"/>
          <p:nvPr/>
        </p:nvSpPr>
        <p:spPr>
          <a:xfrm>
            <a:off x="457200" y="1143000"/>
            <a:ext cx="11247120" cy="4297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pt-BR"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 xml:space="preserve">BECK, K. </a:t>
            </a:r>
            <a:r>
              <a:rPr lang="pt-BR" sz="1600" b="1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TDD: desenvolvimento guiado por testes</a:t>
            </a:r>
            <a:r>
              <a:rPr lang="pt-BR"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 Porto Alegre: Bookman, 2010.</a:t>
            </a:r>
            <a:endParaRPr lang="pt-BR" sz="16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pt-BR"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 xml:space="preserve">DOCKER INC. </a:t>
            </a:r>
            <a:r>
              <a:rPr lang="pt-BR" sz="1600" b="1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Docker Compose documentation</a:t>
            </a:r>
            <a:r>
              <a:rPr lang="pt-BR"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 Disponível em: https://docs.docker.com/compose/. Acesso em: 19 out. 2026.</a:t>
            </a:r>
            <a:endParaRPr lang="pt-BR" sz="16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pt-BR"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 xml:space="preserve">EVANS, E. </a:t>
            </a:r>
            <a:r>
              <a:rPr lang="pt-BR" sz="1600" b="1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Domain-Driven Design: atacando as complexidades no coração do software</a:t>
            </a:r>
            <a:r>
              <a:rPr lang="pt-BR"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 3. ed. Rio de Janeiro: Alta Books, 2016.</a:t>
            </a:r>
            <a:endParaRPr lang="pt-BR" sz="16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pt-BR"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 xml:space="preserve">FASTAPI. </a:t>
            </a:r>
            <a:r>
              <a:rPr lang="pt-BR" sz="1600" b="1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FastAPI documentation</a:t>
            </a:r>
            <a:r>
              <a:rPr lang="pt-BR"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 Disponível em: https://fastapi.tiangolo.com. Acesso em: 19 out. 2026.</a:t>
            </a:r>
            <a:endParaRPr lang="pt-BR" sz="16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pt-BR"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 xml:space="preserve">JONES, M.; BRADLEY, J.; SAKIMURA, N. </a:t>
            </a:r>
            <a:r>
              <a:rPr lang="pt-BR" sz="1600" b="1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RFC 7519: JSON Web Token (JWT)</a:t>
            </a:r>
            <a:r>
              <a:rPr lang="pt-BR"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 IETF, 2015.</a:t>
            </a:r>
            <a:endParaRPr lang="pt-BR" sz="16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pt-BR"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 xml:space="preserve">MARTIN, R. C. </a:t>
            </a:r>
            <a:r>
              <a:rPr lang="pt-BR" sz="1600" b="1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Arquitetura Limpa: o guia do artesão para estrutura e design de software</a:t>
            </a:r>
            <a:r>
              <a:rPr lang="pt-BR"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 Rio de Janeiro: Alta Books, 2019.</a:t>
            </a:r>
            <a:endParaRPr lang="pt-BR" sz="16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pt-BR"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 xml:space="preserve">POSTGRESQL GLOBAL DEVELOPMENT GROUP. </a:t>
            </a:r>
            <a:r>
              <a:rPr lang="pt-BR" sz="1600" b="1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PostgreSQL 17 documentation</a:t>
            </a:r>
            <a:r>
              <a:rPr lang="pt-BR"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 Disponível em: https://www.postgresql.org/docs/17/. Acesso em: 19 out. 2026.</a:t>
            </a:r>
            <a:endParaRPr lang="pt-BR" sz="16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pt-BR"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 xml:space="preserve">SQLALCHEMY. </a:t>
            </a:r>
            <a:r>
              <a:rPr lang="pt-BR" sz="1600" b="1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SQLAlchemy 2.0 documentation</a:t>
            </a:r>
            <a:r>
              <a:rPr lang="pt-BR" sz="16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 Disponível em: https://docs.sqlalchemy.org. Acesso em: 19 out. 2026.</a:t>
            </a:r>
            <a:endParaRPr lang="pt-BR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exto 201"/>
          <p:cNvSpPr txBox="1"/>
          <p:nvPr/>
        </p:nvSpPr>
        <p:spPr>
          <a:xfrm>
            <a:off x="457200" y="20116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b="1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DESCRIÇÃO DO PROJETO</a:t>
            </a:r>
            <a:endParaRPr lang="pt-BR" sz="4000" dirty="0"/>
          </a:p>
        </p:txBody>
      </p:sp>
      <p:sp>
        <p:nvSpPr>
          <p:cNvPr id="202" name="Texto 20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1" dirty="0">
                <a:solidFill>
                  <a:srgbClr val="2B7A99"/>
                </a:solidFill>
                <a:latin typeface="Calibri"/>
                <a:ea typeface="Calibri"/>
                <a:cs typeface="Calibri"/>
              </a:rPr>
              <a:t>2/4 · O funil de atendimento e suas regras</a:t>
            </a:r>
            <a:endParaRPr lang="pt-BR" sz="1800" dirty="0"/>
          </a:p>
        </p:txBody>
      </p:sp>
      <p:sp>
        <p:nvSpPr>
          <p:cNvPr id="203" name="Forma 203"/>
          <p:cNvSpPr/>
          <p:nvPr/>
        </p:nvSpPr>
        <p:spPr>
          <a:xfrm>
            <a:off x="502920" y="1463040"/>
            <a:ext cx="2377440" cy="685800"/>
          </a:xfrm>
          <a:prstGeom prst="roundRect">
            <a:avLst>
              <a:gd name="adj" fmla="val 30000"/>
            </a:avLst>
          </a:prstGeom>
          <a:solidFill>
            <a:srgbClr val="EAF1F8"/>
          </a:solidFill>
          <a:ln w="19050">
            <a:solidFill>
              <a:srgbClr val="1F5596"/>
            </a:solidFill>
          </a:ln>
        </p:spPr>
        <p:txBody>
          <a:bodyPr wrap="square" lIns="91440" tIns="45720" rIns="91440" bIns="4572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i="0" dirty="0">
                <a:solidFill>
                  <a:srgbClr val="1F5596"/>
                </a:solidFill>
                <a:latin typeface="Calibri"/>
                <a:ea typeface="Calibri"/>
                <a:cs typeface="Calibri"/>
              </a:rPr>
              <a:t>Novo Contato</a:t>
            </a:r>
            <a:endParaRPr lang="pt-BR" sz="1800" dirty="0"/>
          </a:p>
        </p:txBody>
      </p:sp>
      <p:sp>
        <p:nvSpPr>
          <p:cNvPr id="204" name="Seta 204"/>
          <p:cNvSpPr/>
          <p:nvPr/>
        </p:nvSpPr>
        <p:spPr>
          <a:xfrm>
            <a:off x="2935224" y="1645920"/>
            <a:ext cx="420624" cy="329184"/>
          </a:xfrm>
          <a:prstGeom prst="rightArrow">
            <a:avLst/>
          </a:prstGeom>
          <a:solidFill>
            <a:srgbClr val="1F5596"/>
          </a:solidFill>
          <a:ln>
            <a:noFill/>
          </a:ln>
        </p:spPr>
      </p:sp>
      <p:sp>
        <p:nvSpPr>
          <p:cNvPr id="205" name="Seta 205"/>
          <p:cNvSpPr/>
          <p:nvPr/>
        </p:nvSpPr>
        <p:spPr>
          <a:xfrm>
            <a:off x="1527048" y="2212848"/>
            <a:ext cx="329184" cy="384048"/>
          </a:xfrm>
          <a:prstGeom prst="downArrow">
            <a:avLst/>
          </a:prstGeom>
          <a:solidFill>
            <a:srgbClr val="C2185B"/>
          </a:solidFill>
          <a:ln>
            <a:noFill/>
          </a:ln>
        </p:spPr>
      </p:sp>
      <p:sp>
        <p:nvSpPr>
          <p:cNvPr id="206" name="Forma 206"/>
          <p:cNvSpPr/>
          <p:nvPr/>
        </p:nvSpPr>
        <p:spPr>
          <a:xfrm>
            <a:off x="3410712" y="1463040"/>
            <a:ext cx="2377440" cy="685800"/>
          </a:xfrm>
          <a:prstGeom prst="roundRect">
            <a:avLst>
              <a:gd name="adj" fmla="val 30000"/>
            </a:avLst>
          </a:prstGeom>
          <a:solidFill>
            <a:srgbClr val="EAF1F8"/>
          </a:solidFill>
          <a:ln w="19050">
            <a:solidFill>
              <a:srgbClr val="1F5596"/>
            </a:solidFill>
          </a:ln>
        </p:spPr>
        <p:txBody>
          <a:bodyPr wrap="square" lIns="91440" tIns="45720" rIns="91440" bIns="4572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i="0" dirty="0">
                <a:solidFill>
                  <a:srgbClr val="1F5596"/>
                </a:solidFill>
                <a:latin typeface="Calibri"/>
                <a:ea typeface="Calibri"/>
                <a:cs typeface="Calibri"/>
              </a:rPr>
              <a:t>Em Negociação</a:t>
            </a:r>
            <a:endParaRPr lang="pt-BR" sz="1800" dirty="0"/>
          </a:p>
        </p:txBody>
      </p:sp>
      <p:sp>
        <p:nvSpPr>
          <p:cNvPr id="207" name="Seta 207"/>
          <p:cNvSpPr/>
          <p:nvPr/>
        </p:nvSpPr>
        <p:spPr>
          <a:xfrm>
            <a:off x="5843016" y="1645920"/>
            <a:ext cx="420624" cy="329184"/>
          </a:xfrm>
          <a:prstGeom prst="rightArrow">
            <a:avLst/>
          </a:prstGeom>
          <a:solidFill>
            <a:srgbClr val="1F5596"/>
          </a:solidFill>
          <a:ln>
            <a:noFill/>
          </a:ln>
        </p:spPr>
      </p:sp>
      <p:sp>
        <p:nvSpPr>
          <p:cNvPr id="208" name="Seta 208"/>
          <p:cNvSpPr/>
          <p:nvPr/>
        </p:nvSpPr>
        <p:spPr>
          <a:xfrm>
            <a:off x="4434840" y="2212848"/>
            <a:ext cx="329184" cy="384048"/>
          </a:xfrm>
          <a:prstGeom prst="downArrow">
            <a:avLst/>
          </a:prstGeom>
          <a:solidFill>
            <a:srgbClr val="C2185B"/>
          </a:solidFill>
          <a:ln>
            <a:noFill/>
          </a:ln>
        </p:spPr>
      </p:sp>
      <p:sp>
        <p:nvSpPr>
          <p:cNvPr id="209" name="Forma 209"/>
          <p:cNvSpPr/>
          <p:nvPr/>
        </p:nvSpPr>
        <p:spPr>
          <a:xfrm>
            <a:off x="6318504" y="1463040"/>
            <a:ext cx="2377440" cy="685800"/>
          </a:xfrm>
          <a:prstGeom prst="roundRect">
            <a:avLst>
              <a:gd name="adj" fmla="val 30000"/>
            </a:avLst>
          </a:prstGeom>
          <a:solidFill>
            <a:srgbClr val="EAF1F8"/>
          </a:solidFill>
          <a:ln w="19050">
            <a:solidFill>
              <a:srgbClr val="1F5596"/>
            </a:solidFill>
          </a:ln>
        </p:spPr>
        <p:txBody>
          <a:bodyPr wrap="square" lIns="91440" tIns="45720" rIns="91440" bIns="4572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i="0" dirty="0">
                <a:solidFill>
                  <a:srgbClr val="1F5596"/>
                </a:solidFill>
                <a:latin typeface="Calibri"/>
                <a:ea typeface="Calibri"/>
                <a:cs typeface="Calibri"/>
              </a:rPr>
              <a:t>Orçamento Enviado</a:t>
            </a:r>
            <a:endParaRPr lang="pt-BR" sz="1800" dirty="0"/>
          </a:p>
        </p:txBody>
      </p:sp>
      <p:sp>
        <p:nvSpPr>
          <p:cNvPr id="210" name="Seta 210"/>
          <p:cNvSpPr/>
          <p:nvPr/>
        </p:nvSpPr>
        <p:spPr>
          <a:xfrm>
            <a:off x="8750808" y="1645920"/>
            <a:ext cx="420624" cy="329184"/>
          </a:xfrm>
          <a:prstGeom prst="rightArrow">
            <a:avLst/>
          </a:prstGeom>
          <a:solidFill>
            <a:srgbClr val="1F5596"/>
          </a:solidFill>
          <a:ln>
            <a:noFill/>
          </a:ln>
        </p:spPr>
      </p:sp>
      <p:sp>
        <p:nvSpPr>
          <p:cNvPr id="211" name="Seta 211"/>
          <p:cNvSpPr/>
          <p:nvPr/>
        </p:nvSpPr>
        <p:spPr>
          <a:xfrm>
            <a:off x="7342632" y="2212848"/>
            <a:ext cx="329184" cy="384048"/>
          </a:xfrm>
          <a:prstGeom prst="downArrow">
            <a:avLst/>
          </a:prstGeom>
          <a:solidFill>
            <a:srgbClr val="C2185B"/>
          </a:solidFill>
          <a:ln>
            <a:noFill/>
          </a:ln>
        </p:spPr>
      </p:sp>
      <p:sp>
        <p:nvSpPr>
          <p:cNvPr id="212" name="Forma 212"/>
          <p:cNvSpPr/>
          <p:nvPr/>
        </p:nvSpPr>
        <p:spPr>
          <a:xfrm>
            <a:off x="9226296" y="1463040"/>
            <a:ext cx="2377440" cy="685800"/>
          </a:xfrm>
          <a:prstGeom prst="roundRect">
            <a:avLst>
              <a:gd name="adj" fmla="val 30000"/>
            </a:avLst>
          </a:prstGeom>
          <a:solidFill>
            <a:srgbClr val="E6F4EA"/>
          </a:solidFill>
          <a:ln w="19050">
            <a:solidFill>
              <a:srgbClr val="2E7D32"/>
            </a:solidFill>
          </a:ln>
        </p:spPr>
        <p:txBody>
          <a:bodyPr wrap="square" lIns="91440" tIns="45720" rIns="91440" bIns="4572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i="0" dirty="0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Fechado</a:t>
            </a:r>
            <a:endParaRPr lang="pt-BR" sz="1800" dirty="0"/>
          </a:p>
        </p:txBody>
      </p:sp>
      <p:sp>
        <p:nvSpPr>
          <p:cNvPr id="213" name="Forma 213"/>
          <p:cNvSpPr/>
          <p:nvPr/>
        </p:nvSpPr>
        <p:spPr>
          <a:xfrm>
            <a:off x="502920" y="2651760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FCE8EE"/>
          </a:solidFill>
          <a:ln w="19050">
            <a:solidFill>
              <a:srgbClr val="C2185B"/>
            </a:solidFill>
          </a:ln>
        </p:spPr>
        <p:txBody>
          <a:bodyPr wrap="square" lIns="91440" tIns="45720" rIns="91440" bIns="4572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b="1" i="0" dirty="0">
                <a:solidFill>
                  <a:srgbClr val="C2185B"/>
                </a:solidFill>
                <a:latin typeface="Calibri"/>
                <a:ea typeface="Calibri"/>
                <a:cs typeface="Calibri"/>
              </a:rPr>
              <a:t>Perdido</a:t>
            </a:r>
            <a:r>
              <a:rPr lang="pt-BR" sz="1700" b="0" i="0" dirty="0">
                <a:solidFill>
                  <a:srgbClr val="C2185B"/>
                </a:solidFill>
                <a:latin typeface="Calibri"/>
                <a:ea typeface="Calibri"/>
                <a:cs typeface="Calibri"/>
              </a:rPr>
              <a:t xml:space="preserve">  (possível a partir de qualquer estágio em aberto)</a:t>
            </a:r>
            <a:endParaRPr lang="pt-BR" sz="1700" dirty="0"/>
          </a:p>
        </p:txBody>
      </p:sp>
      <p:sp>
        <p:nvSpPr>
          <p:cNvPr id="214" name="Cartao 214"/>
          <p:cNvSpPr/>
          <p:nvPr/>
        </p:nvSpPr>
        <p:spPr>
          <a:xfrm>
            <a:off x="457200" y="347472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</p:sp>
      <p:sp>
        <p:nvSpPr>
          <p:cNvPr id="215" name="Texto 215"/>
          <p:cNvSpPr txBox="1"/>
          <p:nvPr/>
        </p:nvSpPr>
        <p:spPr>
          <a:xfrm>
            <a:off x="685800" y="370332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 b="1" i="0" dirty="0">
                <a:solidFill>
                  <a:srgbClr val="1F5596"/>
                </a:solidFill>
                <a:latin typeface="Calibri"/>
                <a:ea typeface="Calibri"/>
                <a:cs typeface="Calibri"/>
              </a:rPr>
              <a:t>Sem pular etapas</a:t>
            </a:r>
            <a:endParaRPr lang="pt-BR" sz="1900" dirty="0"/>
          </a:p>
        </p:txBody>
      </p:sp>
      <p:sp>
        <p:nvSpPr>
          <p:cNvPr id="216" name="Texto 216"/>
          <p:cNvSpPr txBox="1"/>
          <p:nvPr/>
        </p:nvSpPr>
        <p:spPr>
          <a:xfrm>
            <a:off x="685800" y="4142232"/>
            <a:ext cx="310896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Novo Contato direto para Fechado é recusado. As transições ficam num único lugar do código e a API as informa ao frontend.</a:t>
            </a:r>
            <a:endParaRPr lang="pt-BR" sz="1500" dirty="0"/>
          </a:p>
        </p:txBody>
      </p:sp>
      <p:sp>
        <p:nvSpPr>
          <p:cNvPr id="217" name="Cartao 217"/>
          <p:cNvSpPr/>
          <p:nvPr/>
        </p:nvSpPr>
        <p:spPr>
          <a:xfrm>
            <a:off x="4297680" y="347472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</p:sp>
      <p:sp>
        <p:nvSpPr>
          <p:cNvPr id="218" name="Texto 218"/>
          <p:cNvSpPr txBox="1"/>
          <p:nvPr/>
        </p:nvSpPr>
        <p:spPr>
          <a:xfrm>
            <a:off x="4526280" y="370332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 b="1" i="0" dirty="0">
                <a:solidFill>
                  <a:srgbClr val="1F5596"/>
                </a:solidFill>
                <a:latin typeface="Calibri"/>
                <a:ea typeface="Calibri"/>
                <a:cs typeface="Calibri"/>
              </a:rPr>
              <a:t>Valor obrigatório</a:t>
            </a:r>
            <a:endParaRPr lang="pt-BR" sz="1900" dirty="0"/>
          </a:p>
        </p:txBody>
      </p:sp>
      <p:sp>
        <p:nvSpPr>
          <p:cNvPr id="219" name="Texto 219"/>
          <p:cNvSpPr txBox="1"/>
          <p:nvPr/>
        </p:nvSpPr>
        <p:spPr>
          <a:xfrm>
            <a:off x="4526280" y="4142232"/>
            <a:ext cx="310896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Só entra em Orçamento Enviado ou Fechado o orçamento que já tem valor definido.</a:t>
            </a:r>
            <a:endParaRPr lang="pt-BR" sz="1500" dirty="0"/>
          </a:p>
        </p:txBody>
      </p:sp>
      <p:sp>
        <p:nvSpPr>
          <p:cNvPr id="220" name="Cartao 220"/>
          <p:cNvSpPr/>
          <p:nvPr/>
        </p:nvSpPr>
        <p:spPr>
          <a:xfrm>
            <a:off x="8138160" y="347472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</p:sp>
      <p:sp>
        <p:nvSpPr>
          <p:cNvPr id="221" name="Texto 221"/>
          <p:cNvSpPr txBox="1"/>
          <p:nvPr/>
        </p:nvSpPr>
        <p:spPr>
          <a:xfrm>
            <a:off x="8366760" y="370332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 b="1" i="0" dirty="0">
                <a:solidFill>
                  <a:srgbClr val="1F5596"/>
                </a:solidFill>
                <a:latin typeface="Calibri"/>
                <a:ea typeface="Calibri"/>
                <a:cs typeface="Calibri"/>
              </a:rPr>
              <a:t>Estados finais</a:t>
            </a:r>
            <a:endParaRPr lang="pt-BR" sz="1900" dirty="0"/>
          </a:p>
        </p:txBody>
      </p:sp>
      <p:sp>
        <p:nvSpPr>
          <p:cNvPr id="222" name="Texto 222"/>
          <p:cNvSpPr txBox="1"/>
          <p:nvPr/>
        </p:nvSpPr>
        <p:spPr>
          <a:xfrm>
            <a:off x="8366760" y="4142232"/>
            <a:ext cx="310896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Fechado e Perdido encerram o orçamento: ele não volta para o funil.</a:t>
            </a:r>
            <a:endParaRPr lang="pt-BR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exto 201"/>
          <p:cNvSpPr txBox="1"/>
          <p:nvPr/>
        </p:nvSpPr>
        <p:spPr>
          <a:xfrm>
            <a:off x="457200" y="20116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b="1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DESCRIÇÃO DO PROJETO</a:t>
            </a:r>
            <a:endParaRPr lang="pt-BR" sz="4000" dirty="0"/>
          </a:p>
        </p:txBody>
      </p:sp>
      <p:sp>
        <p:nvSpPr>
          <p:cNvPr id="202" name="Texto 20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1" dirty="0">
                <a:solidFill>
                  <a:srgbClr val="2B7A99"/>
                </a:solidFill>
                <a:latin typeface="Calibri"/>
                <a:ea typeface="Calibri"/>
                <a:cs typeface="Calibri"/>
              </a:rPr>
              <a:t>3/4 · Banco de dados, API e segurança</a:t>
            </a:r>
            <a:endParaRPr lang="pt-BR" sz="1800" dirty="0"/>
          </a:p>
        </p:txBody>
      </p:sp>
      <p:sp>
        <p:nvSpPr>
          <p:cNvPr id="203" name="Forma 203"/>
          <p:cNvSpPr/>
          <p:nvPr/>
        </p:nvSpPr>
        <p:spPr>
          <a:xfrm>
            <a:off x="457200" y="1417320"/>
            <a:ext cx="3566160" cy="397764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</p:spPr>
      </p:sp>
      <p:sp>
        <p:nvSpPr>
          <p:cNvPr id="204" name="Texto 204"/>
          <p:cNvSpPr txBox="1"/>
          <p:nvPr/>
        </p:nvSpPr>
        <p:spPr>
          <a:xfrm>
            <a:off x="731520" y="1554480"/>
            <a:ext cx="301752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400" b="1" i="0" dirty="0">
                <a:solidFill>
                  <a:srgbClr val="1F5596"/>
                </a:solidFill>
                <a:latin typeface="Calibri"/>
                <a:ea typeface="Calibri"/>
                <a:cs typeface="Calibri"/>
              </a:rPr>
              <a:t>4</a:t>
            </a:r>
            <a:r>
              <a:rPr lang="pt-BR" sz="2000" b="1" i="0" dirty="0">
                <a:solidFill>
                  <a:srgbClr val="1F5596"/>
                </a:solidFill>
                <a:latin typeface="Calibri"/>
                <a:ea typeface="Calibri"/>
                <a:cs typeface="Calibri"/>
              </a:rPr>
              <a:t xml:space="preserve">  tabelas</a:t>
            </a:r>
            <a:endParaRPr lang="pt-BR" sz="2000" dirty="0"/>
          </a:p>
        </p:txBody>
      </p:sp>
      <p:sp>
        <p:nvSpPr>
          <p:cNvPr id="205" name="Texto 205"/>
          <p:cNvSpPr txBox="1"/>
          <p:nvPr/>
        </p:nvSpPr>
        <p:spPr>
          <a:xfrm>
            <a:off x="731520" y="260604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i="0" dirty="0">
                <a:solidFill>
                  <a:srgbClr val="1F5596"/>
                </a:solidFill>
                <a:latin typeface="Calibri"/>
                <a:ea typeface="Calibri"/>
                <a:cs typeface="Calibri"/>
              </a:rPr>
              <a:t>Banco de dados</a:t>
            </a:r>
            <a:endParaRPr lang="pt-BR" sz="2000" dirty="0"/>
          </a:p>
        </p:txBody>
      </p:sp>
      <p:sp>
        <p:nvSpPr>
          <p:cNvPr id="206" name="Texto 206"/>
          <p:cNvSpPr txBox="1"/>
          <p:nvPr/>
        </p:nvSpPr>
        <p:spPr>
          <a:xfrm>
            <a:off x="731520" y="3108960"/>
            <a:ext cx="3017520" cy="2240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pt-BR" sz="18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PostgreSQL 17: usuario, cliente, orcamento e interacao.</a:t>
            </a:r>
            <a:endParaRPr lang="pt-BR" sz="18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pt-BR" sz="18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Migrations versionadas com Alembic.</a:t>
            </a:r>
            <a:endParaRPr lang="pt-BR" sz="1800" dirty="0"/>
          </a:p>
        </p:txBody>
      </p:sp>
      <p:sp>
        <p:nvSpPr>
          <p:cNvPr id="207" name="Forma 207"/>
          <p:cNvSpPr/>
          <p:nvPr/>
        </p:nvSpPr>
        <p:spPr>
          <a:xfrm>
            <a:off x="4297680" y="1417320"/>
            <a:ext cx="3566160" cy="397764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</p:spPr>
      </p:sp>
      <p:sp>
        <p:nvSpPr>
          <p:cNvPr id="208" name="Texto 208"/>
          <p:cNvSpPr txBox="1"/>
          <p:nvPr/>
        </p:nvSpPr>
        <p:spPr>
          <a:xfrm>
            <a:off x="4572000" y="1554480"/>
            <a:ext cx="301752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400" b="1" i="0" dirty="0">
                <a:solidFill>
                  <a:srgbClr val="2B7A99"/>
                </a:solidFill>
                <a:latin typeface="Calibri"/>
                <a:ea typeface="Calibri"/>
                <a:cs typeface="Calibri"/>
              </a:rPr>
              <a:t>14</a:t>
            </a:r>
            <a:r>
              <a:rPr lang="pt-BR" sz="2000" b="1" i="0" dirty="0">
                <a:solidFill>
                  <a:srgbClr val="2B7A99"/>
                </a:solidFill>
                <a:latin typeface="Calibri"/>
                <a:ea typeface="Calibri"/>
                <a:cs typeface="Calibri"/>
              </a:rPr>
              <a:t xml:space="preserve">  rotas REST</a:t>
            </a:r>
            <a:endParaRPr lang="pt-BR" sz="2000" dirty="0"/>
          </a:p>
        </p:txBody>
      </p:sp>
      <p:sp>
        <p:nvSpPr>
          <p:cNvPr id="209" name="Texto 209"/>
          <p:cNvSpPr txBox="1"/>
          <p:nvPr/>
        </p:nvSpPr>
        <p:spPr>
          <a:xfrm>
            <a:off x="4572000" y="260604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i="0" dirty="0">
                <a:solidFill>
                  <a:srgbClr val="1F5596"/>
                </a:solidFill>
                <a:latin typeface="Calibri"/>
                <a:ea typeface="Calibri"/>
                <a:cs typeface="Calibri"/>
              </a:rPr>
              <a:t>API</a:t>
            </a:r>
            <a:endParaRPr lang="pt-BR" sz="2000" dirty="0"/>
          </a:p>
        </p:txBody>
      </p:sp>
      <p:sp>
        <p:nvSpPr>
          <p:cNvPr id="210" name="Texto 210"/>
          <p:cNvSpPr txBox="1"/>
          <p:nvPr/>
        </p:nvSpPr>
        <p:spPr>
          <a:xfrm>
            <a:off x="4572000" y="3108960"/>
            <a:ext cx="3017520" cy="2240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pt-BR" sz="18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FastAPI com documentação Swagger gerada automaticamente.</a:t>
            </a:r>
            <a:endParaRPr lang="pt-BR" sz="18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pt-BR" sz="18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Todos os erros no mesmo formato.</a:t>
            </a:r>
            <a:endParaRPr lang="pt-BR" sz="1800" dirty="0"/>
          </a:p>
        </p:txBody>
      </p:sp>
      <p:sp>
        <p:nvSpPr>
          <p:cNvPr id="211" name="Forma 211"/>
          <p:cNvSpPr/>
          <p:nvPr/>
        </p:nvSpPr>
        <p:spPr>
          <a:xfrm>
            <a:off x="8138160" y="1417320"/>
            <a:ext cx="3566160" cy="397764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</p:spPr>
      </p:sp>
      <p:sp>
        <p:nvSpPr>
          <p:cNvPr id="212" name="Texto 212"/>
          <p:cNvSpPr txBox="1"/>
          <p:nvPr/>
        </p:nvSpPr>
        <p:spPr>
          <a:xfrm>
            <a:off x="8412480" y="1554480"/>
            <a:ext cx="301752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400" b="1" i="0" dirty="0">
                <a:solidFill>
                  <a:srgbClr val="7B3F98"/>
                </a:solidFill>
                <a:latin typeface="Calibri"/>
                <a:ea typeface="Calibri"/>
                <a:cs typeface="Calibri"/>
              </a:rPr>
              <a:t>JWT</a:t>
            </a:r>
            <a:r>
              <a:rPr lang="pt-BR" sz="2000" b="1" i="0" dirty="0">
                <a:solidFill>
                  <a:srgbClr val="7B3F98"/>
                </a:solidFill>
                <a:latin typeface="Calibri"/>
                <a:ea typeface="Calibri"/>
                <a:cs typeface="Calibri"/>
              </a:rPr>
              <a:t xml:space="preserve">  + scrypt</a:t>
            </a:r>
            <a:endParaRPr lang="pt-BR" sz="2000" dirty="0"/>
          </a:p>
        </p:txBody>
      </p:sp>
      <p:sp>
        <p:nvSpPr>
          <p:cNvPr id="213" name="Texto 213"/>
          <p:cNvSpPr txBox="1"/>
          <p:nvPr/>
        </p:nvSpPr>
        <p:spPr>
          <a:xfrm>
            <a:off x="8412480" y="260604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i="0" dirty="0">
                <a:solidFill>
                  <a:srgbClr val="1F5596"/>
                </a:solidFill>
                <a:latin typeface="Calibri"/>
                <a:ea typeface="Calibri"/>
                <a:cs typeface="Calibri"/>
              </a:rPr>
              <a:t>Segurança</a:t>
            </a:r>
            <a:endParaRPr lang="pt-BR" sz="2000" dirty="0"/>
          </a:p>
        </p:txBody>
      </p:sp>
      <p:sp>
        <p:nvSpPr>
          <p:cNvPr id="214" name="Texto 214"/>
          <p:cNvSpPr txBox="1"/>
          <p:nvPr/>
        </p:nvSpPr>
        <p:spPr>
          <a:xfrm>
            <a:off x="8412480" y="3108960"/>
            <a:ext cx="3017520" cy="2240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pt-BR" sz="18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Login gera um token JWT com validade.</a:t>
            </a:r>
            <a:endParaRPr lang="pt-BR" sz="18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pt-BR" sz="18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Senhas guardadas só como hash scrypt; perfis Usuário e Administrador.</a:t>
            </a:r>
            <a:endParaRPr lang="pt-BR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exto 201"/>
          <p:cNvSpPr txBox="1"/>
          <p:nvPr/>
        </p:nvSpPr>
        <p:spPr>
          <a:xfrm>
            <a:off x="457200" y="20116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b="1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DESCRIÇÃO DO PROJETO</a:t>
            </a:r>
            <a:endParaRPr lang="pt-BR" sz="4000" dirty="0"/>
          </a:p>
        </p:txBody>
      </p:sp>
      <p:sp>
        <p:nvSpPr>
          <p:cNvPr id="202" name="Texto 20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1" dirty="0">
                <a:solidFill>
                  <a:srgbClr val="2B7A99"/>
                </a:solidFill>
                <a:latin typeface="Calibri"/>
                <a:ea typeface="Calibri"/>
                <a:cs typeface="Calibri"/>
              </a:rPr>
              <a:t>4/4 · Qualidade e entrega com Docker</a:t>
            </a:r>
            <a:endParaRPr lang="pt-BR" sz="1800" dirty="0"/>
          </a:p>
        </p:txBody>
      </p:sp>
      <p:sp>
        <p:nvSpPr>
          <p:cNvPr id="203" name="Forma 203"/>
          <p:cNvSpPr/>
          <p:nvPr/>
        </p:nvSpPr>
        <p:spPr>
          <a:xfrm>
            <a:off x="457200" y="1417320"/>
            <a:ext cx="5486400" cy="1207008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>
            <a:noFill/>
          </a:ln>
        </p:spPr>
      </p:sp>
      <p:sp>
        <p:nvSpPr>
          <p:cNvPr id="204" name="Texto 204"/>
          <p:cNvSpPr txBox="1"/>
          <p:nvPr/>
        </p:nvSpPr>
        <p:spPr>
          <a:xfrm>
            <a:off x="640080" y="1417320"/>
            <a:ext cx="1828800" cy="12070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1" i="0" dirty="0">
                <a:solidFill>
                  <a:srgbClr val="1F5596"/>
                </a:solidFill>
                <a:latin typeface="Calibri"/>
                <a:ea typeface="Calibri"/>
                <a:cs typeface="Calibri"/>
              </a:rPr>
              <a:t>424</a:t>
            </a:r>
            <a:endParaRPr lang="pt-BR" sz="4400" dirty="0"/>
          </a:p>
        </p:txBody>
      </p:sp>
      <p:sp>
        <p:nvSpPr>
          <p:cNvPr id="205" name="Texto 205"/>
          <p:cNvSpPr txBox="1"/>
          <p:nvPr/>
        </p:nvSpPr>
        <p:spPr>
          <a:xfrm>
            <a:off x="2560320" y="1600200"/>
            <a:ext cx="32918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i="0" dirty="0">
                <a:solidFill>
                  <a:srgbClr val="1F5596"/>
                </a:solidFill>
                <a:latin typeface="Calibri"/>
                <a:ea typeface="Calibri"/>
                <a:cs typeface="Calibri"/>
              </a:rPr>
              <a:t>testes automatizados</a:t>
            </a:r>
            <a:endParaRPr lang="pt-BR" sz="18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dirty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207 de unidade, 216 de integração e 1 de ponta a ponta</a:t>
            </a:r>
            <a:endParaRPr lang="pt-BR" sz="1400" dirty="0"/>
          </a:p>
        </p:txBody>
      </p:sp>
      <p:sp>
        <p:nvSpPr>
          <p:cNvPr id="206" name="Forma 206"/>
          <p:cNvSpPr/>
          <p:nvPr/>
        </p:nvSpPr>
        <p:spPr>
          <a:xfrm>
            <a:off x="457200" y="2761488"/>
            <a:ext cx="5486400" cy="1207008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>
            <a:noFill/>
          </a:ln>
        </p:spPr>
      </p:sp>
      <p:sp>
        <p:nvSpPr>
          <p:cNvPr id="207" name="Texto 207"/>
          <p:cNvSpPr txBox="1"/>
          <p:nvPr/>
        </p:nvSpPr>
        <p:spPr>
          <a:xfrm>
            <a:off x="640080" y="2761488"/>
            <a:ext cx="1828800" cy="12070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1" i="0" dirty="0">
                <a:solidFill>
                  <a:srgbClr val="2B7A99"/>
                </a:solidFill>
                <a:latin typeface="Calibri"/>
                <a:ea typeface="Calibri"/>
                <a:cs typeface="Calibri"/>
              </a:rPr>
              <a:t>100%</a:t>
            </a:r>
            <a:endParaRPr lang="pt-BR" sz="4400" dirty="0"/>
          </a:p>
        </p:txBody>
      </p:sp>
      <p:sp>
        <p:nvSpPr>
          <p:cNvPr id="208" name="Texto 208"/>
          <p:cNvSpPr txBox="1"/>
          <p:nvPr/>
        </p:nvSpPr>
        <p:spPr>
          <a:xfrm>
            <a:off x="2560320" y="2944368"/>
            <a:ext cx="32918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i="0" dirty="0">
                <a:solidFill>
                  <a:srgbClr val="1F5596"/>
                </a:solidFill>
                <a:latin typeface="Calibri"/>
                <a:ea typeface="Calibri"/>
                <a:cs typeface="Calibri"/>
              </a:rPr>
              <a:t>de cobertura</a:t>
            </a:r>
            <a:endParaRPr lang="pt-BR" sz="18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dirty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linhas e desvios; a meta da disciplina é 80%</a:t>
            </a:r>
            <a:endParaRPr lang="pt-BR" sz="1400" dirty="0"/>
          </a:p>
        </p:txBody>
      </p:sp>
      <p:sp>
        <p:nvSpPr>
          <p:cNvPr id="209" name="Forma 209"/>
          <p:cNvSpPr/>
          <p:nvPr/>
        </p:nvSpPr>
        <p:spPr>
          <a:xfrm>
            <a:off x="457200" y="4105656"/>
            <a:ext cx="5486400" cy="1207008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>
            <a:noFill/>
          </a:ln>
        </p:spPr>
      </p:sp>
      <p:sp>
        <p:nvSpPr>
          <p:cNvPr id="210" name="Texto 210"/>
          <p:cNvSpPr txBox="1"/>
          <p:nvPr/>
        </p:nvSpPr>
        <p:spPr>
          <a:xfrm>
            <a:off x="640080" y="4105656"/>
            <a:ext cx="1828800" cy="12070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1" i="0" dirty="0">
                <a:solidFill>
                  <a:srgbClr val="7B3F98"/>
                </a:solidFill>
                <a:latin typeface="Calibri"/>
                <a:ea typeface="Calibri"/>
                <a:cs typeface="Calibri"/>
              </a:rPr>
              <a:t>0</a:t>
            </a:r>
            <a:endParaRPr lang="pt-BR" sz="4400" dirty="0"/>
          </a:p>
        </p:txBody>
      </p:sp>
      <p:sp>
        <p:nvSpPr>
          <p:cNvPr id="211" name="Texto 211"/>
          <p:cNvSpPr txBox="1"/>
          <p:nvPr/>
        </p:nvSpPr>
        <p:spPr>
          <a:xfrm>
            <a:off x="2560320" y="4288536"/>
            <a:ext cx="32918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i="0" dirty="0">
                <a:solidFill>
                  <a:srgbClr val="1F5596"/>
                </a:solidFill>
                <a:latin typeface="Calibri"/>
                <a:ea typeface="Calibri"/>
                <a:cs typeface="Calibri"/>
              </a:rPr>
              <a:t>erros de lint e tipos</a:t>
            </a:r>
            <a:endParaRPr lang="pt-BR" sz="18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dirty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ruff e mypy no modo estrito</a:t>
            </a:r>
            <a:endParaRPr lang="pt-BR" sz="1400" dirty="0"/>
          </a:p>
        </p:txBody>
      </p:sp>
      <p:sp>
        <p:nvSpPr>
          <p:cNvPr id="212" name="Forma 212"/>
          <p:cNvSpPr/>
          <p:nvPr/>
        </p:nvSpPr>
        <p:spPr>
          <a:xfrm>
            <a:off x="6309360" y="1417320"/>
            <a:ext cx="5394960" cy="3977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F5596"/>
            </a:solidFill>
            <a:prstDash val="dash"/>
          </a:ln>
        </p:spPr>
      </p:sp>
      <p:sp>
        <p:nvSpPr>
          <p:cNvPr id="213" name="Texto 213"/>
          <p:cNvSpPr txBox="1"/>
          <p:nvPr/>
        </p:nvSpPr>
        <p:spPr>
          <a:xfrm>
            <a:off x="6537960" y="1536192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dirty="0">
                <a:solidFill>
                  <a:srgbClr val="1F5596"/>
                </a:solidFill>
                <a:latin typeface="Consolas"/>
                <a:ea typeface="Consolas"/>
                <a:cs typeface="Consolas"/>
              </a:rPr>
              <a:t>docker-compose.yml</a:t>
            </a:r>
            <a:endParaRPr lang="pt-BR" sz="1600" dirty="0"/>
          </a:p>
        </p:txBody>
      </p:sp>
      <p:sp>
        <p:nvSpPr>
          <p:cNvPr id="214" name="Forma 214"/>
          <p:cNvSpPr/>
          <p:nvPr/>
        </p:nvSpPr>
        <p:spPr>
          <a:xfrm>
            <a:off x="6537960" y="2011680"/>
            <a:ext cx="1554480" cy="960120"/>
          </a:xfrm>
          <a:prstGeom prst="roundRect">
            <a:avLst>
              <a:gd name="adj" fmla="val 12000"/>
            </a:avLst>
          </a:prstGeom>
          <a:solidFill>
            <a:srgbClr val="E3F1F5"/>
          </a:solidFill>
          <a:ln w="12700">
            <a:solidFill>
              <a:srgbClr val="2B7A99"/>
            </a:solidFill>
          </a:ln>
        </p:spPr>
        <p:txBody>
          <a:bodyPr wrap="square" lIns="45720" tIns="0" rIns="45720" bIns="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dirty="0">
                <a:solidFill>
                  <a:srgbClr val="2B7A99"/>
                </a:solidFill>
                <a:latin typeface="Calibri"/>
                <a:ea typeface="Calibri"/>
                <a:cs typeface="Calibri"/>
              </a:rPr>
              <a:t>api</a:t>
            </a:r>
            <a:endParaRPr lang="pt-BR" sz="16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0" i="0" dirty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FastAPI :8000</a:t>
            </a:r>
            <a:endParaRPr lang="pt-BR" sz="1300" dirty="0"/>
          </a:p>
        </p:txBody>
      </p:sp>
      <p:sp>
        <p:nvSpPr>
          <p:cNvPr id="215" name="Seta 215"/>
          <p:cNvSpPr/>
          <p:nvPr/>
        </p:nvSpPr>
        <p:spPr>
          <a:xfrm>
            <a:off x="7150608" y="3044952"/>
            <a:ext cx="329184" cy="411480"/>
          </a:xfrm>
          <a:prstGeom prst="downArrow">
            <a:avLst/>
          </a:prstGeom>
          <a:solidFill>
            <a:srgbClr val="2B7A99"/>
          </a:solidFill>
          <a:ln>
            <a:noFill/>
          </a:ln>
        </p:spPr>
      </p:sp>
      <p:sp>
        <p:nvSpPr>
          <p:cNvPr id="216" name="Forma 216"/>
          <p:cNvSpPr/>
          <p:nvPr/>
        </p:nvSpPr>
        <p:spPr>
          <a:xfrm>
            <a:off x="8229600" y="2011680"/>
            <a:ext cx="1554480" cy="960120"/>
          </a:xfrm>
          <a:prstGeom prst="roundRect">
            <a:avLst>
              <a:gd name="adj" fmla="val 12000"/>
            </a:avLst>
          </a:prstGeom>
          <a:solidFill>
            <a:srgbClr val="E3F1F5"/>
          </a:solidFill>
          <a:ln w="12700">
            <a:solidFill>
              <a:srgbClr val="2B7A99"/>
            </a:solidFill>
          </a:ln>
        </p:spPr>
        <p:txBody>
          <a:bodyPr wrap="square" lIns="45720" tIns="0" rIns="45720" bIns="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dirty="0">
                <a:solidFill>
                  <a:srgbClr val="2B7A99"/>
                </a:solidFill>
                <a:latin typeface="Calibri"/>
                <a:ea typeface="Calibri"/>
                <a:cs typeface="Calibri"/>
              </a:rPr>
              <a:t>pgadmin</a:t>
            </a:r>
            <a:endParaRPr lang="pt-BR" sz="16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0" i="0" dirty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banco no navegador</a:t>
            </a:r>
            <a:endParaRPr lang="pt-BR" sz="1300" dirty="0"/>
          </a:p>
        </p:txBody>
      </p:sp>
      <p:sp>
        <p:nvSpPr>
          <p:cNvPr id="217" name="Seta 217"/>
          <p:cNvSpPr/>
          <p:nvPr/>
        </p:nvSpPr>
        <p:spPr>
          <a:xfrm>
            <a:off x="8842248" y="3044952"/>
            <a:ext cx="329184" cy="411480"/>
          </a:xfrm>
          <a:prstGeom prst="downArrow">
            <a:avLst/>
          </a:prstGeom>
          <a:solidFill>
            <a:srgbClr val="2B7A99"/>
          </a:solidFill>
          <a:ln>
            <a:noFill/>
          </a:ln>
        </p:spPr>
      </p:sp>
      <p:sp>
        <p:nvSpPr>
          <p:cNvPr id="218" name="Forma 218"/>
          <p:cNvSpPr/>
          <p:nvPr/>
        </p:nvSpPr>
        <p:spPr>
          <a:xfrm>
            <a:off x="9921240" y="2011680"/>
            <a:ext cx="1554480" cy="960120"/>
          </a:xfrm>
          <a:prstGeom prst="roundRect">
            <a:avLst>
              <a:gd name="adj" fmla="val 12000"/>
            </a:avLst>
          </a:prstGeom>
          <a:solidFill>
            <a:srgbClr val="E3F1F5"/>
          </a:solidFill>
          <a:ln w="12700">
            <a:solidFill>
              <a:srgbClr val="2B7A99"/>
            </a:solidFill>
          </a:ln>
        </p:spPr>
        <p:txBody>
          <a:bodyPr wrap="square" lIns="45720" tIns="0" rIns="45720" bIns="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dirty="0">
                <a:solidFill>
                  <a:srgbClr val="2B7A99"/>
                </a:solidFill>
                <a:latin typeface="Calibri"/>
                <a:ea typeface="Calibri"/>
                <a:cs typeface="Calibri"/>
              </a:rPr>
              <a:t>testes</a:t>
            </a:r>
            <a:endParaRPr lang="pt-BR" sz="16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0" i="0" dirty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pytest --cov</a:t>
            </a:r>
            <a:endParaRPr lang="pt-BR" sz="1300" dirty="0"/>
          </a:p>
        </p:txBody>
      </p:sp>
      <p:sp>
        <p:nvSpPr>
          <p:cNvPr id="219" name="Seta 219"/>
          <p:cNvSpPr/>
          <p:nvPr/>
        </p:nvSpPr>
        <p:spPr>
          <a:xfrm>
            <a:off x="10533888" y="3044952"/>
            <a:ext cx="329184" cy="411480"/>
          </a:xfrm>
          <a:prstGeom prst="downArrow">
            <a:avLst/>
          </a:prstGeom>
          <a:solidFill>
            <a:srgbClr val="2B7A99"/>
          </a:solidFill>
          <a:ln>
            <a:noFill/>
          </a:ln>
        </p:spPr>
      </p:sp>
      <p:sp>
        <p:nvSpPr>
          <p:cNvPr id="220" name="Forma 220"/>
          <p:cNvSpPr/>
          <p:nvPr/>
        </p:nvSpPr>
        <p:spPr>
          <a:xfrm>
            <a:off x="6537960" y="3529584"/>
            <a:ext cx="4937760" cy="868680"/>
          </a:xfrm>
          <a:prstGeom prst="roundRect">
            <a:avLst>
              <a:gd name="adj" fmla="val 12000"/>
            </a:avLst>
          </a:prstGeom>
          <a:solidFill>
            <a:srgbClr val="1F5596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db</a:t>
            </a:r>
            <a:endParaRPr lang="pt-BR" sz="17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PostgreSQL 17 · dados salvos em volume</a:t>
            </a:r>
            <a:endParaRPr lang="pt-BR" sz="1300" dirty="0"/>
          </a:p>
        </p:txBody>
      </p:sp>
      <p:sp>
        <p:nvSpPr>
          <p:cNvPr id="221" name="Texto 221"/>
          <p:cNvSpPr txBox="1"/>
          <p:nvPr/>
        </p:nvSpPr>
        <p:spPr>
          <a:xfrm>
            <a:off x="6537960" y="4572000"/>
            <a:ext cx="49377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dirty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Um comando sobe tudo:</a:t>
            </a:r>
            <a:endParaRPr lang="pt-BR" sz="14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i="0" dirty="0">
                <a:solidFill>
                  <a:srgbClr val="1F5596"/>
                </a:solidFill>
                <a:latin typeface="Consolas"/>
                <a:ea typeface="Consolas"/>
                <a:cs typeface="Consolas"/>
              </a:rPr>
              <a:t>docker compose up --build</a:t>
            </a:r>
            <a:endParaRPr lang="pt-BR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exto 201"/>
          <p:cNvSpPr txBox="1"/>
          <p:nvPr/>
        </p:nvSpPr>
        <p:spPr>
          <a:xfrm>
            <a:off x="457200" y="20116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b="1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FOTOS OU PRINTS DE TELA</a:t>
            </a:r>
            <a:endParaRPr lang="pt-BR" sz="4000" dirty="0"/>
          </a:p>
        </p:txBody>
      </p:sp>
      <p:sp>
        <p:nvSpPr>
          <p:cNvPr id="202" name="Texto 20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1" dirty="0">
                <a:solidFill>
                  <a:srgbClr val="2B7A99"/>
                </a:solidFill>
                <a:latin typeface="Calibri"/>
                <a:ea typeface="Calibri"/>
                <a:cs typeface="Calibri"/>
              </a:rPr>
              <a:t>Containers no ar e a suíte de testes executada dentro do Docker</a:t>
            </a:r>
            <a:endParaRPr lang="pt-BR" sz="1800" dirty="0"/>
          </a:p>
        </p:txBody>
      </p:sp>
      <p:pic>
        <p:nvPicPr>
          <p:cNvPr id="203" name="Imagem 203" descr="terminal.png"/>
          <p:cNvPicPr>
            <a:picLocks noChangeAspect="1"/>
          </p:cNvPicPr>
          <p:nvPr/>
        </p:nvPicPr>
        <p:blipFill>
          <a:blip r:embed="rIdImg1"/>
          <a:srcRect l="0" t="0" r="0" b="0"/>
          <a:stretch>
            <a:fillRect/>
          </a:stretch>
        </p:blipFill>
        <p:spPr>
          <a:xfrm>
            <a:off x="457200" y="1417320"/>
            <a:ext cx="7086600" cy="3621024"/>
          </a:xfrm>
          <a:prstGeom prst="rect">
            <a:avLst/>
          </a:prstGeom>
          <a:ln w="12700">
            <a:solidFill>
              <a:srgbClr val="7F7F7F"/>
            </a:solidFill>
          </a:ln>
        </p:spPr>
      </p:pic>
      <p:sp>
        <p:nvSpPr>
          <p:cNvPr id="204" name="Texto 204"/>
          <p:cNvSpPr txBox="1"/>
          <p:nvPr/>
        </p:nvSpPr>
        <p:spPr>
          <a:xfrm>
            <a:off x="457200" y="5102352"/>
            <a:ext cx="7086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dirty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Terminal: docker compose ps e docker compose run --rm testes</a:t>
            </a:r>
            <a:endParaRPr lang="pt-BR" sz="1400" dirty="0"/>
          </a:p>
        </p:txBody>
      </p:sp>
      <p:sp>
        <p:nvSpPr>
          <p:cNvPr id="205" name="Forma 205"/>
          <p:cNvSpPr/>
          <p:nvPr/>
        </p:nvSpPr>
        <p:spPr>
          <a:xfrm>
            <a:off x="7863840" y="1417320"/>
            <a:ext cx="3840480" cy="1115568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>
            <a:noFill/>
          </a:ln>
        </p:spPr>
      </p:sp>
      <p:sp>
        <p:nvSpPr>
          <p:cNvPr id="206" name="Texto 206"/>
          <p:cNvSpPr txBox="1"/>
          <p:nvPr/>
        </p:nvSpPr>
        <p:spPr>
          <a:xfrm>
            <a:off x="8001000" y="1417320"/>
            <a:ext cx="1371600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i="0" dirty="0">
                <a:solidFill>
                  <a:srgbClr val="1F5596"/>
                </a:solidFill>
                <a:latin typeface="Calibri"/>
                <a:ea typeface="Calibri"/>
                <a:cs typeface="Calibri"/>
              </a:rPr>
              <a:t>3</a:t>
            </a:r>
            <a:endParaRPr lang="pt-BR" sz="3000" dirty="0"/>
          </a:p>
        </p:txBody>
      </p:sp>
      <p:sp>
        <p:nvSpPr>
          <p:cNvPr id="207" name="Texto 207"/>
          <p:cNvSpPr txBox="1"/>
          <p:nvPr/>
        </p:nvSpPr>
        <p:spPr>
          <a:xfrm>
            <a:off x="9418320" y="1417320"/>
            <a:ext cx="2194560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containers no ar: banco, API e pgAdmin</a:t>
            </a:r>
            <a:endParaRPr lang="pt-BR" sz="1500" dirty="0"/>
          </a:p>
        </p:txBody>
      </p:sp>
      <p:sp>
        <p:nvSpPr>
          <p:cNvPr id="208" name="Forma 208"/>
          <p:cNvSpPr/>
          <p:nvPr/>
        </p:nvSpPr>
        <p:spPr>
          <a:xfrm>
            <a:off x="7863840" y="2670048"/>
            <a:ext cx="3840480" cy="1115568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>
            <a:noFill/>
          </a:ln>
        </p:spPr>
      </p:sp>
      <p:sp>
        <p:nvSpPr>
          <p:cNvPr id="209" name="Texto 209"/>
          <p:cNvSpPr txBox="1"/>
          <p:nvPr/>
        </p:nvSpPr>
        <p:spPr>
          <a:xfrm>
            <a:off x="8001000" y="2670048"/>
            <a:ext cx="1371600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i="0" dirty="0">
                <a:solidFill>
                  <a:srgbClr val="2B7A99"/>
                </a:solidFill>
                <a:latin typeface="Calibri"/>
                <a:ea typeface="Calibri"/>
                <a:cs typeface="Calibri"/>
              </a:rPr>
              <a:t>423</a:t>
            </a:r>
            <a:endParaRPr lang="pt-BR" sz="3000" dirty="0"/>
          </a:p>
        </p:txBody>
      </p:sp>
      <p:sp>
        <p:nvSpPr>
          <p:cNvPr id="210" name="Texto 210"/>
          <p:cNvSpPr txBox="1"/>
          <p:nvPr/>
        </p:nvSpPr>
        <p:spPr>
          <a:xfrm>
            <a:off x="9418320" y="2670048"/>
            <a:ext cx="2194560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testes passando em cerca de 20 segundos</a:t>
            </a:r>
            <a:endParaRPr lang="pt-BR" sz="1500" dirty="0"/>
          </a:p>
        </p:txBody>
      </p:sp>
      <p:sp>
        <p:nvSpPr>
          <p:cNvPr id="211" name="Forma 211"/>
          <p:cNvSpPr/>
          <p:nvPr/>
        </p:nvSpPr>
        <p:spPr>
          <a:xfrm>
            <a:off x="7863840" y="3922776"/>
            <a:ext cx="3840480" cy="1115568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>
            <a:noFill/>
          </a:ln>
        </p:spPr>
      </p:sp>
      <p:sp>
        <p:nvSpPr>
          <p:cNvPr id="212" name="Texto 212"/>
          <p:cNvSpPr txBox="1"/>
          <p:nvPr/>
        </p:nvSpPr>
        <p:spPr>
          <a:xfrm>
            <a:off x="8001000" y="3922776"/>
            <a:ext cx="1371600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i="0" dirty="0">
                <a:solidFill>
                  <a:srgbClr val="7B3F98"/>
                </a:solidFill>
                <a:latin typeface="Calibri"/>
                <a:ea typeface="Calibri"/>
                <a:cs typeface="Calibri"/>
              </a:rPr>
              <a:t>100%</a:t>
            </a:r>
            <a:endParaRPr lang="pt-BR" sz="3000" dirty="0"/>
          </a:p>
        </p:txBody>
      </p:sp>
      <p:sp>
        <p:nvSpPr>
          <p:cNvPr id="213" name="Texto 213"/>
          <p:cNvSpPr txBox="1"/>
          <p:nvPr/>
        </p:nvSpPr>
        <p:spPr>
          <a:xfrm>
            <a:off x="9418320" y="3922776"/>
            <a:ext cx="2194560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i="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de cobertura, acima da meta de 80%</a:t>
            </a:r>
            <a:endParaRPr lang="pt-BR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110</Words>
  <Application>Microsoft Office PowerPoint</Application>
  <PresentationFormat>Widescreen</PresentationFormat>
  <Paragraphs>46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Usuario</cp:lastModifiedBy>
  <cp:revision>5</cp:revision>
  <dcterms:modified xsi:type="dcterms:W3CDTF">2026-10-09T21:19:29Z</dcterms:modified>
</cp:coreProperties>
</file>