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B271F-6E86-4C94-9D2C-918A96BF9F5B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9AC5D4-A7AE-4F32-B908-78C6481483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674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Este material explica a Parte 1 do backend: a fundação do projeto (pastas, ferramentas) e o domínio (as regras do negócio em Python puro). A ideia é que, ao final, você consiga abrir o código, entender cada arquivo e rodar os testes sozinho.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AC5D4-A7AE-4F32-B908-78C6481483F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8788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backend foi dividido em 5 partes. Cada parte depende da anterior. Começamos pelo domínio porque ele é o centro de tudo: as regras de negócio (por exemplo, não fechar orçamento sem valor) precisam estar certas antes de pensarmos em banco de dados ou em rotas HTTP. As partes 3, 4 e 5 só vão 'plugar' tecnologia em volta de um núcleo que já está testado.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AC5D4-A7AE-4F32-B908-78C6481483F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95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Pense em círculos concêntricos. O domínio fica no centro e não conhece nada que está fora dele: não sabe que existe FastAPI, PostgreSQL ou JSON. As camadas de fora podem usar as de dentro, nunca o contrário. Vantagem prática: dá para testar as regras sem subir banco nem servidor, e trocar uma tecnologia externa sem mexer na regra de negócio. Isso é o RNF03 da documentação.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AC5D4-A7AE-4F32-B908-78C6481483F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8068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domínio é onde mora o valor do sistema: as regras do funil. Se elas estiverem erradas, nada mais importa. Como o domínio não depende de nada externo, os testes rodam instantaneamente. Isso permite usar TDD de verdade: escrever teste, rodar, ajustar, em ciclos de segundos.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AC5D4-A7AE-4F32-B908-78C6481483F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3935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Essa é a árvore de pastas criada em backend/. Só domain/ tem código nesta parte; as outras pastas existem vazias para deixar claro onde cada coisa vai morar. O código fica em src/ e os testes em tests/. O pytest.ini diz ao pytest que src/ é a raiz dos imports, por isso escrevemos 'from domain...' e não 'from src.domain...'.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AC5D4-A7AE-4F32-B908-78C6481483F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4621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pytest executa os testes. mypy faz checagem de tipos estática: como usamos anotações (por exemplo 'numero: str'), ele verifica se o código respeita esses tipos, no modo mais rigoroso (--strict). ruff é o linter/formatador: mantém o estilo uniforme. O pyproject.toml concentra a configuração de tudo isso e lista as dependências — não usamos requirements.txt. Para instalar as ferramentas: pip install --group dev.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AC5D4-A7AE-4F32-B908-78C6481483F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5368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TDD = Test-Driven Development. Primeiro escrevemos o teste descrevendo o comportamento esperado (ex.: 'mover de NOVO_CONTATO para FECHADO deve lançar TransicaoInvalida'). Rodamos e ele falha (vermelho), porque o código ainda não existe. Depois escrevemos o código mínimo para passar (verde). Por fim melhoramos o código sem mudar o comportamento (refactor), com a segurança de que os testes avisam se algo quebrar.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AC5D4-A7AE-4F32-B908-78C6481483F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0271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Value Object é um conceito do DDD. Ao contrário de uma entidade, ele não tem id: dois telefones com os mesmos dígitos são o mesmo telefone. Implementamos com dataclass(frozen=True), que torna o objeto imutável e gera a comparação por valor automaticamente. A validação fica no __post_init__: se o dado for inválido, uma exceção é lançada e o objeto nunca é criado. Assim, nenhuma outra parte do sistema precisa revalidar telefone ou e-mail.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AC5D4-A7AE-4F32-B908-78C6481483F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491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Este é o padrão usado por todos os Value Objects. (1) frozen=True deixa o objeto imutável. (2) __post_init__ é chamado automaticamente pelo dataclass logo depois do __init__. (3) Se a regex não casar, lançamos FormatoInvalido com campo='telefone'. (4) Como o objeto é frozen, usamos object.__setattr__ para gravar a versão normalizada (só dígitos) uma única vez, durante a construção. Email e ValorOrcado seguem exatamente o mesmo formato.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AC5D4-A7AE-4F32-B908-78C6481483F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0255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Esta é a regra mais importante do sistema (RF02 e RF03). Um orçamento só anda para frente, um passo por vez, e pode ir para PERDIDO a partir de qualquer estágio ativo. Para entrar em ORCAMENTO_ENVIADO ou FECHADO ele precisa ter valor definido. FECHADO e PERDIDO são terminais: não saem mais. O mapa TRANSICOES_PERMITIDAS é a fonte única de verdade — na Parte 4 ele será exposto ao frontend para o Kanban saber onde o card pode ser solto, sem reimplementar a regra em TypeScript.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AC5D4-A7AE-4F32-B908-78C6481483F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8727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Orcamento é o aggregate root do funil: é a única porta para alterar estágio, valor ou interações. Repare na ordem do mover_estagio: primeiro verifica se a transição é permitida, depois verifica a guarda de valor, e só então altera o estado e preenche a data de fechamento (RN03). A data 'hoje' é passada como parâmetro em vez de chamar date.today() lá dentro — assim os testes controlam a data e são sempre previsíveis.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AC5D4-A7AE-4F32-B908-78C6481483F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19987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Cliente e Orçamento são agregados separados, ligados apenas pelo cliente_id — assim mover um card não exige carregar todo o histórico do cliente. A Interação vive dentro do Orçamento (composição): não existe repositório próprio para ela. Usuário e Administrador usam herança; no banco os dois ficarão na mesma tabela, diferenciados pela coluna perfil.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AC5D4-A7AE-4F32-B908-78C6481483F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4436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Em vez de usar ValueError genérico, criamos exceções com nomes do negócio. Todas herdam de ErroDominio, que guarda a mensagem (para o usuário ler) e o campo (qual dado causou o problema). Isso já prepara o formato de erro definido nas especificações técnicas: na Parte 4, um único handler vai capturar ErroDominio e devolver esse JSON.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AC5D4-A7AE-4F32-B908-78C6481483F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58918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É muito comum, em projetos com Clean Architecture, alguém importar algo do framework dentro do domínio 'só para facilitar'. Esse teste impede isso de forma automática. Ele usa o módulo ast para ler os imports de cada arquivo sem executá-los. Fizemos a prova: colocamos 'import fastapi' no orcamento.py, o teste falhou apontando o arquivo exato; removemos e tudo voltou a passar.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AC5D4-A7AE-4F32-B908-78C6481483F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5402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Esses números são o critério de pronto da Parte 1 definido em docs/plano-backend.md. Os 114 testes incluem a matriz completa da máquina de estados, os Value Objects, as entidades e o teste de arquitetura.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AC5D4-A7AE-4F32-B908-78C6481483F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8922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melhor forma de entender é quebrar de propósito. Ao permitir NOVO_CONTATO -&gt; FECHADO, os testes da máquina de estados vão reclamar, mostrando exatamente qual regra foi violada. Isso mostra na prática como os testes protegem as regras de negócio.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AC5D4-A7AE-4F32-B908-78C6481483F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8836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Na Parte 2 entram os casos de uso, que coordenam o domínio: por exemplo, RegistrarNovoContato cria o Cliente e o primeiro Orçamento. Eles vão depender apenas de interfaces de repositório; nos testes usaremos repositórios falsos em memória, então ainda não precisaremos de banco de dados.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AC5D4-A7AE-4F32-B908-78C6481483F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6797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C0DD2-374D-7057-744F-90E459632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B2E514-8875-1F04-3691-E96600D15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6DE153-F520-FCC8-EF55-047B9171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BC3D8-5E49-43F9-BB1D-47DBDC91346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E4BAC7-A3E7-B66F-289B-65336A18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56C721-A7F4-7090-F0D5-9138C31C2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D4912-D8E2-4169-B4DD-07F616E270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483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4A3498-5120-9BDE-80E1-FF9A2C6C2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1187F0-1D3E-707F-A64F-C9F54F8AA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176FEB-0C7A-2E66-0C42-679DB8C6F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BC3D8-5E49-43F9-BB1D-47DBDC91346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73A2AD-A834-079A-0E36-60C88C7A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A6D511-A8A8-CE1A-EE86-AAB2768B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D4912-D8E2-4169-B4DD-07F616E270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2743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F297E-C209-136A-EC2B-397C935D3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A6FBB4-FB59-5EB2-C13B-39A3833F6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F25D06-C671-3A65-27E5-0BD3ACE9A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BC3D8-5E49-43F9-BB1D-47DBDC91346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6A1614-16D3-4F59-BEE4-D5521BED8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765A6C-A948-0B54-D1CC-8D51E9859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D4912-D8E2-4169-B4DD-07F616E270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0243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D3729-E1CF-99E0-E8A2-2E00FF96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0C57AD-75B1-2BDC-F067-4AB7B7143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07F5935-B33C-29FA-289E-34F0DB07C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C824BF-C9EE-D6F4-E479-CD6F10404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BC3D8-5E49-43F9-BB1D-47DBDC91346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9C9BC8-DAFD-D9EB-5159-1D94BD75D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927D6E7-9823-68EF-6BCF-53A9B24BE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D4912-D8E2-4169-B4DD-07F616E270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388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9F72C-582E-CE62-9895-E8B38D89B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13D498-03BC-E111-6128-9587C8CCE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131AB9A-2410-F08C-AA48-0E9559CA1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F3A16CE-E3B6-4913-BF1B-308D520C3B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AAEB6A0-45EB-BE82-B009-41F1FF0DC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29BFDE6-D94C-6180-2BBE-81B5A0D4B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BC3D8-5E49-43F9-BB1D-47DBDC91346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B5AE1C-9925-55E0-109F-161ED3BCF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76EC4D-E32F-4D8C-007B-F2EAA097C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D4912-D8E2-4169-B4DD-07F616E270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899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5AB7CE-D5FA-332D-B631-03FFBA70F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7AE6D8B-B551-E8BF-802A-7AE23880F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BC3D8-5E49-43F9-BB1D-47DBDC91346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929078B-BF38-5C56-530C-994F709C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84F3158-56AC-1202-0BB3-EDB273804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D4912-D8E2-4169-B4DD-07F616E270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1564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DF9BCD-DA04-E5E5-CA58-03D362FBE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BC3D8-5E49-43F9-BB1D-47DBDC91346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FD67431-ACA6-AC40-28A0-6BA7D4A0F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812CFC-4905-80DA-BAAA-48B87D41C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D4912-D8E2-4169-B4DD-07F616E270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3784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DB2CE-7F76-8EF7-6253-F587CE1D6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0A3A57-5A5C-0B14-CFC2-09F6307A6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806BF2-E243-0309-E548-A14DEE3EC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3F8BFE-7276-95CE-B1D3-DC366B3B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BC3D8-5E49-43F9-BB1D-47DBDC91346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D8B736-075A-A520-8FB2-5D8E0554C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8F1C07-9ACF-F3B9-7798-26E80A32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D4912-D8E2-4169-B4DD-07F616E270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519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AE0ADF-FDFA-E5E1-C5ED-42AF69CA2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86E55EA-193C-1335-9F04-F078B2E83F5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2D04E39-8134-6E78-3599-E913E10A9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A314F0-0344-32DA-FE5D-9B7C3DC0A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BC3D8-5E49-43F9-BB1D-47DBDC91346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1A15EC-1DA3-5E5D-DCE6-CC9C7113A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43D2EE-36BD-5CB5-1E1A-FDEDD3100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D4912-D8E2-4169-B4DD-07F616E270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126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6AF84-4C3B-359B-B96C-7C0A92F63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4F04D1-40EC-CA13-AF93-DF18D7233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F83A46-F4B8-59CC-253B-E2CB83188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BC3D8-5E49-43F9-BB1D-47DBDC91346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56B5E1-E844-3E03-1558-1FACC9F66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B072CD-4283-1264-B071-AE4FCEC02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D4912-D8E2-4169-B4DD-07F616E270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75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65D7A1-B11E-0C34-E0FA-E7A93A572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275FBDD-710B-9D1E-5BDB-32D64F6CD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D31946-FB35-A66C-8C8A-8BB5A77D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BC3D8-5E49-43F9-BB1D-47DBDC91346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2F7923-0D63-5827-9993-7C583703A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BFE975-223B-CDFE-AB91-1A170245E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D4912-D8E2-4169-B4DD-07F616E270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762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4E88C49-F39D-AE7E-E23F-2F26D2200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E6366F-C1F9-A848-A5B6-53D73F599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B04AE2-95BE-44EF-EB29-1689D3C4E7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BC3D8-5E49-43F9-BB1D-47DBDC91346F}" type="datetimeFigureOut">
              <a:rPr lang="pt-BR" smtClean="0"/>
              <a:t>02/10/2026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4A1F71-CD14-BFD0-1EF8-76B42929F2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A73ECB-6870-D880-D3E8-F6D64660C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D4912-D8E2-4169-B4DD-07F616E270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2492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52AD657-0D80-C66A-355F-9EB3E6AB48AE}"/>
              </a:ext>
            </a:extLst>
          </p:cNvPr>
          <p:cNvSpPr txBox="1"/>
          <p:nvPr/>
        </p:nvSpPr>
        <p:spPr>
          <a:xfrm>
            <a:off x="762000" y="1905000"/>
            <a:ext cx="10668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00" b="1">
                <a:solidFill>
                  <a:srgbClr val="E8A33D"/>
                </a:solidFill>
                <a:latin typeface="Calibri" panose="020F0502020204030204" pitchFamily="34" charset="0"/>
              </a:rPr>
              <a:t>CRM DE ATENDIMENTO E ORÇAMENTOS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BD4D8A8-12E2-3EBE-E157-7837BD675EAF}"/>
              </a:ext>
            </a:extLst>
          </p:cNvPr>
          <p:cNvSpPr txBox="1"/>
          <p:nvPr/>
        </p:nvSpPr>
        <p:spPr>
          <a:xfrm>
            <a:off x="762000" y="2235200"/>
            <a:ext cx="10668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4800" b="1">
                <a:solidFill>
                  <a:srgbClr val="FFFFFF"/>
                </a:solidFill>
                <a:latin typeface="Cambria" panose="02040503050406030204" pitchFamily="18" charset="0"/>
              </a:rPr>
              <a:t>Entendendo o Backend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E9C55E-7741-E250-3B0F-3160069DFDD5}"/>
              </a:ext>
            </a:extLst>
          </p:cNvPr>
          <p:cNvSpPr txBox="1"/>
          <p:nvPr/>
        </p:nvSpPr>
        <p:spPr>
          <a:xfrm>
            <a:off x="762000" y="3124200"/>
            <a:ext cx="1066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600">
                <a:solidFill>
                  <a:srgbClr val="CFE3DF"/>
                </a:solidFill>
                <a:latin typeface="Calibri" panose="020F0502020204030204" pitchFamily="34" charset="0"/>
              </a:rPr>
              <a:t>Parte 1 — Fundação e Domínio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FC6DFA1-C9DE-3F8A-4D12-8DC37F7C9769}"/>
              </a:ext>
            </a:extLst>
          </p:cNvPr>
          <p:cNvSpPr txBox="1"/>
          <p:nvPr/>
        </p:nvSpPr>
        <p:spPr>
          <a:xfrm>
            <a:off x="762000" y="3708400"/>
            <a:ext cx="1066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>
                <a:solidFill>
                  <a:srgbClr val="A9C4BF"/>
                </a:solidFill>
                <a:latin typeface="Calibri" panose="020F0502020204030204" pitchFamily="34" charset="0"/>
              </a:rPr>
              <a:t>O que foi feito, por que foi feito e como conferir com seus próprios olhos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CD56CFEA-E17D-4AA0-12BD-9ED5AC65D3C1}"/>
              </a:ext>
            </a:extLst>
          </p:cNvPr>
          <p:cNvSpPr/>
          <p:nvPr/>
        </p:nvSpPr>
        <p:spPr>
          <a:xfrm>
            <a:off x="762000" y="5080000"/>
            <a:ext cx="406400" cy="406400"/>
          </a:xfrm>
          <a:prstGeom prst="ellipse">
            <a:avLst/>
          </a:prstGeom>
          <a:solidFill>
            <a:srgbClr val="E8A3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440" b="1">
                <a:solidFill>
                  <a:srgbClr val="0F3B3A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D5416D3-5EDB-B69A-C86E-252D95DB6E0A}"/>
              </a:ext>
            </a:extLst>
          </p:cNvPr>
          <p:cNvSpPr/>
          <p:nvPr/>
        </p:nvSpPr>
        <p:spPr>
          <a:xfrm>
            <a:off x="1320800" y="5080000"/>
            <a:ext cx="406400" cy="406400"/>
          </a:xfrm>
          <a:prstGeom prst="ellipse">
            <a:avLst/>
          </a:prstGeom>
          <a:solidFill>
            <a:srgbClr val="0F3B3A"/>
          </a:solidFill>
          <a:ln w="19050">
            <a:solidFill>
              <a:srgbClr val="A9C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pt-BR" sz="1440" b="1">
                <a:solidFill>
                  <a:srgbClr val="CFE3D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9C1507B-6BF8-618B-BF20-2AA3A8E10F5C}"/>
              </a:ext>
            </a:extLst>
          </p:cNvPr>
          <p:cNvSpPr/>
          <p:nvPr/>
        </p:nvSpPr>
        <p:spPr>
          <a:xfrm>
            <a:off x="1879600" y="5080000"/>
            <a:ext cx="406400" cy="406400"/>
          </a:xfrm>
          <a:prstGeom prst="ellipse">
            <a:avLst/>
          </a:prstGeom>
          <a:solidFill>
            <a:srgbClr val="0F3B3A"/>
          </a:solidFill>
          <a:ln w="19050">
            <a:solidFill>
              <a:srgbClr val="A9C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pt-BR" sz="1440" b="1">
                <a:solidFill>
                  <a:srgbClr val="CFE3D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E36C39B-A8C6-7E35-ECDE-EC530ADD6905}"/>
              </a:ext>
            </a:extLst>
          </p:cNvPr>
          <p:cNvSpPr/>
          <p:nvPr/>
        </p:nvSpPr>
        <p:spPr>
          <a:xfrm>
            <a:off x="2438400" y="5080000"/>
            <a:ext cx="406400" cy="406400"/>
          </a:xfrm>
          <a:prstGeom prst="ellipse">
            <a:avLst/>
          </a:prstGeom>
          <a:solidFill>
            <a:srgbClr val="0F3B3A"/>
          </a:solidFill>
          <a:ln w="19050">
            <a:solidFill>
              <a:srgbClr val="A9C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pt-BR" sz="1440" b="1">
                <a:solidFill>
                  <a:srgbClr val="CFE3D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AFA7177-CEF9-A7C0-C854-F601EEEA1BA0}"/>
              </a:ext>
            </a:extLst>
          </p:cNvPr>
          <p:cNvSpPr/>
          <p:nvPr/>
        </p:nvSpPr>
        <p:spPr>
          <a:xfrm>
            <a:off x="2997200" y="5080000"/>
            <a:ext cx="406400" cy="406400"/>
          </a:xfrm>
          <a:prstGeom prst="ellipse">
            <a:avLst/>
          </a:prstGeom>
          <a:solidFill>
            <a:srgbClr val="0F3B3A"/>
          </a:solidFill>
          <a:ln w="19050">
            <a:solidFill>
              <a:srgbClr val="A9C4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pt-BR" sz="1440" b="1">
                <a:solidFill>
                  <a:srgbClr val="CFE3DF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4190323-1EDD-E34F-583F-0F947EB628F4}"/>
              </a:ext>
            </a:extLst>
          </p:cNvPr>
          <p:cNvSpPr txBox="1"/>
          <p:nvPr/>
        </p:nvSpPr>
        <p:spPr>
          <a:xfrm>
            <a:off x="3683000" y="5168900"/>
            <a:ext cx="381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00">
                <a:solidFill>
                  <a:srgbClr val="A9C4BF"/>
                </a:solidFill>
                <a:latin typeface="Calibri" panose="020F0502020204030204" pitchFamily="34" charset="0"/>
              </a:rPr>
              <a:t>Parte 1 de 5 do backend</a:t>
            </a:r>
          </a:p>
        </p:txBody>
      </p:sp>
    </p:spTree>
    <p:extLst>
      <p:ext uri="{BB962C8B-B14F-4D97-AF65-F5344CB8AC3E}">
        <p14:creationId xmlns:p14="http://schemas.microsoft.com/office/powerpoint/2010/main" val="1237713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D09E87A-85A7-7414-E689-241A51E4EED1}"/>
              </a:ext>
            </a:extLst>
          </p:cNvPr>
          <p:cNvSpPr txBox="1"/>
          <p:nvPr/>
        </p:nvSpPr>
        <p:spPr>
          <a:xfrm>
            <a:off x="508000" y="3302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E8A33D"/>
                </a:solidFill>
                <a:latin typeface="Calibri" panose="020F0502020204030204" pitchFamily="34" charset="0"/>
              </a:rPr>
              <a:t>VISÃO GERAL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523DE3-EB2F-07BE-63B6-24F18A36C9F5}"/>
              </a:ext>
            </a:extLst>
          </p:cNvPr>
          <p:cNvSpPr txBox="1"/>
          <p:nvPr/>
        </p:nvSpPr>
        <p:spPr>
          <a:xfrm>
            <a:off x="508000" y="5588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800" b="1">
                <a:solidFill>
                  <a:srgbClr val="0F3B3A"/>
                </a:solidFill>
                <a:latin typeface="Cambria" panose="02040503050406030204" pitchFamily="18" charset="0"/>
              </a:rPr>
              <a:t>Onde estamos no plano do backend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09FBDD4-CE2A-8B2D-4B20-84A46E4C5D59}"/>
              </a:ext>
            </a:extLst>
          </p:cNvPr>
          <p:cNvSpPr txBox="1"/>
          <p:nvPr/>
        </p:nvSpPr>
        <p:spPr>
          <a:xfrm>
            <a:off x="11049000" y="6502400"/>
            <a:ext cx="635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B6B69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422DA16-E972-7630-DA5F-A5A0997CAE6C}"/>
              </a:ext>
            </a:extLst>
          </p:cNvPr>
          <p:cNvSpPr/>
          <p:nvPr/>
        </p:nvSpPr>
        <p:spPr>
          <a:xfrm>
            <a:off x="508000" y="1422400"/>
            <a:ext cx="2133600" cy="3175000"/>
          </a:xfrm>
          <a:prstGeom prst="roundRect">
            <a:avLst>
              <a:gd name="adj" fmla="val 6000"/>
            </a:avLst>
          </a:prstGeom>
          <a:solidFill>
            <a:srgbClr val="0F3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641C94B-66BB-E7B7-9512-37F8302B8F28}"/>
              </a:ext>
            </a:extLst>
          </p:cNvPr>
          <p:cNvSpPr/>
          <p:nvPr/>
        </p:nvSpPr>
        <p:spPr>
          <a:xfrm>
            <a:off x="711200" y="1625600"/>
            <a:ext cx="457200" cy="457200"/>
          </a:xfrm>
          <a:prstGeom prst="ellipse">
            <a:avLst/>
          </a:prstGeom>
          <a:solidFill>
            <a:srgbClr val="E8A3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620" b="1">
                <a:solidFill>
                  <a:srgbClr val="0F3B3A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C561702-C735-A5F6-4812-9B37A141A392}"/>
              </a:ext>
            </a:extLst>
          </p:cNvPr>
          <p:cNvSpPr txBox="1"/>
          <p:nvPr/>
        </p:nvSpPr>
        <p:spPr>
          <a:xfrm>
            <a:off x="711200" y="2260600"/>
            <a:ext cx="1778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 b="1">
                <a:solidFill>
                  <a:srgbClr val="FFFFFF"/>
                </a:solidFill>
                <a:latin typeface="Calibri" panose="020F0502020204030204" pitchFamily="34" charset="0"/>
              </a:rPr>
              <a:t>Fundação + Domínio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ED9355D-13E3-EABF-FA6C-8E31DD6AD4BE}"/>
              </a:ext>
            </a:extLst>
          </p:cNvPr>
          <p:cNvSpPr txBox="1"/>
          <p:nvPr/>
        </p:nvSpPr>
        <p:spPr>
          <a:xfrm>
            <a:off x="711200" y="2870200"/>
            <a:ext cx="177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CFE3DF"/>
                </a:solidFill>
                <a:latin typeface="Calibri" panose="020F0502020204030204" pitchFamily="34" charset="0"/>
              </a:rPr>
              <a:t>Regras do negócio em Python puro, com testes.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421FC4B-B368-0FBF-4930-F5C73639376E}"/>
              </a:ext>
            </a:extLst>
          </p:cNvPr>
          <p:cNvSpPr/>
          <p:nvPr/>
        </p:nvSpPr>
        <p:spPr>
          <a:xfrm>
            <a:off x="711200" y="4038600"/>
            <a:ext cx="1727200" cy="330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0480" rIns="50800" bIns="30480" rtlCol="0" anchor="ctr"/>
          <a:lstStyle/>
          <a:p>
            <a:pPr algn="ctr"/>
            <a:r>
              <a:rPr lang="pt-BR" sz="1100" b="1">
                <a:solidFill>
                  <a:srgbClr val="0F3B3A"/>
                </a:solidFill>
                <a:latin typeface="Calibri" panose="020F0502020204030204" pitchFamily="34" charset="0"/>
              </a:rPr>
              <a:t>VOCÊ ESTÁ AQUI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F796C60-2DE7-A34D-03E3-B35CC4D4BBC1}"/>
              </a:ext>
            </a:extLst>
          </p:cNvPr>
          <p:cNvSpPr/>
          <p:nvPr/>
        </p:nvSpPr>
        <p:spPr>
          <a:xfrm>
            <a:off x="2768600" y="1422400"/>
            <a:ext cx="2133600" cy="31750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7EAFE3E5-1651-D503-46BA-E06B94EEE300}"/>
              </a:ext>
            </a:extLst>
          </p:cNvPr>
          <p:cNvSpPr/>
          <p:nvPr/>
        </p:nvSpPr>
        <p:spPr>
          <a:xfrm>
            <a:off x="2971800" y="1625600"/>
            <a:ext cx="457200" cy="457200"/>
          </a:xfrm>
          <a:prstGeom prst="ellipse">
            <a:avLst/>
          </a:prstGeom>
          <a:solidFill>
            <a:srgbClr val="1F6F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62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5E1910F-5663-7FFA-1EF8-8F7CD61FBBAB}"/>
              </a:ext>
            </a:extLst>
          </p:cNvPr>
          <p:cNvSpPr txBox="1"/>
          <p:nvPr/>
        </p:nvSpPr>
        <p:spPr>
          <a:xfrm>
            <a:off x="2971800" y="2260600"/>
            <a:ext cx="1778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 b="1">
                <a:solidFill>
                  <a:srgbClr val="0F3B3A"/>
                </a:solidFill>
                <a:latin typeface="Calibri" panose="020F0502020204030204" pitchFamily="34" charset="0"/>
              </a:rPr>
              <a:t>Casos de uso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6524FE5-C758-C7E9-1F95-F08EBE3ADE57}"/>
              </a:ext>
            </a:extLst>
          </p:cNvPr>
          <p:cNvSpPr txBox="1"/>
          <p:nvPr/>
        </p:nvSpPr>
        <p:spPr>
          <a:xfrm>
            <a:off x="2971800" y="2870200"/>
            <a:ext cx="177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Orquestram as ações: cadastrar contato, mover card.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5407A4C-5779-71E3-3F01-80804D0CB5F0}"/>
              </a:ext>
            </a:extLst>
          </p:cNvPr>
          <p:cNvSpPr/>
          <p:nvPr/>
        </p:nvSpPr>
        <p:spPr>
          <a:xfrm>
            <a:off x="5029200" y="1422400"/>
            <a:ext cx="2133600" cy="31750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2C30E76C-28F0-07FE-76DD-9A8D19AF7DAC}"/>
              </a:ext>
            </a:extLst>
          </p:cNvPr>
          <p:cNvSpPr/>
          <p:nvPr/>
        </p:nvSpPr>
        <p:spPr>
          <a:xfrm>
            <a:off x="5232400" y="1625600"/>
            <a:ext cx="457200" cy="457200"/>
          </a:xfrm>
          <a:prstGeom prst="ellipse">
            <a:avLst/>
          </a:prstGeom>
          <a:solidFill>
            <a:srgbClr val="1F6F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62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AAEA95C-13A6-EF12-A88D-0809CB5E145A}"/>
              </a:ext>
            </a:extLst>
          </p:cNvPr>
          <p:cNvSpPr txBox="1"/>
          <p:nvPr/>
        </p:nvSpPr>
        <p:spPr>
          <a:xfrm>
            <a:off x="5232400" y="2260600"/>
            <a:ext cx="1778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 b="1">
                <a:solidFill>
                  <a:srgbClr val="0F3B3A"/>
                </a:solidFill>
                <a:latin typeface="Calibri" panose="020F0502020204030204" pitchFamily="34" charset="0"/>
              </a:rPr>
              <a:t>Persistência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525F74-0DBE-9983-6F9F-76C2F1B3E85F}"/>
              </a:ext>
            </a:extLst>
          </p:cNvPr>
          <p:cNvSpPr txBox="1"/>
          <p:nvPr/>
        </p:nvSpPr>
        <p:spPr>
          <a:xfrm>
            <a:off x="5232400" y="2870200"/>
            <a:ext cx="177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PostgreSQL, SQLAlchemy e Alembic (migrations).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5042571-68DE-3B8B-0707-A3E638025C3E}"/>
              </a:ext>
            </a:extLst>
          </p:cNvPr>
          <p:cNvSpPr/>
          <p:nvPr/>
        </p:nvSpPr>
        <p:spPr>
          <a:xfrm>
            <a:off x="7289800" y="1422400"/>
            <a:ext cx="2133600" cy="31750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BB084568-5D84-FA24-E2A3-52DCEF3CA535}"/>
              </a:ext>
            </a:extLst>
          </p:cNvPr>
          <p:cNvSpPr/>
          <p:nvPr/>
        </p:nvSpPr>
        <p:spPr>
          <a:xfrm>
            <a:off x="7493000" y="1625600"/>
            <a:ext cx="457200" cy="457200"/>
          </a:xfrm>
          <a:prstGeom prst="ellipse">
            <a:avLst/>
          </a:prstGeom>
          <a:solidFill>
            <a:srgbClr val="1F6F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62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A01C96C-44DE-DCEA-89FA-9FFC1FAC7070}"/>
              </a:ext>
            </a:extLst>
          </p:cNvPr>
          <p:cNvSpPr txBox="1"/>
          <p:nvPr/>
        </p:nvSpPr>
        <p:spPr>
          <a:xfrm>
            <a:off x="7493000" y="2260600"/>
            <a:ext cx="1778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 b="1">
                <a:solidFill>
                  <a:srgbClr val="0F3B3A"/>
                </a:solidFill>
                <a:latin typeface="Calibri" panose="020F0502020204030204" pitchFamily="34" charset="0"/>
              </a:rPr>
              <a:t>API REST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CAD3336-D7A8-7AEF-6C85-93DBC4705B52}"/>
              </a:ext>
            </a:extLst>
          </p:cNvPr>
          <p:cNvSpPr txBox="1"/>
          <p:nvPr/>
        </p:nvSpPr>
        <p:spPr>
          <a:xfrm>
            <a:off x="7493000" y="2870200"/>
            <a:ext cx="177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Rotas FastAPI que o frontend vai chamar.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32D7FC2-6E25-F4D9-4074-002E17093884}"/>
              </a:ext>
            </a:extLst>
          </p:cNvPr>
          <p:cNvSpPr/>
          <p:nvPr/>
        </p:nvSpPr>
        <p:spPr>
          <a:xfrm>
            <a:off x="9550400" y="1422400"/>
            <a:ext cx="2133600" cy="31750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BE11731B-1305-9342-0F4B-D7BD21885889}"/>
              </a:ext>
            </a:extLst>
          </p:cNvPr>
          <p:cNvSpPr/>
          <p:nvPr/>
        </p:nvSpPr>
        <p:spPr>
          <a:xfrm>
            <a:off x="9753600" y="1625600"/>
            <a:ext cx="457200" cy="457200"/>
          </a:xfrm>
          <a:prstGeom prst="ellipse">
            <a:avLst/>
          </a:prstGeom>
          <a:solidFill>
            <a:srgbClr val="1F6F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620" b="1">
                <a:solidFill>
                  <a:srgbClr val="FFFFFF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FD80084-E8D5-6127-A8A9-BAB1B2A8AAE3}"/>
              </a:ext>
            </a:extLst>
          </p:cNvPr>
          <p:cNvSpPr txBox="1"/>
          <p:nvPr/>
        </p:nvSpPr>
        <p:spPr>
          <a:xfrm>
            <a:off x="9753600" y="2260600"/>
            <a:ext cx="1778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 b="1">
                <a:solidFill>
                  <a:srgbClr val="0F3B3A"/>
                </a:solidFill>
                <a:latin typeface="Calibri" panose="020F0502020204030204" pitchFamily="34" charset="0"/>
              </a:rPr>
              <a:t>Autenticação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095045B-3E3C-A8E5-FE90-4458ACE3ECA9}"/>
              </a:ext>
            </a:extLst>
          </p:cNvPr>
          <p:cNvSpPr txBox="1"/>
          <p:nvPr/>
        </p:nvSpPr>
        <p:spPr>
          <a:xfrm>
            <a:off x="9753600" y="2870200"/>
            <a:ext cx="177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Login com JWT e gestão de usuários.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CAB2B4C-E3AE-F384-D879-ADB1DC142C3E}"/>
              </a:ext>
            </a:extLst>
          </p:cNvPr>
          <p:cNvSpPr txBox="1"/>
          <p:nvPr/>
        </p:nvSpPr>
        <p:spPr>
          <a:xfrm>
            <a:off x="508000" y="48768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1E2B2A"/>
                </a:solidFill>
                <a:latin typeface="Calibri" panose="020F0502020204030204" pitchFamily="34" charset="0"/>
              </a:rPr>
              <a:t>Ordem definida na documentação (doc 13): domínio → aplicação → infraestrutura → interface. Nunca começar pelo banco nem pela rota.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9E85540-C6F9-5692-2F20-489FEB6E5736}"/>
              </a:ext>
            </a:extLst>
          </p:cNvPr>
          <p:cNvSpPr/>
          <p:nvPr/>
        </p:nvSpPr>
        <p:spPr>
          <a:xfrm>
            <a:off x="508000" y="5562600"/>
            <a:ext cx="11176000" cy="711200"/>
          </a:xfrm>
          <a:prstGeom prst="roundRect">
            <a:avLst>
              <a:gd name="adj" fmla="val 6000"/>
            </a:avLst>
          </a:prstGeom>
          <a:solidFill>
            <a:srgbClr val="FBEF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21920" rIns="203200" bIns="121920" rtlCol="0" anchor="ctr"/>
          <a:lstStyle/>
          <a:p>
            <a:r>
              <a:rPr lang="pt-BR" sz="1500">
                <a:solidFill>
                  <a:srgbClr val="0F3B3A"/>
                </a:solidFill>
                <a:latin typeface="Calibri" panose="020F0502020204030204" pitchFamily="34" charset="0"/>
              </a:rPr>
              <a:t>Por isso a Parte 1 é só Python puro: nenhum banco de dados, nenhum servidor web e nenhuma biblioteca externa dentro do código.</a:t>
            </a:r>
          </a:p>
        </p:txBody>
      </p:sp>
    </p:spTree>
    <p:extLst>
      <p:ext uri="{BB962C8B-B14F-4D97-AF65-F5344CB8AC3E}">
        <p14:creationId xmlns:p14="http://schemas.microsoft.com/office/powerpoint/2010/main" val="3293494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9985FE4-A308-2E87-81A4-8B264393438F}"/>
              </a:ext>
            </a:extLst>
          </p:cNvPr>
          <p:cNvSpPr txBox="1"/>
          <p:nvPr/>
        </p:nvSpPr>
        <p:spPr>
          <a:xfrm>
            <a:off x="508000" y="3302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E8A33D"/>
                </a:solidFill>
                <a:latin typeface="Calibri" panose="020F0502020204030204" pitchFamily="34" charset="0"/>
              </a:rPr>
              <a:t>O DESENHO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FA3F4D-0A03-7090-AF6F-B086B5836B8A}"/>
              </a:ext>
            </a:extLst>
          </p:cNvPr>
          <p:cNvSpPr txBox="1"/>
          <p:nvPr/>
        </p:nvSpPr>
        <p:spPr>
          <a:xfrm>
            <a:off x="508000" y="5588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800" b="1">
                <a:solidFill>
                  <a:srgbClr val="0F3B3A"/>
                </a:solidFill>
                <a:latin typeface="Cambria" panose="02040503050406030204" pitchFamily="18" charset="0"/>
              </a:rPr>
              <a:t>Clean Architecture: quatro camadas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0E19185-713B-5015-C623-4FE73D52F0AC}"/>
              </a:ext>
            </a:extLst>
          </p:cNvPr>
          <p:cNvSpPr txBox="1"/>
          <p:nvPr/>
        </p:nvSpPr>
        <p:spPr>
          <a:xfrm>
            <a:off x="11049000" y="6502400"/>
            <a:ext cx="635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B6B69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A35C9310-2C5C-291C-C0EB-593381E3E433}"/>
              </a:ext>
            </a:extLst>
          </p:cNvPr>
          <p:cNvSpPr/>
          <p:nvPr/>
        </p:nvSpPr>
        <p:spPr>
          <a:xfrm>
            <a:off x="444500" y="1524000"/>
            <a:ext cx="4953000" cy="4953000"/>
          </a:xfrm>
          <a:prstGeom prst="ellipse">
            <a:avLst/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B7B2E55-2C4A-CC85-4560-0A0DCD22A0D5}"/>
              </a:ext>
            </a:extLst>
          </p:cNvPr>
          <p:cNvSpPr/>
          <p:nvPr/>
        </p:nvSpPr>
        <p:spPr>
          <a:xfrm>
            <a:off x="1016000" y="2095500"/>
            <a:ext cx="3810000" cy="3810000"/>
          </a:xfrm>
          <a:prstGeom prst="ellipse">
            <a:avLst/>
          </a:prstGeom>
          <a:solidFill>
            <a:srgbClr val="C5DE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D86CCD3-44AA-ED71-43D6-CEC61C66C66C}"/>
              </a:ext>
            </a:extLst>
          </p:cNvPr>
          <p:cNvSpPr/>
          <p:nvPr/>
        </p:nvSpPr>
        <p:spPr>
          <a:xfrm>
            <a:off x="1587500" y="2667000"/>
            <a:ext cx="2667000" cy="2667000"/>
          </a:xfrm>
          <a:prstGeom prst="ellipse">
            <a:avLst/>
          </a:prstGeom>
          <a:solidFill>
            <a:srgbClr val="7FB3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A0931CB-99F9-4BAC-D684-2682B9718EA6}"/>
              </a:ext>
            </a:extLst>
          </p:cNvPr>
          <p:cNvSpPr/>
          <p:nvPr/>
        </p:nvSpPr>
        <p:spPr>
          <a:xfrm>
            <a:off x="2159000" y="3238500"/>
            <a:ext cx="1524000" cy="1524000"/>
          </a:xfrm>
          <a:prstGeom prst="ellipse">
            <a:avLst/>
          </a:prstGeom>
          <a:solidFill>
            <a:srgbClr val="0F3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08402E5-3C96-2949-C3B0-337AC9253128}"/>
              </a:ext>
            </a:extLst>
          </p:cNvPr>
          <p:cNvSpPr txBox="1"/>
          <p:nvPr/>
        </p:nvSpPr>
        <p:spPr>
          <a:xfrm>
            <a:off x="1905000" y="17018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400" b="1">
                <a:solidFill>
                  <a:srgbClr val="0F3B3A"/>
                </a:solidFill>
                <a:latin typeface="Consolas" panose="020B0609020204030204" pitchFamily="49" charset="0"/>
              </a:rPr>
              <a:t>infra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F893238-7156-013E-0A64-A3CD0951A213}"/>
              </a:ext>
            </a:extLst>
          </p:cNvPr>
          <p:cNvSpPr txBox="1"/>
          <p:nvPr/>
        </p:nvSpPr>
        <p:spPr>
          <a:xfrm>
            <a:off x="1905000" y="22733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400" b="1">
                <a:solidFill>
                  <a:srgbClr val="0F3B3A"/>
                </a:solidFill>
                <a:latin typeface="Consolas" panose="020B0609020204030204" pitchFamily="49" charset="0"/>
              </a:rPr>
              <a:t>adapters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27DA617-87CD-D5B8-0174-10F442A1B5AD}"/>
              </a:ext>
            </a:extLst>
          </p:cNvPr>
          <p:cNvSpPr txBox="1"/>
          <p:nvPr/>
        </p:nvSpPr>
        <p:spPr>
          <a:xfrm>
            <a:off x="1905000" y="2844800"/>
            <a:ext cx="203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400" b="1">
                <a:solidFill>
                  <a:srgbClr val="0F3B3A"/>
                </a:solidFill>
                <a:latin typeface="Consolas" panose="020B0609020204030204" pitchFamily="49" charset="0"/>
              </a:rPr>
              <a:t>application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AF90D60-4390-42E3-7FDB-A0D796CE6658}"/>
              </a:ext>
            </a:extLst>
          </p:cNvPr>
          <p:cNvSpPr txBox="1"/>
          <p:nvPr/>
        </p:nvSpPr>
        <p:spPr>
          <a:xfrm>
            <a:off x="2159000" y="3873500"/>
            <a:ext cx="1524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Consolas" panose="020B0609020204030204" pitchFamily="49" charset="0"/>
              </a:rPr>
              <a:t>domain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76C70A33-4AB5-2609-E3C5-6FAA46E5930F}"/>
              </a:ext>
            </a:extLst>
          </p:cNvPr>
          <p:cNvSpPr/>
          <p:nvPr/>
        </p:nvSpPr>
        <p:spPr>
          <a:xfrm>
            <a:off x="5969000" y="1460500"/>
            <a:ext cx="228600" cy="228600"/>
          </a:xfrm>
          <a:prstGeom prst="ellipse">
            <a:avLst/>
          </a:prstGeom>
          <a:solidFill>
            <a:srgbClr val="0F3B3A"/>
          </a:solidFill>
          <a:ln w="19050">
            <a:solidFill>
              <a:srgbClr val="1F6F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0A853AE-3614-4CF3-168B-14D4D7F4F9CB}"/>
              </a:ext>
            </a:extLst>
          </p:cNvPr>
          <p:cNvSpPr txBox="1"/>
          <p:nvPr/>
        </p:nvSpPr>
        <p:spPr>
          <a:xfrm>
            <a:off x="6350000" y="1422400"/>
            <a:ext cx="5334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0F3B3A"/>
                </a:solidFill>
                <a:latin typeface="Consolas" panose="020B0609020204030204" pitchFamily="49" charset="0"/>
              </a:rPr>
              <a:t>domain/   ✓ Parte 1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E421CC0-0BD7-8E39-19DB-7DCD7E7785C9}"/>
              </a:ext>
            </a:extLst>
          </p:cNvPr>
          <p:cNvSpPr txBox="1"/>
          <p:nvPr/>
        </p:nvSpPr>
        <p:spPr>
          <a:xfrm>
            <a:off x="6350000" y="1727200"/>
            <a:ext cx="533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O coração: as regras do negócio (Orçamento, Telefone, estágios). Não sabe que existe banco ou web.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E6A7863-5413-65FF-A6A8-AA5364074B31}"/>
              </a:ext>
            </a:extLst>
          </p:cNvPr>
          <p:cNvSpPr/>
          <p:nvPr/>
        </p:nvSpPr>
        <p:spPr>
          <a:xfrm>
            <a:off x="5969000" y="2400300"/>
            <a:ext cx="228600" cy="228600"/>
          </a:xfrm>
          <a:prstGeom prst="ellipse">
            <a:avLst/>
          </a:prstGeom>
          <a:solidFill>
            <a:srgbClr val="7FB3AC"/>
          </a:solidFill>
          <a:ln w="19050">
            <a:solidFill>
              <a:srgbClr val="1F6F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0F9DBC6-7D21-A71D-5DCD-79A4BF6E6F25}"/>
              </a:ext>
            </a:extLst>
          </p:cNvPr>
          <p:cNvSpPr txBox="1"/>
          <p:nvPr/>
        </p:nvSpPr>
        <p:spPr>
          <a:xfrm>
            <a:off x="6350000" y="2362200"/>
            <a:ext cx="5334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0F3B3A"/>
                </a:solidFill>
                <a:latin typeface="Consolas" panose="020B0609020204030204" pitchFamily="49" charset="0"/>
              </a:rPr>
              <a:t>application/   Parte 2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4B37817-974A-DAE1-3022-5FB90DF55394}"/>
              </a:ext>
            </a:extLst>
          </p:cNvPr>
          <p:cNvSpPr txBox="1"/>
          <p:nvPr/>
        </p:nvSpPr>
        <p:spPr>
          <a:xfrm>
            <a:off x="6350000" y="2667000"/>
            <a:ext cx="533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Casos de uso: “registrar novo contato”, “mover estágio”. Usa o domínio.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099C129C-CCFD-A99C-7FF9-1531CC9236A4}"/>
              </a:ext>
            </a:extLst>
          </p:cNvPr>
          <p:cNvSpPr/>
          <p:nvPr/>
        </p:nvSpPr>
        <p:spPr>
          <a:xfrm>
            <a:off x="5969000" y="3340100"/>
            <a:ext cx="228600" cy="228600"/>
          </a:xfrm>
          <a:prstGeom prst="ellipse">
            <a:avLst/>
          </a:prstGeom>
          <a:solidFill>
            <a:srgbClr val="C5DEDA"/>
          </a:solidFill>
          <a:ln w="19050">
            <a:solidFill>
              <a:srgbClr val="1F6F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F12001B-AB7C-6881-2DA5-4131F5A2D3A1}"/>
              </a:ext>
            </a:extLst>
          </p:cNvPr>
          <p:cNvSpPr txBox="1"/>
          <p:nvPr/>
        </p:nvSpPr>
        <p:spPr>
          <a:xfrm>
            <a:off x="6350000" y="3302000"/>
            <a:ext cx="5334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0F3B3A"/>
                </a:solidFill>
                <a:latin typeface="Consolas" panose="020B0609020204030204" pitchFamily="49" charset="0"/>
              </a:rPr>
              <a:t>adapters/   Partes 3–4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E98A07F-E825-6280-B42B-D2D7580CA196}"/>
              </a:ext>
            </a:extLst>
          </p:cNvPr>
          <p:cNvSpPr txBox="1"/>
          <p:nvPr/>
        </p:nvSpPr>
        <p:spPr>
          <a:xfrm>
            <a:off x="6350000" y="3606800"/>
            <a:ext cx="533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Tradutores entre o mundo de fora e o domínio: rotas HTTP e repositórios do Postgres.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A0AA655-C25D-CAC8-F932-4FDE38CA449C}"/>
              </a:ext>
            </a:extLst>
          </p:cNvPr>
          <p:cNvSpPr/>
          <p:nvPr/>
        </p:nvSpPr>
        <p:spPr>
          <a:xfrm>
            <a:off x="5969000" y="4279900"/>
            <a:ext cx="228600" cy="228600"/>
          </a:xfrm>
          <a:prstGeom prst="ellipse">
            <a:avLst/>
          </a:prstGeom>
          <a:solidFill>
            <a:srgbClr val="E6F0EE"/>
          </a:solidFill>
          <a:ln w="19050">
            <a:solidFill>
              <a:srgbClr val="1F6F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6DB04FC-EBD8-6AAC-12EB-69490D1CC24D}"/>
              </a:ext>
            </a:extLst>
          </p:cNvPr>
          <p:cNvSpPr txBox="1"/>
          <p:nvPr/>
        </p:nvSpPr>
        <p:spPr>
          <a:xfrm>
            <a:off x="6350000" y="4241800"/>
            <a:ext cx="5334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0F3B3A"/>
                </a:solidFill>
                <a:latin typeface="Consolas" panose="020B0609020204030204" pitchFamily="49" charset="0"/>
              </a:rPr>
              <a:t>infra/   Partes 3–5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60EF494-563E-6BEE-53BF-D2E209DBD243}"/>
              </a:ext>
            </a:extLst>
          </p:cNvPr>
          <p:cNvSpPr txBox="1"/>
          <p:nvPr/>
        </p:nvSpPr>
        <p:spPr>
          <a:xfrm>
            <a:off x="6350000" y="4546600"/>
            <a:ext cx="5334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Ferramentas concretas: FastAPI, SQLAlchemy, configuração e JWT.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853723C9-A6CF-0C2E-E32C-82E42FD6346E}"/>
              </a:ext>
            </a:extLst>
          </p:cNvPr>
          <p:cNvSpPr/>
          <p:nvPr/>
        </p:nvSpPr>
        <p:spPr>
          <a:xfrm>
            <a:off x="5969000" y="5334000"/>
            <a:ext cx="5715000" cy="1016000"/>
          </a:xfrm>
          <a:prstGeom prst="roundRect">
            <a:avLst>
              <a:gd name="adj" fmla="val 6000"/>
            </a:avLst>
          </a:prstGeom>
          <a:solidFill>
            <a:srgbClr val="FBEF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06680" rIns="177800" bIns="106680" rtlCol="0" anchor="ctr"/>
          <a:lstStyle/>
          <a:p>
            <a:r>
              <a:rPr lang="pt-BR" sz="1400">
                <a:solidFill>
                  <a:srgbClr val="0F3B3A"/>
                </a:solidFill>
                <a:latin typeface="Calibri" panose="020F0502020204030204" pitchFamily="34" charset="0"/>
              </a:rPr>
              <a:t>Regra de ouro: as dependências apontam para dentro. Quem está no centro não importa nada de quem está fora — e um teste automático vigia isso.</a:t>
            </a:r>
          </a:p>
        </p:txBody>
      </p:sp>
    </p:spTree>
    <p:extLst>
      <p:ext uri="{BB962C8B-B14F-4D97-AF65-F5344CB8AC3E}">
        <p14:creationId xmlns:p14="http://schemas.microsoft.com/office/powerpoint/2010/main" val="3952988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F5EBEAC-10EC-A3A1-BB57-CF781EB24E00}"/>
              </a:ext>
            </a:extLst>
          </p:cNvPr>
          <p:cNvSpPr txBox="1"/>
          <p:nvPr/>
        </p:nvSpPr>
        <p:spPr>
          <a:xfrm>
            <a:off x="508000" y="3302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E8A33D"/>
                </a:solidFill>
                <a:latin typeface="Calibri" panose="020F0502020204030204" pitchFamily="34" charset="0"/>
              </a:rPr>
              <a:t>MOTIVAÇÃO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A3F17C-2EC7-ED41-FABD-5178C80223FC}"/>
              </a:ext>
            </a:extLst>
          </p:cNvPr>
          <p:cNvSpPr txBox="1"/>
          <p:nvPr/>
        </p:nvSpPr>
        <p:spPr>
          <a:xfrm>
            <a:off x="508000" y="5588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800" b="1">
                <a:solidFill>
                  <a:srgbClr val="0F3B3A"/>
                </a:solidFill>
                <a:latin typeface="Cambria" panose="02040503050406030204" pitchFamily="18" charset="0"/>
              </a:rPr>
              <a:t>Por que começar pelo domínio?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46EF98C-DC28-CAC4-0BD4-4A7F2A9104EB}"/>
              </a:ext>
            </a:extLst>
          </p:cNvPr>
          <p:cNvSpPr txBox="1"/>
          <p:nvPr/>
        </p:nvSpPr>
        <p:spPr>
          <a:xfrm>
            <a:off x="11049000" y="6502400"/>
            <a:ext cx="635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B6B69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1EE5A648-B2B7-B4F1-2BAA-6D1B334E7032}"/>
              </a:ext>
            </a:extLst>
          </p:cNvPr>
          <p:cNvSpPr/>
          <p:nvPr/>
        </p:nvSpPr>
        <p:spPr>
          <a:xfrm>
            <a:off x="508000" y="1422400"/>
            <a:ext cx="3810000" cy="4927600"/>
          </a:xfrm>
          <a:prstGeom prst="roundRect">
            <a:avLst>
              <a:gd name="adj" fmla="val 6000"/>
            </a:avLst>
          </a:prstGeom>
          <a:solidFill>
            <a:srgbClr val="0F3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8EC0A9B-2ED1-E8D9-719B-E7D3F36A8BDE}"/>
              </a:ext>
            </a:extLst>
          </p:cNvPr>
          <p:cNvSpPr txBox="1"/>
          <p:nvPr/>
        </p:nvSpPr>
        <p:spPr>
          <a:xfrm>
            <a:off x="762000" y="2603500"/>
            <a:ext cx="3302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6600" b="1">
                <a:solidFill>
                  <a:srgbClr val="E8A33D"/>
                </a:solidFill>
                <a:latin typeface="Cambria" panose="02040503050406030204" pitchFamily="18" charset="0"/>
              </a:rPr>
              <a:t>0,2 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241BB9F-C5D5-B58F-4C68-1BD40DC6B7E6}"/>
              </a:ext>
            </a:extLst>
          </p:cNvPr>
          <p:cNvSpPr txBox="1"/>
          <p:nvPr/>
        </p:nvSpPr>
        <p:spPr>
          <a:xfrm>
            <a:off x="889000" y="3810000"/>
            <a:ext cx="304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600">
                <a:solidFill>
                  <a:srgbClr val="FFFFFF"/>
                </a:solidFill>
                <a:latin typeface="Calibri" panose="020F0502020204030204" pitchFamily="34" charset="0"/>
              </a:rPr>
              <a:t>para rodar todos os 114 testes do domínio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82693E-56DD-AB84-CFE3-22741EAD1243}"/>
              </a:ext>
            </a:extLst>
          </p:cNvPr>
          <p:cNvSpPr txBox="1"/>
          <p:nvPr/>
        </p:nvSpPr>
        <p:spPr>
          <a:xfrm>
            <a:off x="889000" y="4635500"/>
            <a:ext cx="3048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300">
                <a:solidFill>
                  <a:srgbClr val="CFE3DF"/>
                </a:solidFill>
                <a:latin typeface="Calibri" panose="020F0502020204030204" pitchFamily="34" charset="0"/>
              </a:rPr>
              <a:t>Sem banco, sem servidor, sem internet.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B385803-CA8F-F148-3677-DBC748D440DA}"/>
              </a:ext>
            </a:extLst>
          </p:cNvPr>
          <p:cNvSpPr/>
          <p:nvPr/>
        </p:nvSpPr>
        <p:spPr>
          <a:xfrm>
            <a:off x="4699000" y="1498600"/>
            <a:ext cx="457200" cy="457200"/>
          </a:xfrm>
          <a:prstGeom prst="ellipse">
            <a:avLst/>
          </a:prstGeom>
          <a:solidFill>
            <a:srgbClr val="E8A3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620" b="1">
                <a:solidFill>
                  <a:srgbClr val="0F3B3A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D9F419E-99BE-AA67-9779-75B6BF8D4A5D}"/>
              </a:ext>
            </a:extLst>
          </p:cNvPr>
          <p:cNvSpPr txBox="1"/>
          <p:nvPr/>
        </p:nvSpPr>
        <p:spPr>
          <a:xfrm>
            <a:off x="5359400" y="1524000"/>
            <a:ext cx="63246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b="1">
                <a:solidFill>
                  <a:srgbClr val="0F3B3A"/>
                </a:solidFill>
                <a:latin typeface="Calibri" panose="020F0502020204030204" pitchFamily="34" charset="0"/>
              </a:rPr>
              <a:t>As regras mais importantes vivem aqui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BFDA316-B2B2-73F7-7F95-D8DEB1793ED8}"/>
              </a:ext>
            </a:extLst>
          </p:cNvPr>
          <p:cNvSpPr txBox="1"/>
          <p:nvPr/>
        </p:nvSpPr>
        <p:spPr>
          <a:xfrm>
            <a:off x="5359400" y="1905000"/>
            <a:ext cx="6324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00">
                <a:solidFill>
                  <a:srgbClr val="1E2B2A"/>
                </a:solidFill>
                <a:latin typeface="Calibri" panose="020F0502020204030204" pitchFamily="34" charset="0"/>
              </a:rPr>
              <a:t>Não pular etapa e não fechar orçamento sem valor (RF02, RF03).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F1121A6-B94A-F68D-7835-79A6454DEDA3}"/>
              </a:ext>
            </a:extLst>
          </p:cNvPr>
          <p:cNvSpPr/>
          <p:nvPr/>
        </p:nvSpPr>
        <p:spPr>
          <a:xfrm>
            <a:off x="4699000" y="2743200"/>
            <a:ext cx="457200" cy="457200"/>
          </a:xfrm>
          <a:prstGeom prst="ellipse">
            <a:avLst/>
          </a:prstGeom>
          <a:solidFill>
            <a:srgbClr val="E8A3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620" b="1">
                <a:solidFill>
                  <a:srgbClr val="0F3B3A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CA8DADA-F0C5-1C6E-1D50-4DFC4D893620}"/>
              </a:ext>
            </a:extLst>
          </p:cNvPr>
          <p:cNvSpPr txBox="1"/>
          <p:nvPr/>
        </p:nvSpPr>
        <p:spPr>
          <a:xfrm>
            <a:off x="5359400" y="2768600"/>
            <a:ext cx="63246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b="1">
                <a:solidFill>
                  <a:srgbClr val="0F3B3A"/>
                </a:solidFill>
                <a:latin typeface="Calibri" panose="020F0502020204030204" pitchFamily="34" charset="0"/>
              </a:rPr>
              <a:t>Testa sem banco e sem internet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6083A55-D562-6EF8-B022-A103D648BAA4}"/>
              </a:ext>
            </a:extLst>
          </p:cNvPr>
          <p:cNvSpPr txBox="1"/>
          <p:nvPr/>
        </p:nvSpPr>
        <p:spPr>
          <a:xfrm>
            <a:off x="5359400" y="3149600"/>
            <a:ext cx="6324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00">
                <a:solidFill>
                  <a:srgbClr val="1E2B2A"/>
                </a:solidFill>
                <a:latin typeface="Calibri" panose="020F0502020204030204" pitchFamily="34" charset="0"/>
              </a:rPr>
              <a:t>É Python puro: roda em milissegundos, em qualquer máquina.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0C99685C-C579-4AD2-285E-2BAD90EFB612}"/>
              </a:ext>
            </a:extLst>
          </p:cNvPr>
          <p:cNvSpPr/>
          <p:nvPr/>
        </p:nvSpPr>
        <p:spPr>
          <a:xfrm>
            <a:off x="4699000" y="3987800"/>
            <a:ext cx="457200" cy="457200"/>
          </a:xfrm>
          <a:prstGeom prst="ellipse">
            <a:avLst/>
          </a:prstGeom>
          <a:solidFill>
            <a:srgbClr val="E8A3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620" b="1">
                <a:solidFill>
                  <a:srgbClr val="0F3B3A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F75619E-2017-1966-72F1-4360D7790D84}"/>
              </a:ext>
            </a:extLst>
          </p:cNvPr>
          <p:cNvSpPr txBox="1"/>
          <p:nvPr/>
        </p:nvSpPr>
        <p:spPr>
          <a:xfrm>
            <a:off x="5359400" y="4013200"/>
            <a:ext cx="63246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b="1">
                <a:solidFill>
                  <a:srgbClr val="0F3B3A"/>
                </a:solidFill>
                <a:latin typeface="Calibri" panose="020F0502020204030204" pitchFamily="34" charset="0"/>
              </a:rPr>
              <a:t>Trocar tecnologia não quebra a regra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C7ADCA3-0E1A-7A1E-13F2-6B7EEE0AF87C}"/>
              </a:ext>
            </a:extLst>
          </p:cNvPr>
          <p:cNvSpPr txBox="1"/>
          <p:nvPr/>
        </p:nvSpPr>
        <p:spPr>
          <a:xfrm>
            <a:off x="5359400" y="4394200"/>
            <a:ext cx="6324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00">
                <a:solidFill>
                  <a:srgbClr val="1E2B2A"/>
                </a:solidFill>
                <a:latin typeface="Calibri" panose="020F0502020204030204" pitchFamily="34" charset="0"/>
              </a:rPr>
              <a:t>Se amanhã o banco ou o framework mudar, o domínio continua igual (RNF03).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82911B0E-8F67-8911-46E5-32A945A1EDA8}"/>
              </a:ext>
            </a:extLst>
          </p:cNvPr>
          <p:cNvSpPr/>
          <p:nvPr/>
        </p:nvSpPr>
        <p:spPr>
          <a:xfrm>
            <a:off x="4699000" y="5308600"/>
            <a:ext cx="6985000" cy="10414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06680" rIns="177800" bIns="106680" rtlCol="0" anchor="ctr"/>
          <a:lstStyle/>
          <a:p>
            <a:r>
              <a:rPr lang="pt-BR" sz="1400" i="1">
                <a:solidFill>
                  <a:srgbClr val="0F3B3A"/>
                </a:solidFill>
                <a:latin typeface="Calibri" panose="020F0502020204030204" pitchFamily="34" charset="0"/>
              </a:rPr>
              <a:t>Analogia: a receita do bolo (domínio) não depende de qual forno (banco) ou cozinha (web) você usa. Dá para conferir a receita antes de comprar o forno.</a:t>
            </a:r>
          </a:p>
        </p:txBody>
      </p:sp>
    </p:spTree>
    <p:extLst>
      <p:ext uri="{BB962C8B-B14F-4D97-AF65-F5344CB8AC3E}">
        <p14:creationId xmlns:p14="http://schemas.microsoft.com/office/powerpoint/2010/main" val="842998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87C12C1-13CB-88CA-A504-DD4AABACC050}"/>
              </a:ext>
            </a:extLst>
          </p:cNvPr>
          <p:cNvSpPr txBox="1"/>
          <p:nvPr/>
        </p:nvSpPr>
        <p:spPr>
          <a:xfrm>
            <a:off x="508000" y="3302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E8A33D"/>
                </a:solidFill>
                <a:latin typeface="Calibri" panose="020F0502020204030204" pitchFamily="34" charset="0"/>
              </a:rPr>
              <a:t>O QUE FOI CRIADO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4B45955-7FF4-AE13-A05B-0DA944E2CDED}"/>
              </a:ext>
            </a:extLst>
          </p:cNvPr>
          <p:cNvSpPr txBox="1"/>
          <p:nvPr/>
        </p:nvSpPr>
        <p:spPr>
          <a:xfrm>
            <a:off x="508000" y="5588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800" b="1">
                <a:solidFill>
                  <a:srgbClr val="0F3B3A"/>
                </a:solidFill>
                <a:latin typeface="Cambria" panose="02040503050406030204" pitchFamily="18" charset="0"/>
              </a:rPr>
              <a:t>A estrutura de pastas do backend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AEBAB94-8C59-BF97-4BA3-5EC6DD4DC56A}"/>
              </a:ext>
            </a:extLst>
          </p:cNvPr>
          <p:cNvSpPr txBox="1"/>
          <p:nvPr/>
        </p:nvSpPr>
        <p:spPr>
          <a:xfrm>
            <a:off x="11049000" y="6502400"/>
            <a:ext cx="635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B6B69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D46357B-A575-AB3B-18C9-21B8B8F39852}"/>
              </a:ext>
            </a:extLst>
          </p:cNvPr>
          <p:cNvSpPr/>
          <p:nvPr/>
        </p:nvSpPr>
        <p:spPr>
          <a:xfrm>
            <a:off x="508000" y="1346200"/>
            <a:ext cx="6858000" cy="5029200"/>
          </a:xfrm>
          <a:prstGeom prst="roundRect">
            <a:avLst>
              <a:gd name="adj" fmla="val 3000"/>
            </a:avLst>
          </a:prstGeom>
          <a:solidFill>
            <a:srgbClr val="1B26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21920" rIns="203200" bIns="121920" rtlCol="0" anchor="t"/>
          <a:lstStyle/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backend/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├─ pyproject.toml     ficha do projeto + dependências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├─ pytest.ini         configuração dos testes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├─ .venv/             ambiente Python local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├─ src/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│  ├─ domain/         </a:t>
            </a:r>
            <a:r>
              <a:rPr lang="pt-BR" sz="1400" b="1">
                <a:solidFill>
                  <a:srgbClr val="E8A33D"/>
                </a:solidFill>
                <a:latin typeface="Consolas" panose="020B0609020204030204" pitchFamily="49" charset="0"/>
              </a:rPr>
              <a:t>✓ preenchido nesta parte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│  │  ├─ exceptions.py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│  │  ├─ value_objects/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│  │  ├─ entities/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│  │  └─ repositories/  (Parte 2)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│  ├─ application/    (Parte 2)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│  ├─ adapters/       (Partes 3–4)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│  └─ infra/          (Partes 3–5)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└─ tests/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   └─ unit/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      ├─ test_arquitetura.py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      └─ domain/      testes das regras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D99B9E7-1304-A7F2-35E8-CAB8DFCBB784}"/>
              </a:ext>
            </a:extLst>
          </p:cNvPr>
          <p:cNvSpPr/>
          <p:nvPr/>
        </p:nvSpPr>
        <p:spPr>
          <a:xfrm>
            <a:off x="7747000" y="1346200"/>
            <a:ext cx="3937000" cy="15748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C423E4E-896D-73A7-9DE2-B8C904AF1523}"/>
              </a:ext>
            </a:extLst>
          </p:cNvPr>
          <p:cNvSpPr txBox="1"/>
          <p:nvPr/>
        </p:nvSpPr>
        <p:spPr>
          <a:xfrm>
            <a:off x="7975600" y="1524000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0F3B3A"/>
                </a:solidFill>
                <a:latin typeface="Calibri" panose="020F0502020204030204" pitchFamily="34" charset="0"/>
              </a:rPr>
              <a:t>__init__.py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B0DCB76-6D4C-05B1-5D65-C9C43C690719}"/>
              </a:ext>
            </a:extLst>
          </p:cNvPr>
          <p:cNvSpPr txBox="1"/>
          <p:nvPr/>
        </p:nvSpPr>
        <p:spPr>
          <a:xfrm>
            <a:off x="7975600" y="1854200"/>
            <a:ext cx="35560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1E2B2A"/>
                </a:solidFill>
                <a:latin typeface="Calibri" panose="020F0502020204030204" pitchFamily="34" charset="0"/>
              </a:rPr>
              <a:t>Arquivo vazio que transforma a pasta em pacote Python. É o que permite escrever from domain.entities.orcamento import Orcamento.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F90DE53-2FB5-AA81-C5C4-661B5CD4D7D4}"/>
              </a:ext>
            </a:extLst>
          </p:cNvPr>
          <p:cNvSpPr/>
          <p:nvPr/>
        </p:nvSpPr>
        <p:spPr>
          <a:xfrm>
            <a:off x="7747000" y="3073400"/>
            <a:ext cx="3937000" cy="15748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E542337-B4F3-28EA-2B7B-43D079309D6C}"/>
              </a:ext>
            </a:extLst>
          </p:cNvPr>
          <p:cNvSpPr txBox="1"/>
          <p:nvPr/>
        </p:nvSpPr>
        <p:spPr>
          <a:xfrm>
            <a:off x="7975600" y="3251200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0F3B3A"/>
                </a:solidFill>
                <a:latin typeface="Calibri" panose="020F0502020204030204" pitchFamily="34" charset="0"/>
              </a:rPr>
              <a:t>Pastas vazias de propósito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0BDD177-B72F-150B-B744-CD60CB295BFE}"/>
              </a:ext>
            </a:extLst>
          </p:cNvPr>
          <p:cNvSpPr txBox="1"/>
          <p:nvPr/>
        </p:nvSpPr>
        <p:spPr>
          <a:xfrm>
            <a:off x="7975600" y="3581400"/>
            <a:ext cx="35560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1E2B2A"/>
                </a:solidFill>
                <a:latin typeface="Calibri" panose="020F0502020204030204" pitchFamily="34" charset="0"/>
              </a:rPr>
              <a:t>application, adapters e infra já existem para fixar o desenho da arquitetura. Serão preenchidas nas próximas partes.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0BF813C-B915-E199-C47E-F50574D80F31}"/>
              </a:ext>
            </a:extLst>
          </p:cNvPr>
          <p:cNvSpPr/>
          <p:nvPr/>
        </p:nvSpPr>
        <p:spPr>
          <a:xfrm>
            <a:off x="7747000" y="4800600"/>
            <a:ext cx="3937000" cy="15748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89E4279-BA01-BEC1-7C21-10F0F5635F71}"/>
              </a:ext>
            </a:extLst>
          </p:cNvPr>
          <p:cNvSpPr txBox="1"/>
          <p:nvPr/>
        </p:nvSpPr>
        <p:spPr>
          <a:xfrm>
            <a:off x="7975600" y="4978400"/>
            <a:ext cx="355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0F3B3A"/>
                </a:solidFill>
                <a:latin typeface="Calibri" panose="020F0502020204030204" pitchFamily="34" charset="0"/>
              </a:rPr>
              <a:t>.venv/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7F4CBBA-F0EA-7C0F-AF86-80066E32B93D}"/>
              </a:ext>
            </a:extLst>
          </p:cNvPr>
          <p:cNvSpPr txBox="1"/>
          <p:nvPr/>
        </p:nvSpPr>
        <p:spPr>
          <a:xfrm>
            <a:off x="7975600" y="5308600"/>
            <a:ext cx="35560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1E2B2A"/>
                </a:solidFill>
                <a:latin typeface="Calibri" panose="020F0502020204030204" pitchFamily="34" charset="0"/>
              </a:rPr>
              <a:t>Ambiente Python isolado do projeto, com pytest, mypy e ruff instalados. Está no .gitignore: cada pessoa cria o seu.</a:t>
            </a:r>
          </a:p>
        </p:txBody>
      </p:sp>
    </p:spTree>
    <p:extLst>
      <p:ext uri="{BB962C8B-B14F-4D97-AF65-F5344CB8AC3E}">
        <p14:creationId xmlns:p14="http://schemas.microsoft.com/office/powerpoint/2010/main" val="62969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94A1CCF-A002-BF57-661A-AFB6FF0A5A97}"/>
              </a:ext>
            </a:extLst>
          </p:cNvPr>
          <p:cNvSpPr txBox="1"/>
          <p:nvPr/>
        </p:nvSpPr>
        <p:spPr>
          <a:xfrm>
            <a:off x="508000" y="3302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E8A33D"/>
                </a:solidFill>
                <a:latin typeface="Calibri" panose="020F0502020204030204" pitchFamily="34" charset="0"/>
              </a:rPr>
              <a:t>FERRAMENTAS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7D19F7A-E708-6DC1-5A4D-CD802EF4D79A}"/>
              </a:ext>
            </a:extLst>
          </p:cNvPr>
          <p:cNvSpPr txBox="1"/>
          <p:nvPr/>
        </p:nvSpPr>
        <p:spPr>
          <a:xfrm>
            <a:off x="508000" y="5588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800" b="1">
                <a:solidFill>
                  <a:srgbClr val="0F3B3A"/>
                </a:solidFill>
                <a:latin typeface="Cambria" panose="02040503050406030204" pitchFamily="18" charset="0"/>
              </a:rPr>
              <a:t>As quatro peças do ferramental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CFBA695-3C78-0F92-BE20-D1F9406798FC}"/>
              </a:ext>
            </a:extLst>
          </p:cNvPr>
          <p:cNvSpPr txBox="1"/>
          <p:nvPr/>
        </p:nvSpPr>
        <p:spPr>
          <a:xfrm>
            <a:off x="11049000" y="6502400"/>
            <a:ext cx="635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B6B69"/>
                </a:solidFill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EB601C9-C9C2-E23C-8D17-7E095200D99D}"/>
              </a:ext>
            </a:extLst>
          </p:cNvPr>
          <p:cNvSpPr/>
          <p:nvPr/>
        </p:nvSpPr>
        <p:spPr>
          <a:xfrm>
            <a:off x="508000" y="1346200"/>
            <a:ext cx="5524500" cy="22606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58A75D2-0DD9-9113-F300-77B7624E4F39}"/>
              </a:ext>
            </a:extLst>
          </p:cNvPr>
          <p:cNvSpPr txBox="1"/>
          <p:nvPr/>
        </p:nvSpPr>
        <p:spPr>
          <a:xfrm>
            <a:off x="762000" y="1549400"/>
            <a:ext cx="50165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000" b="1">
                <a:solidFill>
                  <a:srgbClr val="0F3B3A"/>
                </a:solidFill>
                <a:latin typeface="Consolas" panose="020B0609020204030204" pitchFamily="49" charset="0"/>
              </a:rPr>
              <a:t>pytest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4C1C8F2-C614-D4B0-64AD-14E5BAD72E7B}"/>
              </a:ext>
            </a:extLst>
          </p:cNvPr>
          <p:cNvSpPr txBox="1"/>
          <p:nvPr/>
        </p:nvSpPr>
        <p:spPr>
          <a:xfrm>
            <a:off x="762000" y="1981200"/>
            <a:ext cx="5016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00">
                <a:solidFill>
                  <a:srgbClr val="1E2B2A"/>
                </a:solidFill>
                <a:latin typeface="Calibri" panose="020F0502020204030204" pitchFamily="34" charset="0"/>
              </a:rPr>
              <a:t>Roda os testes automáticos. Cada arquivo test_*.py verifica regras do sistema e diz o que passou e o que falhou.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33B80F3-3E1A-86AA-5DEE-44161047DEF2}"/>
              </a:ext>
            </a:extLst>
          </p:cNvPr>
          <p:cNvSpPr/>
          <p:nvPr/>
        </p:nvSpPr>
        <p:spPr>
          <a:xfrm>
            <a:off x="762000" y="2921000"/>
            <a:ext cx="5016500" cy="457200"/>
          </a:xfrm>
          <a:prstGeom prst="roundRect">
            <a:avLst>
              <a:gd name="adj" fmla="val 15000"/>
            </a:avLst>
          </a:prstGeom>
          <a:solidFill>
            <a:srgbClr val="1B26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91440" rIns="152400" bIns="91440" rtlCol="0" anchor="ctr"/>
          <a:lstStyle/>
          <a:p>
            <a:r>
              <a:rPr lang="pt-BR" sz="1250">
                <a:solidFill>
                  <a:srgbClr val="E3ECEA"/>
                </a:solidFill>
                <a:latin typeface="Consolas" panose="020B0609020204030204" pitchFamily="49" charset="0"/>
              </a:rPr>
              <a:t>python -m pytest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0F2F519-5222-E11C-3979-C31438059862}"/>
              </a:ext>
            </a:extLst>
          </p:cNvPr>
          <p:cNvSpPr/>
          <p:nvPr/>
        </p:nvSpPr>
        <p:spPr>
          <a:xfrm>
            <a:off x="6159500" y="1346200"/>
            <a:ext cx="5524500" cy="22606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BCC2849-5EA3-5A28-6785-3AAE47F09473}"/>
              </a:ext>
            </a:extLst>
          </p:cNvPr>
          <p:cNvSpPr txBox="1"/>
          <p:nvPr/>
        </p:nvSpPr>
        <p:spPr>
          <a:xfrm>
            <a:off x="6413500" y="1549400"/>
            <a:ext cx="50165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000" b="1">
                <a:solidFill>
                  <a:srgbClr val="0F3B3A"/>
                </a:solidFill>
                <a:latin typeface="Consolas" panose="020B0609020204030204" pitchFamily="49" charset="0"/>
              </a:rPr>
              <a:t>mypy --strict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AC48B2E-FCE4-DCBF-FA18-584E0DDC76D2}"/>
              </a:ext>
            </a:extLst>
          </p:cNvPr>
          <p:cNvSpPr txBox="1"/>
          <p:nvPr/>
        </p:nvSpPr>
        <p:spPr>
          <a:xfrm>
            <a:off x="6413500" y="1981200"/>
            <a:ext cx="5016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00">
                <a:solidFill>
                  <a:srgbClr val="1E2B2A"/>
                </a:solidFill>
                <a:latin typeface="Calibri" panose="020F0502020204030204" pitchFamily="34" charset="0"/>
              </a:rPr>
              <a:t>Confere os tipos sem executar o código: pega “passou texto onde era número” antes de rodar (RNF05).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C40371B-5FED-0254-70FF-E8DB2795B1DA}"/>
              </a:ext>
            </a:extLst>
          </p:cNvPr>
          <p:cNvSpPr/>
          <p:nvPr/>
        </p:nvSpPr>
        <p:spPr>
          <a:xfrm>
            <a:off x="6413500" y="2921000"/>
            <a:ext cx="5016500" cy="457200"/>
          </a:xfrm>
          <a:prstGeom prst="roundRect">
            <a:avLst>
              <a:gd name="adj" fmla="val 15000"/>
            </a:avLst>
          </a:prstGeom>
          <a:solidFill>
            <a:srgbClr val="1B26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91440" rIns="152400" bIns="91440" rtlCol="0" anchor="ctr"/>
          <a:lstStyle/>
          <a:p>
            <a:r>
              <a:rPr lang="pt-BR" sz="1250">
                <a:solidFill>
                  <a:srgbClr val="E3ECEA"/>
                </a:solidFill>
                <a:latin typeface="Consolas" panose="020B0609020204030204" pitchFamily="49" charset="0"/>
              </a:rPr>
              <a:t>python -m mypy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1C1C47A-DA3B-0F9C-5818-F2D4859D1F32}"/>
              </a:ext>
            </a:extLst>
          </p:cNvPr>
          <p:cNvSpPr/>
          <p:nvPr/>
        </p:nvSpPr>
        <p:spPr>
          <a:xfrm>
            <a:off x="508000" y="3759200"/>
            <a:ext cx="5524500" cy="22606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12DFD4A-B4DB-6ABD-7E99-E4095A1D9376}"/>
              </a:ext>
            </a:extLst>
          </p:cNvPr>
          <p:cNvSpPr txBox="1"/>
          <p:nvPr/>
        </p:nvSpPr>
        <p:spPr>
          <a:xfrm>
            <a:off x="762000" y="3962400"/>
            <a:ext cx="50165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000" b="1">
                <a:solidFill>
                  <a:srgbClr val="0F3B3A"/>
                </a:solidFill>
                <a:latin typeface="Consolas" panose="020B0609020204030204" pitchFamily="49" charset="0"/>
              </a:rPr>
              <a:t>ruff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877078B-3A8F-F158-3462-3A3BCCD29626}"/>
              </a:ext>
            </a:extLst>
          </p:cNvPr>
          <p:cNvSpPr txBox="1"/>
          <p:nvPr/>
        </p:nvSpPr>
        <p:spPr>
          <a:xfrm>
            <a:off x="762000" y="4394200"/>
            <a:ext cx="5016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00">
                <a:solidFill>
                  <a:srgbClr val="1E2B2A"/>
                </a:solidFill>
                <a:latin typeface="Calibri" panose="020F0502020204030204" pitchFamily="34" charset="0"/>
              </a:rPr>
              <a:t>Lint e formatação: padroniza o estilo (imports, tamanho de linha) e aponta código suspeito.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69EE8F8-F365-5025-A4E1-DD568B65A54B}"/>
              </a:ext>
            </a:extLst>
          </p:cNvPr>
          <p:cNvSpPr/>
          <p:nvPr/>
        </p:nvSpPr>
        <p:spPr>
          <a:xfrm>
            <a:off x="762000" y="5334000"/>
            <a:ext cx="5016500" cy="457200"/>
          </a:xfrm>
          <a:prstGeom prst="roundRect">
            <a:avLst>
              <a:gd name="adj" fmla="val 15000"/>
            </a:avLst>
          </a:prstGeom>
          <a:solidFill>
            <a:srgbClr val="1B26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91440" rIns="152400" bIns="91440" rtlCol="0" anchor="ctr"/>
          <a:lstStyle/>
          <a:p>
            <a:r>
              <a:rPr lang="pt-BR" sz="1250">
                <a:solidFill>
                  <a:srgbClr val="E3ECEA"/>
                </a:solidFill>
                <a:latin typeface="Consolas" panose="020B0609020204030204" pitchFamily="49" charset="0"/>
              </a:rPr>
              <a:t>python -m ruff check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FC1C79E-FAB4-754C-2FE1-D3FD3FCB93CC}"/>
              </a:ext>
            </a:extLst>
          </p:cNvPr>
          <p:cNvSpPr/>
          <p:nvPr/>
        </p:nvSpPr>
        <p:spPr>
          <a:xfrm>
            <a:off x="6159500" y="3759200"/>
            <a:ext cx="5524500" cy="22606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2316FA1-0324-10F0-0F74-9F0E5C5426B8}"/>
              </a:ext>
            </a:extLst>
          </p:cNvPr>
          <p:cNvSpPr txBox="1"/>
          <p:nvPr/>
        </p:nvSpPr>
        <p:spPr>
          <a:xfrm>
            <a:off x="6413500" y="3962400"/>
            <a:ext cx="50165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000" b="1">
                <a:solidFill>
                  <a:srgbClr val="0F3B3A"/>
                </a:solidFill>
                <a:latin typeface="Consolas" panose="020B0609020204030204" pitchFamily="49" charset="0"/>
              </a:rPr>
              <a:t>pyproject.toml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93ACDA0-85C2-1297-7797-9CD7F34110E7}"/>
              </a:ext>
            </a:extLst>
          </p:cNvPr>
          <p:cNvSpPr txBox="1"/>
          <p:nvPr/>
        </p:nvSpPr>
        <p:spPr>
          <a:xfrm>
            <a:off x="6413500" y="4394200"/>
            <a:ext cx="5016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00">
                <a:solidFill>
                  <a:srgbClr val="1E2B2A"/>
                </a:solidFill>
                <a:latin typeface="Calibri" panose="020F0502020204030204" pitchFamily="34" charset="0"/>
              </a:rPr>
              <a:t>A ficha do projeto: nome, versão, dependências (grupo dev) e a configuração do mypy e do ruff.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1DC5BB9-0471-0B32-CE35-D5E9C4B31600}"/>
              </a:ext>
            </a:extLst>
          </p:cNvPr>
          <p:cNvSpPr/>
          <p:nvPr/>
        </p:nvSpPr>
        <p:spPr>
          <a:xfrm>
            <a:off x="6413500" y="5334000"/>
            <a:ext cx="5016500" cy="457200"/>
          </a:xfrm>
          <a:prstGeom prst="roundRect">
            <a:avLst>
              <a:gd name="adj" fmla="val 15000"/>
            </a:avLst>
          </a:prstGeom>
          <a:solidFill>
            <a:srgbClr val="1B26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91440" rIns="152400" bIns="91440" rtlCol="0" anchor="ctr"/>
          <a:lstStyle/>
          <a:p>
            <a:r>
              <a:rPr lang="en-US" sz="1250">
                <a:solidFill>
                  <a:srgbClr val="E3ECEA"/>
                </a:solidFill>
                <a:latin typeface="Consolas" panose="020B0609020204030204" pitchFamily="49" charset="0"/>
              </a:rPr>
              <a:t>python -m pip install --group dev</a:t>
            </a:r>
            <a:endParaRPr lang="pt-BR" sz="1250">
              <a:solidFill>
                <a:srgbClr val="E3ECEA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0ECAB8D-A099-9900-A8F6-2F3462AFAE5D}"/>
              </a:ext>
            </a:extLst>
          </p:cNvPr>
          <p:cNvSpPr txBox="1"/>
          <p:nvPr/>
        </p:nvSpPr>
        <p:spPr>
          <a:xfrm>
            <a:off x="508000" y="6197600"/>
            <a:ext cx="10414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00">
                <a:solidFill>
                  <a:srgbClr val="5B6B69"/>
                </a:solidFill>
                <a:latin typeface="Calibri" panose="020F0502020204030204" pitchFamily="34" charset="0"/>
              </a:rPr>
              <a:t>Os comandos rodam dentro de backend/ — o prefixo completo é .venv\Scripts\python.exe -m ...</a:t>
            </a:r>
          </a:p>
        </p:txBody>
      </p:sp>
    </p:spTree>
    <p:extLst>
      <p:ext uri="{BB962C8B-B14F-4D97-AF65-F5344CB8AC3E}">
        <p14:creationId xmlns:p14="http://schemas.microsoft.com/office/powerpoint/2010/main" val="3812623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E8D5925-04EF-C366-6415-47BD10B03391}"/>
              </a:ext>
            </a:extLst>
          </p:cNvPr>
          <p:cNvSpPr txBox="1"/>
          <p:nvPr/>
        </p:nvSpPr>
        <p:spPr>
          <a:xfrm>
            <a:off x="508000" y="3302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E8A33D"/>
                </a:solidFill>
                <a:latin typeface="Calibri" panose="020F0502020204030204" pitchFamily="34" charset="0"/>
              </a:rPr>
              <a:t>COMO FOI FEITO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FC64681-BEBF-FC12-68E4-4E24562166F0}"/>
              </a:ext>
            </a:extLst>
          </p:cNvPr>
          <p:cNvSpPr txBox="1"/>
          <p:nvPr/>
        </p:nvSpPr>
        <p:spPr>
          <a:xfrm>
            <a:off x="508000" y="5588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800" b="1">
                <a:solidFill>
                  <a:srgbClr val="0F3B3A"/>
                </a:solidFill>
                <a:latin typeface="Cambria" panose="02040503050406030204" pitchFamily="18" charset="0"/>
              </a:rPr>
              <a:t>TDD: o teste vem antes do código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2962837-2B2F-B924-B439-2F6D28791CD4}"/>
              </a:ext>
            </a:extLst>
          </p:cNvPr>
          <p:cNvSpPr txBox="1"/>
          <p:nvPr/>
        </p:nvSpPr>
        <p:spPr>
          <a:xfrm>
            <a:off x="11049000" y="6502400"/>
            <a:ext cx="635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B6B69"/>
                </a:solidFill>
                <a:latin typeface="Calibri" panose="020F0502020204030204" pitchFamily="34" charset="0"/>
              </a:rPr>
              <a:t>7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818CCCD9-56F8-B980-FD62-051B18457079}"/>
              </a:ext>
            </a:extLst>
          </p:cNvPr>
          <p:cNvSpPr/>
          <p:nvPr/>
        </p:nvSpPr>
        <p:spPr>
          <a:xfrm>
            <a:off x="1206500" y="1320800"/>
            <a:ext cx="1905000" cy="1905000"/>
          </a:xfrm>
          <a:prstGeom prst="ellipse">
            <a:avLst/>
          </a:prstGeom>
          <a:solidFill>
            <a:srgbClr val="B03A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0F3B09C-D1D6-599E-A234-87838A456DF4}"/>
              </a:ext>
            </a:extLst>
          </p:cNvPr>
          <p:cNvSpPr txBox="1"/>
          <p:nvPr/>
        </p:nvSpPr>
        <p:spPr>
          <a:xfrm>
            <a:off x="1206500" y="1930400"/>
            <a:ext cx="1905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Cambria" panose="02040503050406030204" pitchFamily="18" charset="0"/>
              </a:rPr>
              <a:t>RED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B5FF11C-6AA6-EFC0-1A73-6F248FEAB076}"/>
              </a:ext>
            </a:extLst>
          </p:cNvPr>
          <p:cNvSpPr txBox="1"/>
          <p:nvPr/>
        </p:nvSpPr>
        <p:spPr>
          <a:xfrm>
            <a:off x="1206500" y="2362200"/>
            <a:ext cx="1905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300">
                <a:solidFill>
                  <a:srgbClr val="FFFFFF"/>
                </a:solidFill>
                <a:latin typeface="Calibri" panose="020F0502020204030204" pitchFamily="34" charset="0"/>
              </a:rPr>
              <a:t>teste falha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F99ED07-D547-9F7D-80DD-7E08B7850F67}"/>
              </a:ext>
            </a:extLst>
          </p:cNvPr>
          <p:cNvSpPr txBox="1"/>
          <p:nvPr/>
        </p:nvSpPr>
        <p:spPr>
          <a:xfrm>
            <a:off x="635000" y="3454400"/>
            <a:ext cx="304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 b="1">
                <a:solidFill>
                  <a:srgbClr val="0F3B3A"/>
                </a:solidFill>
                <a:latin typeface="Calibri" panose="020F0502020204030204" pitchFamily="34" charset="0"/>
              </a:rPr>
              <a:t>1. Escreve o teste primeiro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7554A37-214B-9687-B4C5-2CAE3E276AE9}"/>
              </a:ext>
            </a:extLst>
          </p:cNvPr>
          <p:cNvSpPr txBox="1"/>
          <p:nvPr/>
        </p:nvSpPr>
        <p:spPr>
          <a:xfrm>
            <a:off x="635000" y="3810000"/>
            <a:ext cx="3048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Criamos 5 arquivos de teste descrevendo as regras. Ao rodar: ModuleNotFoundError — o código ainda não existia. Falhar aqui é o esperado!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12FA046C-EF23-BC51-9786-5CAFD0AE6112}"/>
              </a:ext>
            </a:extLst>
          </p:cNvPr>
          <p:cNvCxnSpPr/>
          <p:nvPr/>
        </p:nvCxnSpPr>
        <p:spPr>
          <a:xfrm>
            <a:off x="3238500" y="2273300"/>
            <a:ext cx="1778000" cy="0"/>
          </a:xfrm>
          <a:prstGeom prst="straightConnector1">
            <a:avLst/>
          </a:prstGeom>
          <a:ln w="31750">
            <a:solidFill>
              <a:srgbClr val="5B6B6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F6DCA69B-8440-D78D-57C3-3764849EB5D0}"/>
              </a:ext>
            </a:extLst>
          </p:cNvPr>
          <p:cNvSpPr/>
          <p:nvPr/>
        </p:nvSpPr>
        <p:spPr>
          <a:xfrm>
            <a:off x="5143500" y="1320800"/>
            <a:ext cx="1905000" cy="1905000"/>
          </a:xfrm>
          <a:prstGeom prst="ellipse">
            <a:avLst/>
          </a:prstGeom>
          <a:solidFill>
            <a:srgbClr val="2E8B5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9DA0416-CB80-90F6-75D4-F7AFB45705DC}"/>
              </a:ext>
            </a:extLst>
          </p:cNvPr>
          <p:cNvSpPr txBox="1"/>
          <p:nvPr/>
        </p:nvSpPr>
        <p:spPr>
          <a:xfrm>
            <a:off x="5143500" y="1930400"/>
            <a:ext cx="1905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Cambria" panose="02040503050406030204" pitchFamily="18" charset="0"/>
              </a:rPr>
              <a:t>GREEN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AF9110C-4D1D-CC44-7843-D316F8296BF0}"/>
              </a:ext>
            </a:extLst>
          </p:cNvPr>
          <p:cNvSpPr txBox="1"/>
          <p:nvPr/>
        </p:nvSpPr>
        <p:spPr>
          <a:xfrm>
            <a:off x="5143500" y="2362200"/>
            <a:ext cx="1905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300">
                <a:solidFill>
                  <a:srgbClr val="FFFFFF"/>
                </a:solidFill>
                <a:latin typeface="Calibri" panose="020F0502020204030204" pitchFamily="34" charset="0"/>
              </a:rPr>
              <a:t>teste passa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5459F7-9686-A849-F917-96AD7F3FF905}"/>
              </a:ext>
            </a:extLst>
          </p:cNvPr>
          <p:cNvSpPr txBox="1"/>
          <p:nvPr/>
        </p:nvSpPr>
        <p:spPr>
          <a:xfrm>
            <a:off x="4572000" y="3454400"/>
            <a:ext cx="304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 b="1">
                <a:solidFill>
                  <a:srgbClr val="0F3B3A"/>
                </a:solidFill>
                <a:latin typeface="Calibri" panose="020F0502020204030204" pitchFamily="34" charset="0"/>
              </a:rPr>
              <a:t>2. Escreve o código para passar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AB606A9-6808-5C6A-1370-B31C78DC34C5}"/>
              </a:ext>
            </a:extLst>
          </p:cNvPr>
          <p:cNvSpPr txBox="1"/>
          <p:nvPr/>
        </p:nvSpPr>
        <p:spPr>
          <a:xfrm>
            <a:off x="4572000" y="3810000"/>
            <a:ext cx="3048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Implementamos exceções, Value Objects e entidades até o pytest mostrar 114 passed.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50873195-4DD5-004E-5D3A-D847BB381B8D}"/>
              </a:ext>
            </a:extLst>
          </p:cNvPr>
          <p:cNvCxnSpPr/>
          <p:nvPr/>
        </p:nvCxnSpPr>
        <p:spPr>
          <a:xfrm>
            <a:off x="7175500" y="2273300"/>
            <a:ext cx="1778000" cy="0"/>
          </a:xfrm>
          <a:prstGeom prst="straightConnector1">
            <a:avLst/>
          </a:prstGeom>
          <a:ln w="31750">
            <a:solidFill>
              <a:srgbClr val="5B6B6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E7B4A4D9-51B0-E996-B7F1-46E7B1C135B8}"/>
              </a:ext>
            </a:extLst>
          </p:cNvPr>
          <p:cNvSpPr/>
          <p:nvPr/>
        </p:nvSpPr>
        <p:spPr>
          <a:xfrm>
            <a:off x="9080500" y="1320800"/>
            <a:ext cx="1905000" cy="1905000"/>
          </a:xfrm>
          <a:prstGeom prst="ellipse">
            <a:avLst/>
          </a:prstGeom>
          <a:solidFill>
            <a:srgbClr val="1F6F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618A143-FB23-16EC-1944-DDBEA6DA5039}"/>
              </a:ext>
            </a:extLst>
          </p:cNvPr>
          <p:cNvSpPr txBox="1"/>
          <p:nvPr/>
        </p:nvSpPr>
        <p:spPr>
          <a:xfrm>
            <a:off x="9080500" y="1930400"/>
            <a:ext cx="1905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2400" b="1">
                <a:solidFill>
                  <a:srgbClr val="FFFFFF"/>
                </a:solidFill>
                <a:latin typeface="Cambria" panose="02040503050406030204" pitchFamily="18" charset="0"/>
              </a:rPr>
              <a:t>REFACTOR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08381FC-EE5E-A36D-1EF7-EAD6C54EA0B2}"/>
              </a:ext>
            </a:extLst>
          </p:cNvPr>
          <p:cNvSpPr txBox="1"/>
          <p:nvPr/>
        </p:nvSpPr>
        <p:spPr>
          <a:xfrm>
            <a:off x="9080500" y="2362200"/>
            <a:ext cx="1905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300">
                <a:solidFill>
                  <a:srgbClr val="FFFFFF"/>
                </a:solidFill>
                <a:latin typeface="Calibri" panose="020F0502020204030204" pitchFamily="34" charset="0"/>
              </a:rPr>
              <a:t>melhora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DF388C0-A095-56A4-1647-0590B976125A}"/>
              </a:ext>
            </a:extLst>
          </p:cNvPr>
          <p:cNvSpPr txBox="1"/>
          <p:nvPr/>
        </p:nvSpPr>
        <p:spPr>
          <a:xfrm>
            <a:off x="8509000" y="3454400"/>
            <a:ext cx="304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 b="1">
                <a:solidFill>
                  <a:srgbClr val="0F3B3A"/>
                </a:solidFill>
                <a:latin typeface="Calibri" panose="020F0502020204030204" pitchFamily="34" charset="0"/>
              </a:rPr>
              <a:t>3. Melhora sem quebrar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8D93660-920E-2DD1-2F6B-E347F75E3B6C}"/>
              </a:ext>
            </a:extLst>
          </p:cNvPr>
          <p:cNvSpPr txBox="1"/>
          <p:nvPr/>
        </p:nvSpPr>
        <p:spPr>
          <a:xfrm>
            <a:off x="8509000" y="3810000"/>
            <a:ext cx="3048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O ruff format padronizou o estilo e o mypy conferiu os tipos. Os testes continuaram verdes.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2CA1ABA7-20AC-A4F3-5C11-7C069BA524ED}"/>
              </a:ext>
            </a:extLst>
          </p:cNvPr>
          <p:cNvSpPr/>
          <p:nvPr/>
        </p:nvSpPr>
        <p:spPr>
          <a:xfrm>
            <a:off x="508000" y="5359400"/>
            <a:ext cx="11176000" cy="939800"/>
          </a:xfrm>
          <a:prstGeom prst="roundRect">
            <a:avLst>
              <a:gd name="adj" fmla="val 6000"/>
            </a:avLst>
          </a:prstGeom>
          <a:solidFill>
            <a:srgbClr val="FBEF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21920" rIns="203200" bIns="121920" rtlCol="0" anchor="ctr"/>
          <a:lstStyle/>
          <a:p>
            <a:r>
              <a:rPr lang="pt-BR" sz="1500">
                <a:solidFill>
                  <a:srgbClr val="0F3B3A"/>
                </a:solidFill>
                <a:latin typeface="Calibri" panose="020F0502020204030204" pitchFamily="34" charset="0"/>
              </a:rPr>
              <a:t>Por que assim? O teste vira a especificação executável da regra. Se no futuro alguém quebrar “não fechar sem valor”, um teste fica vermelho na hora.</a:t>
            </a:r>
          </a:p>
        </p:txBody>
      </p:sp>
    </p:spTree>
    <p:extLst>
      <p:ext uri="{BB962C8B-B14F-4D97-AF65-F5344CB8AC3E}">
        <p14:creationId xmlns:p14="http://schemas.microsoft.com/office/powerpoint/2010/main" val="757284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85CA166-1543-62B2-9ACD-C684110EF970}"/>
              </a:ext>
            </a:extLst>
          </p:cNvPr>
          <p:cNvSpPr txBox="1"/>
          <p:nvPr/>
        </p:nvSpPr>
        <p:spPr>
          <a:xfrm>
            <a:off x="508000" y="3302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E8A33D"/>
                </a:solidFill>
                <a:latin typeface="Calibri" panose="020F0502020204030204" pitchFamily="34" charset="0"/>
              </a:rPr>
              <a:t>CONCEITO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D3D45D8-C498-5390-5828-030DE12A73AE}"/>
              </a:ext>
            </a:extLst>
          </p:cNvPr>
          <p:cNvSpPr txBox="1"/>
          <p:nvPr/>
        </p:nvSpPr>
        <p:spPr>
          <a:xfrm>
            <a:off x="508000" y="5588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800" b="1">
                <a:solidFill>
                  <a:srgbClr val="0F3B3A"/>
                </a:solidFill>
                <a:latin typeface="Cambria" panose="02040503050406030204" pitchFamily="18" charset="0"/>
              </a:rPr>
              <a:t>Value Objects: valores que se validam sozinhos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EA06941-7B6C-7B61-1409-71F72F44EA92}"/>
              </a:ext>
            </a:extLst>
          </p:cNvPr>
          <p:cNvSpPr txBox="1"/>
          <p:nvPr/>
        </p:nvSpPr>
        <p:spPr>
          <a:xfrm>
            <a:off x="11049000" y="6502400"/>
            <a:ext cx="635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B6B69"/>
                </a:solidFill>
                <a:latin typeface="Calibri" panose="020F0502020204030204" pitchFamily="34" charset="0"/>
              </a:rPr>
              <a:t>8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A0BEAE9-1A20-A12E-5F3B-480F274DF43D}"/>
              </a:ext>
            </a:extLst>
          </p:cNvPr>
          <p:cNvSpPr txBox="1"/>
          <p:nvPr/>
        </p:nvSpPr>
        <p:spPr>
          <a:xfrm>
            <a:off x="508000" y="1346200"/>
            <a:ext cx="4826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>
                <a:solidFill>
                  <a:srgbClr val="0F3B3A"/>
                </a:solidFill>
                <a:latin typeface="Calibri" panose="020F0502020204030204" pitchFamily="34" charset="0"/>
              </a:rPr>
              <a:t>Um valor pequeno que se valida no momento em que nasce. Se for inválido, ele simplesmente não chega a existir.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547BAB0-32AD-607B-4FB1-15E7D2DE63BD}"/>
              </a:ext>
            </a:extLst>
          </p:cNvPr>
          <p:cNvSpPr/>
          <p:nvPr/>
        </p:nvSpPr>
        <p:spPr>
          <a:xfrm>
            <a:off x="508000" y="2438400"/>
            <a:ext cx="381000" cy="381000"/>
          </a:xfrm>
          <a:prstGeom prst="ellipse">
            <a:avLst/>
          </a:prstGeom>
          <a:solidFill>
            <a:srgbClr val="E8A3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350" b="1">
                <a:solidFill>
                  <a:srgbClr val="0F3B3A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BECD8C0-85A0-024C-0E34-1A9826987B96}"/>
              </a:ext>
            </a:extLst>
          </p:cNvPr>
          <p:cNvSpPr txBox="1"/>
          <p:nvPr/>
        </p:nvSpPr>
        <p:spPr>
          <a:xfrm>
            <a:off x="1041400" y="2438400"/>
            <a:ext cx="4292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0F3B3A"/>
                </a:solidFill>
                <a:latin typeface="Calibri" panose="020F0502020204030204" pitchFamily="34" charset="0"/>
              </a:rPr>
              <a:t>Imutável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B8EEC57-A471-E243-CC81-53579BE9A320}"/>
              </a:ext>
            </a:extLst>
          </p:cNvPr>
          <p:cNvSpPr txBox="1"/>
          <p:nvPr/>
        </p:nvSpPr>
        <p:spPr>
          <a:xfrm>
            <a:off x="1041400" y="2717800"/>
            <a:ext cx="4292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@dataclass(frozen=True): depois de criado, não muda mais.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C3453C8-2DB7-D83B-4F62-7DB26EE2BB61}"/>
              </a:ext>
            </a:extLst>
          </p:cNvPr>
          <p:cNvSpPr/>
          <p:nvPr/>
        </p:nvSpPr>
        <p:spPr>
          <a:xfrm>
            <a:off x="508000" y="3403600"/>
            <a:ext cx="381000" cy="381000"/>
          </a:xfrm>
          <a:prstGeom prst="ellipse">
            <a:avLst/>
          </a:prstGeom>
          <a:solidFill>
            <a:srgbClr val="E8A3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350" b="1">
                <a:solidFill>
                  <a:srgbClr val="0F3B3A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4E4BCD4-D625-92C2-6679-900C7BB20090}"/>
              </a:ext>
            </a:extLst>
          </p:cNvPr>
          <p:cNvSpPr txBox="1"/>
          <p:nvPr/>
        </p:nvSpPr>
        <p:spPr>
          <a:xfrm>
            <a:off x="1041400" y="3403600"/>
            <a:ext cx="4292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0F3B3A"/>
                </a:solidFill>
                <a:latin typeface="Calibri" panose="020F0502020204030204" pitchFamily="34" charset="0"/>
              </a:rPr>
              <a:t>Igual pelo valor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B95B3B3-9DC4-A625-D718-39AECF3CCCD8}"/>
              </a:ext>
            </a:extLst>
          </p:cNvPr>
          <p:cNvSpPr txBox="1"/>
          <p:nvPr/>
        </p:nvSpPr>
        <p:spPr>
          <a:xfrm>
            <a:off x="1041400" y="3683000"/>
            <a:ext cx="4292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Dois telefones com os mesmos dígitos são iguais, mesmo escritos com máscaras diferentes.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375FEA2-AEA1-5CAB-A2B6-97164C08F3A5}"/>
              </a:ext>
            </a:extLst>
          </p:cNvPr>
          <p:cNvSpPr/>
          <p:nvPr/>
        </p:nvSpPr>
        <p:spPr>
          <a:xfrm>
            <a:off x="508000" y="4368800"/>
            <a:ext cx="381000" cy="381000"/>
          </a:xfrm>
          <a:prstGeom prst="ellipse">
            <a:avLst/>
          </a:prstGeom>
          <a:solidFill>
            <a:srgbClr val="E8A3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350" b="1">
                <a:solidFill>
                  <a:srgbClr val="0F3B3A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0E24D5E-18FD-5D87-1BAE-CF07C4B7B07A}"/>
              </a:ext>
            </a:extLst>
          </p:cNvPr>
          <p:cNvSpPr txBox="1"/>
          <p:nvPr/>
        </p:nvSpPr>
        <p:spPr>
          <a:xfrm>
            <a:off x="1041400" y="4368800"/>
            <a:ext cx="4292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0F3B3A"/>
                </a:solidFill>
                <a:latin typeface="Calibri" panose="020F0502020204030204" pitchFamily="34" charset="0"/>
              </a:rPr>
              <a:t>Validado na construção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3706591-04D9-3F9F-D67E-7BB5DC512663}"/>
              </a:ext>
            </a:extLst>
          </p:cNvPr>
          <p:cNvSpPr txBox="1"/>
          <p:nvPr/>
        </p:nvSpPr>
        <p:spPr>
          <a:xfrm>
            <a:off x="1041400" y="4648200"/>
            <a:ext cx="4292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O resto do sistema pode confiar: se existe um Email, ele é válido.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4089704-892E-63EE-5044-C07EAD4AF4DC}"/>
              </a:ext>
            </a:extLst>
          </p:cNvPr>
          <p:cNvSpPr/>
          <p:nvPr/>
        </p:nvSpPr>
        <p:spPr>
          <a:xfrm>
            <a:off x="508000" y="5461000"/>
            <a:ext cx="4826000" cy="8890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06680" rIns="177800" bIns="106680" rtlCol="0" anchor="ctr"/>
          <a:lstStyle/>
          <a:p>
            <a:r>
              <a:rPr lang="pt-BR" sz="1350" i="1">
                <a:solidFill>
                  <a:srgbClr val="0F3B3A"/>
                </a:solidFill>
                <a:latin typeface="Calibri" panose="020F0502020204030204" pitchFamily="34" charset="0"/>
              </a:rPr>
              <a:t>Como uma nota de R$ 10: não importa qual nota é, importa o valor. E nota falsa não entra no caixa.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8101C95-3EB2-3F42-6E87-F09FE1C0B925}"/>
              </a:ext>
            </a:extLst>
          </p:cNvPr>
          <p:cNvSpPr/>
          <p:nvPr/>
        </p:nvSpPr>
        <p:spPr>
          <a:xfrm>
            <a:off x="5715000" y="1346200"/>
            <a:ext cx="5969000" cy="406400"/>
          </a:xfrm>
          <a:prstGeom prst="rect">
            <a:avLst/>
          </a:prstGeom>
          <a:solidFill>
            <a:srgbClr val="0F3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5375D25-EDFA-A04B-E20C-0F789AFB8533}"/>
              </a:ext>
            </a:extLst>
          </p:cNvPr>
          <p:cNvSpPr txBox="1"/>
          <p:nvPr/>
        </p:nvSpPr>
        <p:spPr>
          <a:xfrm>
            <a:off x="5892800" y="1435100"/>
            <a:ext cx="3302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 b="1">
                <a:solidFill>
                  <a:srgbClr val="FFFFFF"/>
                </a:solidFill>
                <a:latin typeface="Calibri" panose="020F0502020204030204" pitchFamily="34" charset="0"/>
              </a:rPr>
              <a:t>Você cria...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0067965-25EA-44F1-2032-ECDC49D9317C}"/>
              </a:ext>
            </a:extLst>
          </p:cNvPr>
          <p:cNvSpPr txBox="1"/>
          <p:nvPr/>
        </p:nvSpPr>
        <p:spPr>
          <a:xfrm>
            <a:off x="9321800" y="1435100"/>
            <a:ext cx="228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 b="1">
                <a:solidFill>
                  <a:srgbClr val="FFFFFF"/>
                </a:solidFill>
                <a:latin typeface="Calibri" panose="020F0502020204030204" pitchFamily="34" charset="0"/>
              </a:rPr>
              <a:t>Resultado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F5B026B-AAF3-0038-156D-8AC08E5D1802}"/>
              </a:ext>
            </a:extLst>
          </p:cNvPr>
          <p:cNvSpPr/>
          <p:nvPr/>
        </p:nvSpPr>
        <p:spPr>
          <a:xfrm>
            <a:off x="5715000" y="1803400"/>
            <a:ext cx="5969000" cy="635000"/>
          </a:xfrm>
          <a:prstGeom prst="rect">
            <a:avLst/>
          </a:prstGeom>
          <a:solidFill>
            <a:srgbClr val="E5F3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1933892-3494-7EF9-5D8F-FC85B57E2ABE}"/>
              </a:ext>
            </a:extLst>
          </p:cNvPr>
          <p:cNvSpPr txBox="1"/>
          <p:nvPr/>
        </p:nvSpPr>
        <p:spPr>
          <a:xfrm>
            <a:off x="5892800" y="1803400"/>
            <a:ext cx="33274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200">
                <a:solidFill>
                  <a:srgbClr val="1E2B2A"/>
                </a:solidFill>
                <a:latin typeface="Consolas" panose="020B0609020204030204" pitchFamily="49" charset="0"/>
              </a:rPr>
              <a:t>Telefone("(31) 99876-5432")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DE26476-5A94-F20B-67B9-C0034B0A9194}"/>
              </a:ext>
            </a:extLst>
          </p:cNvPr>
          <p:cNvSpPr txBox="1"/>
          <p:nvPr/>
        </p:nvSpPr>
        <p:spPr>
          <a:xfrm>
            <a:off x="9321800" y="1803400"/>
            <a:ext cx="2286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250" b="1">
                <a:solidFill>
                  <a:srgbClr val="2E8B57"/>
                </a:solidFill>
                <a:latin typeface="Calibri" panose="020F0502020204030204" pitchFamily="34" charset="0"/>
              </a:rPr>
              <a:t>✓ "31998765432"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A6710F0-7590-D351-C2CC-16F38873F85C}"/>
              </a:ext>
            </a:extLst>
          </p:cNvPr>
          <p:cNvSpPr/>
          <p:nvPr/>
        </p:nvSpPr>
        <p:spPr>
          <a:xfrm>
            <a:off x="5715000" y="2489200"/>
            <a:ext cx="5969000" cy="635000"/>
          </a:xfrm>
          <a:prstGeom prst="rect">
            <a:avLst/>
          </a:prstGeom>
          <a:solidFill>
            <a:srgbClr val="FBE9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4744BC0-19FE-360E-BCAE-062C30838CFC}"/>
              </a:ext>
            </a:extLst>
          </p:cNvPr>
          <p:cNvSpPr txBox="1"/>
          <p:nvPr/>
        </p:nvSpPr>
        <p:spPr>
          <a:xfrm>
            <a:off x="5892800" y="2489200"/>
            <a:ext cx="33274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200">
                <a:solidFill>
                  <a:srgbClr val="1E2B2A"/>
                </a:solidFill>
                <a:latin typeface="Consolas" panose="020B0609020204030204" pitchFamily="49" charset="0"/>
              </a:rPr>
              <a:t>Telefone("99876-5432")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C7DA079-2096-CDBA-BB2A-1FA0750BBE3A}"/>
              </a:ext>
            </a:extLst>
          </p:cNvPr>
          <p:cNvSpPr txBox="1"/>
          <p:nvPr/>
        </p:nvSpPr>
        <p:spPr>
          <a:xfrm>
            <a:off x="9321800" y="2489200"/>
            <a:ext cx="2286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250" b="1">
                <a:solidFill>
                  <a:srgbClr val="B03A2E"/>
                </a:solidFill>
                <a:latin typeface="Calibri" panose="020F0502020204030204" pitchFamily="34" charset="0"/>
              </a:rPr>
              <a:t>✗ FormatoInvalido (sem DDD)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BCD5AA1-0BA7-A7FA-9A3B-0FA15F59CF1D}"/>
              </a:ext>
            </a:extLst>
          </p:cNvPr>
          <p:cNvSpPr/>
          <p:nvPr/>
        </p:nvSpPr>
        <p:spPr>
          <a:xfrm>
            <a:off x="5715000" y="3175000"/>
            <a:ext cx="5969000" cy="635000"/>
          </a:xfrm>
          <a:prstGeom prst="rect">
            <a:avLst/>
          </a:prstGeom>
          <a:solidFill>
            <a:srgbClr val="E5F3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B1B0F64-953D-B4E4-1224-2426CF024A20}"/>
              </a:ext>
            </a:extLst>
          </p:cNvPr>
          <p:cNvSpPr txBox="1"/>
          <p:nvPr/>
        </p:nvSpPr>
        <p:spPr>
          <a:xfrm>
            <a:off x="5892800" y="3175000"/>
            <a:ext cx="33274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200">
                <a:solidFill>
                  <a:srgbClr val="1E2B2A"/>
                </a:solidFill>
                <a:latin typeface="Consolas" panose="020B0609020204030204" pitchFamily="49" charset="0"/>
              </a:rPr>
              <a:t>Email("Joao@Empresa.COM")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FB56037-5E9B-A730-0E5F-BC2BB66ADB26}"/>
              </a:ext>
            </a:extLst>
          </p:cNvPr>
          <p:cNvSpPr txBox="1"/>
          <p:nvPr/>
        </p:nvSpPr>
        <p:spPr>
          <a:xfrm>
            <a:off x="9321800" y="3175000"/>
            <a:ext cx="2286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250" b="1">
                <a:solidFill>
                  <a:srgbClr val="2E8B57"/>
                </a:solidFill>
                <a:latin typeface="Calibri" panose="020F0502020204030204" pitchFamily="34" charset="0"/>
              </a:rPr>
              <a:t>✓ "joao@empresa.com"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658E9861-5A91-2751-5323-C247D2136FC3}"/>
              </a:ext>
            </a:extLst>
          </p:cNvPr>
          <p:cNvSpPr/>
          <p:nvPr/>
        </p:nvSpPr>
        <p:spPr>
          <a:xfrm>
            <a:off x="5715000" y="3860800"/>
            <a:ext cx="5969000" cy="635000"/>
          </a:xfrm>
          <a:prstGeom prst="rect">
            <a:avLst/>
          </a:prstGeom>
          <a:solidFill>
            <a:srgbClr val="FBE9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5A6806E-3730-10FF-591A-30911D82287E}"/>
              </a:ext>
            </a:extLst>
          </p:cNvPr>
          <p:cNvSpPr txBox="1"/>
          <p:nvPr/>
        </p:nvSpPr>
        <p:spPr>
          <a:xfrm>
            <a:off x="5892800" y="3860800"/>
            <a:ext cx="33274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200">
                <a:solidFill>
                  <a:srgbClr val="1E2B2A"/>
                </a:solidFill>
                <a:latin typeface="Consolas" panose="020B0609020204030204" pitchFamily="49" charset="0"/>
              </a:rPr>
              <a:t>Email("sem-arroba.com")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1A54E98-EA0C-B734-F177-F3A6E9E289DC}"/>
              </a:ext>
            </a:extLst>
          </p:cNvPr>
          <p:cNvSpPr txBox="1"/>
          <p:nvPr/>
        </p:nvSpPr>
        <p:spPr>
          <a:xfrm>
            <a:off x="9321800" y="3860800"/>
            <a:ext cx="2286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250" b="1">
                <a:solidFill>
                  <a:srgbClr val="B03A2E"/>
                </a:solidFill>
                <a:latin typeface="Calibri" panose="020F0502020204030204" pitchFamily="34" charset="0"/>
              </a:rPr>
              <a:t>✗ FormatoInvalido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9D960C00-AB9B-6BE5-0B00-7045003A848C}"/>
              </a:ext>
            </a:extLst>
          </p:cNvPr>
          <p:cNvSpPr/>
          <p:nvPr/>
        </p:nvSpPr>
        <p:spPr>
          <a:xfrm>
            <a:off x="5715000" y="4546600"/>
            <a:ext cx="5969000" cy="635000"/>
          </a:xfrm>
          <a:prstGeom prst="rect">
            <a:avLst/>
          </a:prstGeom>
          <a:solidFill>
            <a:srgbClr val="E5F3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9669828-39E5-0010-DB81-D81DADB063E8}"/>
              </a:ext>
            </a:extLst>
          </p:cNvPr>
          <p:cNvSpPr txBox="1"/>
          <p:nvPr/>
        </p:nvSpPr>
        <p:spPr>
          <a:xfrm>
            <a:off x="5892800" y="4546600"/>
            <a:ext cx="33274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200">
                <a:solidFill>
                  <a:srgbClr val="1E2B2A"/>
                </a:solidFill>
                <a:latin typeface="Consolas" panose="020B0609020204030204" pitchFamily="49" charset="0"/>
              </a:rPr>
              <a:t>ValorOrcado(Decimal("99.9"))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C1C0B1C1-7264-684D-02F1-3B8295B443E0}"/>
              </a:ext>
            </a:extLst>
          </p:cNvPr>
          <p:cNvSpPr txBox="1"/>
          <p:nvPr/>
        </p:nvSpPr>
        <p:spPr>
          <a:xfrm>
            <a:off x="9321800" y="4546600"/>
            <a:ext cx="2286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250" b="1">
                <a:solidFill>
                  <a:srgbClr val="2E8B57"/>
                </a:solidFill>
                <a:latin typeface="Calibri" panose="020F0502020204030204" pitchFamily="34" charset="0"/>
              </a:rPr>
              <a:t>✓ 99.90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8B8862E2-2A56-9149-1BE2-A83E27B31738}"/>
              </a:ext>
            </a:extLst>
          </p:cNvPr>
          <p:cNvSpPr/>
          <p:nvPr/>
        </p:nvSpPr>
        <p:spPr>
          <a:xfrm>
            <a:off x="5715000" y="5232400"/>
            <a:ext cx="5969000" cy="635000"/>
          </a:xfrm>
          <a:prstGeom prst="rect">
            <a:avLst/>
          </a:prstGeom>
          <a:solidFill>
            <a:srgbClr val="FBE9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7EDB9F1-CDB1-9334-B1FC-8BCF974A126F}"/>
              </a:ext>
            </a:extLst>
          </p:cNvPr>
          <p:cNvSpPr txBox="1"/>
          <p:nvPr/>
        </p:nvSpPr>
        <p:spPr>
          <a:xfrm>
            <a:off x="5892800" y="5232400"/>
            <a:ext cx="33274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200">
                <a:solidFill>
                  <a:srgbClr val="1E2B2A"/>
                </a:solidFill>
                <a:latin typeface="Consolas" panose="020B0609020204030204" pitchFamily="49" charset="0"/>
              </a:rPr>
              <a:t>ValorOrcado(Decimal("0"))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E26838D-0F20-5A69-1BEC-B31DF34B6FF3}"/>
              </a:ext>
            </a:extLst>
          </p:cNvPr>
          <p:cNvSpPr txBox="1"/>
          <p:nvPr/>
        </p:nvSpPr>
        <p:spPr>
          <a:xfrm>
            <a:off x="9321800" y="5232400"/>
            <a:ext cx="2286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250" b="1">
                <a:solidFill>
                  <a:srgbClr val="B03A2E"/>
                </a:solidFill>
                <a:latin typeface="Calibri" panose="020F0502020204030204" pitchFamily="34" charset="0"/>
              </a:rPr>
              <a:t>✗ ValorInvalido (≤ 0)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4D3308A-4409-4815-FFE5-E9DAEF6511A4}"/>
              </a:ext>
            </a:extLst>
          </p:cNvPr>
          <p:cNvSpPr txBox="1"/>
          <p:nvPr/>
        </p:nvSpPr>
        <p:spPr>
          <a:xfrm>
            <a:off x="5715000" y="5994400"/>
            <a:ext cx="5969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00">
                <a:solidFill>
                  <a:srgbClr val="5B6B69"/>
                </a:solidFill>
                <a:latin typeface="Calibri" panose="020F0502020204030204" pitchFamily="34" charset="0"/>
              </a:rPr>
              <a:t>Também são Value Objects: EstagioAtendimento e TipoInteracao (enums — conjunto fechado de opções).</a:t>
            </a:r>
          </a:p>
        </p:txBody>
      </p:sp>
    </p:spTree>
    <p:extLst>
      <p:ext uri="{BB962C8B-B14F-4D97-AF65-F5344CB8AC3E}">
        <p14:creationId xmlns:p14="http://schemas.microsoft.com/office/powerpoint/2010/main" val="3860221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0F4C54B-2F2F-E654-735E-1CAFBE1B0338}"/>
              </a:ext>
            </a:extLst>
          </p:cNvPr>
          <p:cNvSpPr txBox="1"/>
          <p:nvPr/>
        </p:nvSpPr>
        <p:spPr>
          <a:xfrm>
            <a:off x="508000" y="3302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E8A33D"/>
                </a:solidFill>
                <a:latin typeface="Calibri" panose="020F0502020204030204" pitchFamily="34" charset="0"/>
              </a:rPr>
              <a:t>POR DENTRO DO CÓDIGO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7B005DA-FCF1-46C5-5E85-498A08DF373F}"/>
              </a:ext>
            </a:extLst>
          </p:cNvPr>
          <p:cNvSpPr txBox="1"/>
          <p:nvPr/>
        </p:nvSpPr>
        <p:spPr>
          <a:xfrm>
            <a:off x="508000" y="5588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800" b="1">
                <a:solidFill>
                  <a:srgbClr val="0F3B3A"/>
                </a:solidFill>
                <a:latin typeface="Cambria" panose="02040503050406030204" pitchFamily="18" charset="0"/>
              </a:rPr>
              <a:t>Exemplo: como o Telefone se valida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C3080E4-8D39-EFC7-B358-6F10BD5010FC}"/>
              </a:ext>
            </a:extLst>
          </p:cNvPr>
          <p:cNvSpPr txBox="1"/>
          <p:nvPr/>
        </p:nvSpPr>
        <p:spPr>
          <a:xfrm>
            <a:off x="11049000" y="6502400"/>
            <a:ext cx="635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B6B69"/>
                </a:solidFill>
                <a:latin typeface="Calibri" panose="020F0502020204030204" pitchFamily="34" charset="0"/>
              </a:rPr>
              <a:t>9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0DCBAFF-987C-C5A0-CB79-0B8108AAC05E}"/>
              </a:ext>
            </a:extLst>
          </p:cNvPr>
          <p:cNvSpPr/>
          <p:nvPr/>
        </p:nvSpPr>
        <p:spPr>
          <a:xfrm>
            <a:off x="508000" y="1346200"/>
            <a:ext cx="7112000" cy="4191000"/>
          </a:xfrm>
          <a:prstGeom prst="roundRect">
            <a:avLst>
              <a:gd name="adj" fmla="val 3000"/>
            </a:avLst>
          </a:prstGeom>
          <a:solidFill>
            <a:srgbClr val="1B26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21920" rIns="203200" bIns="121920" rtlCol="0" anchor="t"/>
          <a:lstStyle/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@dataclass(frozen=True)                    # (1)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class Telefone: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    numero: str</a:t>
            </a:r>
          </a:p>
          <a:p>
            <a:endParaRPr lang="pt-BR" sz="1400">
              <a:solidFill>
                <a:srgbClr val="E3ECEA"/>
              </a:solidFill>
              <a:latin typeface="Consolas" panose="020B0609020204030204" pitchFamily="49" charset="0"/>
            </a:endParaRP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    def __post_init__(self) -&gt; None:       # (2)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        digitos = tirar_mascara(self.numero)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        if not TELEFONE_BR.fullmatch(digitos):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            raise FormatoInvalido(         # (3)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                "Telefone inválido...",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                campo="telefone",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            )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        # (4) guarda só os dígitos</a:t>
            </a:r>
          </a:p>
          <a:p>
            <a:r>
              <a:rPr lang="pt-BR" sz="1400">
                <a:solidFill>
                  <a:srgbClr val="E3ECEA"/>
                </a:solidFill>
                <a:latin typeface="Consolas" panose="020B0609020204030204" pitchFamily="49" charset="0"/>
              </a:rPr>
              <a:t>        object.__setattr__(self, "numero", digitos)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A51BCDB-91BF-35F5-0669-D26389624B2F}"/>
              </a:ext>
            </a:extLst>
          </p:cNvPr>
          <p:cNvSpPr/>
          <p:nvPr/>
        </p:nvSpPr>
        <p:spPr>
          <a:xfrm>
            <a:off x="7937500" y="1346200"/>
            <a:ext cx="381000" cy="381000"/>
          </a:xfrm>
          <a:prstGeom prst="ellipse">
            <a:avLst/>
          </a:prstGeom>
          <a:solidFill>
            <a:srgbClr val="E8A3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350" b="1">
                <a:solidFill>
                  <a:srgbClr val="0F3B3A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0BDE919-F91D-685F-858E-2B6E4FBAEC4B}"/>
              </a:ext>
            </a:extLst>
          </p:cNvPr>
          <p:cNvSpPr txBox="1"/>
          <p:nvPr/>
        </p:nvSpPr>
        <p:spPr>
          <a:xfrm>
            <a:off x="8458200" y="1384300"/>
            <a:ext cx="3225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50" b="1">
                <a:solidFill>
                  <a:srgbClr val="0F3B3A"/>
                </a:solidFill>
                <a:latin typeface="Consolas" panose="020B0609020204030204" pitchFamily="49" charset="0"/>
              </a:rPr>
              <a:t>frozen=True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47236C-9B93-88DF-BCE5-B58B3FB3BD85}"/>
              </a:ext>
            </a:extLst>
          </p:cNvPr>
          <p:cNvSpPr txBox="1"/>
          <p:nvPr/>
        </p:nvSpPr>
        <p:spPr>
          <a:xfrm>
            <a:off x="8458200" y="1676400"/>
            <a:ext cx="32258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1E2B2A"/>
                </a:solidFill>
                <a:latin typeface="Calibri" panose="020F0502020204030204" pitchFamily="34" charset="0"/>
              </a:rPr>
              <a:t>Torna o objeto imutável. Tentar alterar numero depois dá erro.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83E114A-2AB7-627C-56EB-38AB409900CC}"/>
              </a:ext>
            </a:extLst>
          </p:cNvPr>
          <p:cNvSpPr/>
          <p:nvPr/>
        </p:nvSpPr>
        <p:spPr>
          <a:xfrm>
            <a:off x="7937500" y="2413000"/>
            <a:ext cx="381000" cy="381000"/>
          </a:xfrm>
          <a:prstGeom prst="ellipse">
            <a:avLst/>
          </a:prstGeom>
          <a:solidFill>
            <a:srgbClr val="E8A3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350" b="1">
                <a:solidFill>
                  <a:srgbClr val="0F3B3A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D76FCC-EBBF-027A-D77C-F20EE1C6121D}"/>
              </a:ext>
            </a:extLst>
          </p:cNvPr>
          <p:cNvSpPr txBox="1"/>
          <p:nvPr/>
        </p:nvSpPr>
        <p:spPr>
          <a:xfrm>
            <a:off x="8458200" y="2451100"/>
            <a:ext cx="3225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50" b="1">
                <a:solidFill>
                  <a:srgbClr val="0F3B3A"/>
                </a:solidFill>
                <a:latin typeface="Consolas" panose="020B0609020204030204" pitchFamily="49" charset="0"/>
              </a:rPr>
              <a:t>__post_init__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2C92439-10E4-9C80-E1BB-5913C9BA5ACD}"/>
              </a:ext>
            </a:extLst>
          </p:cNvPr>
          <p:cNvSpPr txBox="1"/>
          <p:nvPr/>
        </p:nvSpPr>
        <p:spPr>
          <a:xfrm>
            <a:off x="8458200" y="2743200"/>
            <a:ext cx="32258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1E2B2A"/>
                </a:solidFill>
                <a:latin typeface="Calibri" panose="020F0502020204030204" pitchFamily="34" charset="0"/>
              </a:rPr>
              <a:t>Método que o Python chama logo após criar o objeto: é aqui que validamos.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3D9A46C-FD3C-6691-C4C9-155BDE60BD33}"/>
              </a:ext>
            </a:extLst>
          </p:cNvPr>
          <p:cNvSpPr/>
          <p:nvPr/>
        </p:nvSpPr>
        <p:spPr>
          <a:xfrm>
            <a:off x="7937500" y="3479800"/>
            <a:ext cx="381000" cy="381000"/>
          </a:xfrm>
          <a:prstGeom prst="ellipse">
            <a:avLst/>
          </a:prstGeom>
          <a:solidFill>
            <a:srgbClr val="E8A3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350" b="1">
                <a:solidFill>
                  <a:srgbClr val="0F3B3A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9DE98CE-EA5E-F6F7-1AED-0E6CE438CB28}"/>
              </a:ext>
            </a:extLst>
          </p:cNvPr>
          <p:cNvSpPr txBox="1"/>
          <p:nvPr/>
        </p:nvSpPr>
        <p:spPr>
          <a:xfrm>
            <a:off x="8458200" y="3517900"/>
            <a:ext cx="3225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50" b="1">
                <a:solidFill>
                  <a:srgbClr val="0F3B3A"/>
                </a:solidFill>
                <a:latin typeface="Consolas" panose="020B0609020204030204" pitchFamily="49" charset="0"/>
              </a:rPr>
              <a:t>raise FormatoInvalido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04DFADD-95D6-F22C-2D82-8E3130FDEDB7}"/>
              </a:ext>
            </a:extLst>
          </p:cNvPr>
          <p:cNvSpPr txBox="1"/>
          <p:nvPr/>
        </p:nvSpPr>
        <p:spPr>
          <a:xfrm>
            <a:off x="8458200" y="3810000"/>
            <a:ext cx="32258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1E2B2A"/>
                </a:solidFill>
                <a:latin typeface="Calibri" panose="020F0502020204030204" pitchFamily="34" charset="0"/>
              </a:rPr>
              <a:t>Formato errado? Lança o erro e o objeto não é criado. O campo diz qual dado corrigir.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727A673-C18A-0101-2C10-0D9ADE642961}"/>
              </a:ext>
            </a:extLst>
          </p:cNvPr>
          <p:cNvSpPr/>
          <p:nvPr/>
        </p:nvSpPr>
        <p:spPr>
          <a:xfrm>
            <a:off x="7937500" y="4546600"/>
            <a:ext cx="381000" cy="381000"/>
          </a:xfrm>
          <a:prstGeom prst="ellipse">
            <a:avLst/>
          </a:prstGeom>
          <a:solidFill>
            <a:srgbClr val="E8A3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350" b="1">
                <a:solidFill>
                  <a:srgbClr val="0F3B3A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5640417-FB7C-07D1-AE3E-DAC78E6E729C}"/>
              </a:ext>
            </a:extLst>
          </p:cNvPr>
          <p:cNvSpPr txBox="1"/>
          <p:nvPr/>
        </p:nvSpPr>
        <p:spPr>
          <a:xfrm>
            <a:off x="8458200" y="4584700"/>
            <a:ext cx="3225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50" b="1">
                <a:solidFill>
                  <a:srgbClr val="0F3B3A"/>
                </a:solidFill>
                <a:latin typeface="Consolas" panose="020B0609020204030204" pitchFamily="49" charset="0"/>
              </a:rPr>
              <a:t>Guarda só os dígitos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FADEAF4-6045-EA90-6F63-6C9558F7F167}"/>
              </a:ext>
            </a:extLst>
          </p:cNvPr>
          <p:cNvSpPr txBox="1"/>
          <p:nvPr/>
        </p:nvSpPr>
        <p:spPr>
          <a:xfrm>
            <a:off x="8458200" y="4876800"/>
            <a:ext cx="32258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1E2B2A"/>
                </a:solidFill>
                <a:latin typeface="Calibri" panose="020F0502020204030204" pitchFamily="34" charset="0"/>
              </a:rPr>
              <a:t>“(31) 99876-5432” vira “31998765432”. A máscara é assunto da tela (RN04).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94B8633-9A7A-210B-5FD8-A1C6439C985C}"/>
              </a:ext>
            </a:extLst>
          </p:cNvPr>
          <p:cNvSpPr txBox="1"/>
          <p:nvPr/>
        </p:nvSpPr>
        <p:spPr>
          <a:xfrm>
            <a:off x="508000" y="57150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5B6B69"/>
                </a:solidFill>
                <a:latin typeface="Calibri" panose="020F0502020204030204" pitchFamily="34" charset="0"/>
              </a:rPr>
              <a:t>Regra: DDD com 2 dígitos (1 a 9) + 8 dígitos (fixo) ou 9 dígitos começando com 9 (celular). Versão simplificada — o código real está em src/domain/value_objects/telefone.py</a:t>
            </a:r>
          </a:p>
        </p:txBody>
      </p:sp>
    </p:spTree>
    <p:extLst>
      <p:ext uri="{BB962C8B-B14F-4D97-AF65-F5344CB8AC3E}">
        <p14:creationId xmlns:p14="http://schemas.microsoft.com/office/powerpoint/2010/main" val="2158566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3113C47-31C1-ACF0-BAD0-0492B33129A3}"/>
              </a:ext>
            </a:extLst>
          </p:cNvPr>
          <p:cNvSpPr txBox="1"/>
          <p:nvPr/>
        </p:nvSpPr>
        <p:spPr>
          <a:xfrm>
            <a:off x="508000" y="3302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E8A33D"/>
                </a:solidFill>
                <a:latin typeface="Calibri" panose="020F0502020204030204" pitchFamily="34" charset="0"/>
              </a:rPr>
              <a:t>A REGRA CENTRAL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CA6C3A2-0917-CD55-C0E6-27F3CE08B57F}"/>
              </a:ext>
            </a:extLst>
          </p:cNvPr>
          <p:cNvSpPr txBox="1"/>
          <p:nvPr/>
        </p:nvSpPr>
        <p:spPr>
          <a:xfrm>
            <a:off x="508000" y="5588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800" b="1">
                <a:solidFill>
                  <a:srgbClr val="0F3B3A"/>
                </a:solidFill>
                <a:latin typeface="Cambria" panose="02040503050406030204" pitchFamily="18" charset="0"/>
              </a:rPr>
              <a:t>EstagioAtendimento: o funil como máquina de estados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384F7BA-FC6B-61F8-40DD-F77112651B46}"/>
              </a:ext>
            </a:extLst>
          </p:cNvPr>
          <p:cNvSpPr txBox="1"/>
          <p:nvPr/>
        </p:nvSpPr>
        <p:spPr>
          <a:xfrm>
            <a:off x="11049000" y="6502400"/>
            <a:ext cx="635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B6B69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F106060-26B9-355C-6459-1E2B2F926126}"/>
              </a:ext>
            </a:extLst>
          </p:cNvPr>
          <p:cNvSpPr/>
          <p:nvPr/>
        </p:nvSpPr>
        <p:spPr>
          <a:xfrm>
            <a:off x="508000" y="1714500"/>
            <a:ext cx="2413000" cy="711200"/>
          </a:xfrm>
          <a:prstGeom prst="roundRect">
            <a:avLst>
              <a:gd name="adj" fmla="val 15000"/>
            </a:avLst>
          </a:prstGeom>
          <a:solidFill>
            <a:srgbClr val="E6F0EE"/>
          </a:solidFill>
          <a:ln w="19050">
            <a:solidFill>
              <a:srgbClr val="1F6F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0480" rIns="50800" bIns="30480" rtlCol="0" anchor="ctr">
            <a:noAutofit/>
          </a:bodyPr>
          <a:lstStyle/>
          <a:p>
            <a:pPr algn="ctr"/>
            <a:r>
              <a:rPr lang="pt-BR" sz="1300" b="1">
                <a:solidFill>
                  <a:srgbClr val="0F3B3A"/>
                </a:solidFill>
                <a:latin typeface="Calibri" panose="020F0502020204030204" pitchFamily="34" charset="0"/>
              </a:rPr>
              <a:t>NOVO_CONTATO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B951E742-9F54-103A-347F-D02FBFF53F39}"/>
              </a:ext>
            </a:extLst>
          </p:cNvPr>
          <p:cNvCxnSpPr/>
          <p:nvPr/>
        </p:nvCxnSpPr>
        <p:spPr>
          <a:xfrm>
            <a:off x="2946400" y="2070100"/>
            <a:ext cx="457200" cy="0"/>
          </a:xfrm>
          <a:prstGeom prst="straightConnector1">
            <a:avLst/>
          </a:prstGeom>
          <a:ln w="31750">
            <a:solidFill>
              <a:srgbClr val="1F6F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6DA3154-1A38-2321-F0D8-2E622B9062F7}"/>
              </a:ext>
            </a:extLst>
          </p:cNvPr>
          <p:cNvSpPr/>
          <p:nvPr/>
        </p:nvSpPr>
        <p:spPr>
          <a:xfrm>
            <a:off x="3429000" y="1714500"/>
            <a:ext cx="2413000" cy="711200"/>
          </a:xfrm>
          <a:prstGeom prst="roundRect">
            <a:avLst>
              <a:gd name="adj" fmla="val 15000"/>
            </a:avLst>
          </a:prstGeom>
          <a:solidFill>
            <a:srgbClr val="E6F0EE"/>
          </a:solidFill>
          <a:ln w="19050">
            <a:solidFill>
              <a:srgbClr val="1F6F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0480" rIns="50800" bIns="30480" rtlCol="0" anchor="ctr">
            <a:noAutofit/>
          </a:bodyPr>
          <a:lstStyle/>
          <a:p>
            <a:pPr algn="ctr"/>
            <a:r>
              <a:rPr lang="pt-BR" sz="1300" b="1">
                <a:solidFill>
                  <a:srgbClr val="0F3B3A"/>
                </a:solidFill>
                <a:latin typeface="Calibri" panose="020F0502020204030204" pitchFamily="34" charset="0"/>
              </a:rPr>
              <a:t>EM_NEGOCIACAO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89C728A4-E8B3-45D1-694A-504292C736AB}"/>
              </a:ext>
            </a:extLst>
          </p:cNvPr>
          <p:cNvCxnSpPr/>
          <p:nvPr/>
        </p:nvCxnSpPr>
        <p:spPr>
          <a:xfrm>
            <a:off x="5867400" y="2070100"/>
            <a:ext cx="457200" cy="0"/>
          </a:xfrm>
          <a:prstGeom prst="straightConnector1">
            <a:avLst/>
          </a:prstGeom>
          <a:ln w="31750">
            <a:solidFill>
              <a:srgbClr val="1F6F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4D09077-46BC-99AF-A242-1AF3C69FA1E8}"/>
              </a:ext>
            </a:extLst>
          </p:cNvPr>
          <p:cNvSpPr/>
          <p:nvPr/>
        </p:nvSpPr>
        <p:spPr>
          <a:xfrm>
            <a:off x="6350000" y="1714500"/>
            <a:ext cx="2413000" cy="711200"/>
          </a:xfrm>
          <a:prstGeom prst="roundRect">
            <a:avLst>
              <a:gd name="adj" fmla="val 15000"/>
            </a:avLst>
          </a:prstGeom>
          <a:solidFill>
            <a:srgbClr val="E6F0EE"/>
          </a:solidFill>
          <a:ln w="19050">
            <a:solidFill>
              <a:srgbClr val="1F6F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30480" rIns="50800" bIns="30480" rtlCol="0" anchor="ctr">
            <a:noAutofit/>
          </a:bodyPr>
          <a:lstStyle/>
          <a:p>
            <a:pPr algn="ctr"/>
            <a:r>
              <a:rPr lang="pt-BR" sz="1300" b="1">
                <a:solidFill>
                  <a:srgbClr val="0F3B3A"/>
                </a:solidFill>
                <a:latin typeface="Calibri" panose="020F0502020204030204" pitchFamily="34" charset="0"/>
              </a:rPr>
              <a:t>ORCAMENTO_ENVIADO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08C854D3-30B4-68CA-3E1A-A62F99180811}"/>
              </a:ext>
            </a:extLst>
          </p:cNvPr>
          <p:cNvCxnSpPr/>
          <p:nvPr/>
        </p:nvCxnSpPr>
        <p:spPr>
          <a:xfrm>
            <a:off x="8788400" y="2070100"/>
            <a:ext cx="457200" cy="0"/>
          </a:xfrm>
          <a:prstGeom prst="straightConnector1">
            <a:avLst/>
          </a:prstGeom>
          <a:ln w="31750">
            <a:solidFill>
              <a:srgbClr val="1F6F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73F2FC0-A179-FA1F-9220-69B2816280B5}"/>
              </a:ext>
            </a:extLst>
          </p:cNvPr>
          <p:cNvSpPr/>
          <p:nvPr/>
        </p:nvSpPr>
        <p:spPr>
          <a:xfrm>
            <a:off x="9271000" y="1714500"/>
            <a:ext cx="2413000" cy="711200"/>
          </a:xfrm>
          <a:prstGeom prst="roundRect">
            <a:avLst>
              <a:gd name="adj" fmla="val 15000"/>
            </a:avLst>
          </a:prstGeom>
          <a:solidFill>
            <a:srgbClr val="0F3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0480" rIns="50800" bIns="30480"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  <a:latin typeface="Calibri" panose="020F0502020204030204" pitchFamily="34" charset="0"/>
              </a:rPr>
              <a:t>FECHADO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AA22D3F-657B-2FD1-5C64-CB8A27FCA864}"/>
              </a:ext>
            </a:extLst>
          </p:cNvPr>
          <p:cNvSpPr txBox="1"/>
          <p:nvPr/>
        </p:nvSpPr>
        <p:spPr>
          <a:xfrm>
            <a:off x="5461000" y="1447800"/>
            <a:ext cx="127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050" b="1">
                <a:solidFill>
                  <a:srgbClr val="E8A33D"/>
                </a:solidFill>
                <a:latin typeface="Calibri" panose="020F0502020204030204" pitchFamily="34" charset="0"/>
              </a:rPr>
              <a:t>exige valor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322057D-8882-6C4D-553B-4BE5F84E6BE2}"/>
              </a:ext>
            </a:extLst>
          </p:cNvPr>
          <p:cNvSpPr txBox="1"/>
          <p:nvPr/>
        </p:nvSpPr>
        <p:spPr>
          <a:xfrm>
            <a:off x="8382000" y="1447800"/>
            <a:ext cx="127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050" b="1">
                <a:solidFill>
                  <a:srgbClr val="E8A33D"/>
                </a:solidFill>
                <a:latin typeface="Calibri" panose="020F0502020204030204" pitchFamily="34" charset="0"/>
              </a:rPr>
              <a:t>exige valor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A231F1C-7CDE-4474-E750-1BE0211BDBD9}"/>
              </a:ext>
            </a:extLst>
          </p:cNvPr>
          <p:cNvSpPr/>
          <p:nvPr/>
        </p:nvSpPr>
        <p:spPr>
          <a:xfrm>
            <a:off x="4889500" y="3810000"/>
            <a:ext cx="2413000" cy="711200"/>
          </a:xfrm>
          <a:prstGeom prst="roundRect">
            <a:avLst>
              <a:gd name="adj" fmla="val 15000"/>
            </a:avLst>
          </a:prstGeom>
          <a:solidFill>
            <a:srgbClr val="0F3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0480" rIns="50800" bIns="30480"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  <a:latin typeface="Calibri" panose="020F0502020204030204" pitchFamily="34" charset="0"/>
              </a:rPr>
              <a:t>PERDIDO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6503119F-0E47-E24C-0801-FD76F1CFBED1}"/>
              </a:ext>
            </a:extLst>
          </p:cNvPr>
          <p:cNvCxnSpPr/>
          <p:nvPr/>
        </p:nvCxnSpPr>
        <p:spPr>
          <a:xfrm>
            <a:off x="1714500" y="2451100"/>
            <a:ext cx="3873500" cy="1333500"/>
          </a:xfrm>
          <a:prstGeom prst="straightConnector1">
            <a:avLst/>
          </a:prstGeom>
          <a:ln w="22225">
            <a:solidFill>
              <a:srgbClr val="5B6B6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291942FD-5A5E-2556-406D-BC858E2525AF}"/>
              </a:ext>
            </a:extLst>
          </p:cNvPr>
          <p:cNvCxnSpPr/>
          <p:nvPr/>
        </p:nvCxnSpPr>
        <p:spPr>
          <a:xfrm>
            <a:off x="4635500" y="2451100"/>
            <a:ext cx="1270000" cy="1333500"/>
          </a:xfrm>
          <a:prstGeom prst="straightConnector1">
            <a:avLst/>
          </a:prstGeom>
          <a:ln w="22225">
            <a:solidFill>
              <a:srgbClr val="5B6B6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8878A287-934C-B88A-47AC-7830C96C6995}"/>
              </a:ext>
            </a:extLst>
          </p:cNvPr>
          <p:cNvCxnSpPr/>
          <p:nvPr/>
        </p:nvCxnSpPr>
        <p:spPr>
          <a:xfrm flipH="1">
            <a:off x="6540500" y="2451100"/>
            <a:ext cx="1016000" cy="1333500"/>
          </a:xfrm>
          <a:prstGeom prst="straightConnector1">
            <a:avLst/>
          </a:prstGeom>
          <a:ln w="22225">
            <a:solidFill>
              <a:srgbClr val="5B6B6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A860D7F-D2A7-589B-E755-C4C0DA6ACB63}"/>
              </a:ext>
            </a:extLst>
          </p:cNvPr>
          <p:cNvSpPr txBox="1"/>
          <p:nvPr/>
        </p:nvSpPr>
        <p:spPr>
          <a:xfrm>
            <a:off x="7620000" y="3962400"/>
            <a:ext cx="4064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5B6B69"/>
                </a:solidFill>
                <a:latin typeface="Calibri" panose="020F0502020204030204" pitchFamily="34" charset="0"/>
              </a:rPr>
              <a:t>PERDIDO pode ser alcançado a partir de qualquer estágio ativo, com ou sem valor.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3E251E7-C1AC-94F3-E4A9-B1AC6C551AAA}"/>
              </a:ext>
            </a:extLst>
          </p:cNvPr>
          <p:cNvSpPr/>
          <p:nvPr/>
        </p:nvSpPr>
        <p:spPr>
          <a:xfrm>
            <a:off x="508000" y="3683000"/>
            <a:ext cx="203200" cy="203200"/>
          </a:xfrm>
          <a:prstGeom prst="rect">
            <a:avLst/>
          </a:prstGeom>
          <a:solidFill>
            <a:srgbClr val="E6F0EE"/>
          </a:solidFill>
          <a:ln w="19050">
            <a:solidFill>
              <a:srgbClr val="1F6F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8A8F87A-2943-9400-A92F-F5FE36C91BAE}"/>
              </a:ext>
            </a:extLst>
          </p:cNvPr>
          <p:cNvSpPr txBox="1"/>
          <p:nvPr/>
        </p:nvSpPr>
        <p:spPr>
          <a:xfrm>
            <a:off x="812800" y="36703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1E2B2A"/>
                </a:solidFill>
                <a:latin typeface="Calibri" panose="020F0502020204030204" pitchFamily="34" charset="0"/>
              </a:rPr>
              <a:t>estágio ativo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DA4EA19-7FAC-33CF-D58E-3D65EEFA89A0}"/>
              </a:ext>
            </a:extLst>
          </p:cNvPr>
          <p:cNvSpPr/>
          <p:nvPr/>
        </p:nvSpPr>
        <p:spPr>
          <a:xfrm>
            <a:off x="508000" y="3987800"/>
            <a:ext cx="203200" cy="203200"/>
          </a:xfrm>
          <a:prstGeom prst="rect">
            <a:avLst/>
          </a:prstGeom>
          <a:solidFill>
            <a:srgbClr val="0F3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30009B6-5210-B245-5258-92BA6FF998D4}"/>
              </a:ext>
            </a:extLst>
          </p:cNvPr>
          <p:cNvSpPr txBox="1"/>
          <p:nvPr/>
        </p:nvSpPr>
        <p:spPr>
          <a:xfrm>
            <a:off x="812800" y="3975100"/>
            <a:ext cx="254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1E2B2A"/>
                </a:solidFill>
                <a:latin typeface="Calibri" panose="020F0502020204030204" pitchFamily="34" charset="0"/>
              </a:rPr>
              <a:t>estágio final (não sai mais)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461B26B-0DB8-52EB-3EB6-E803F523B82B}"/>
              </a:ext>
            </a:extLst>
          </p:cNvPr>
          <p:cNvSpPr txBox="1"/>
          <p:nvPr/>
        </p:nvSpPr>
        <p:spPr>
          <a:xfrm>
            <a:off x="508000" y="4699000"/>
            <a:ext cx="1117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5B6B69"/>
                </a:solidFill>
                <a:latin typeface="Calibri" panose="020F0502020204030204" pitchFamily="34" charset="0"/>
              </a:rPr>
              <a:t>No código: mapa TRANSICOES_PERMITIDAS em estagio_atendimento.py. Os testes cobrem as 25 combinações (5×5): 6 permitidas e 19 proibidas.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B19C1B28-2950-98BF-2F43-DD0DCC0462F8}"/>
              </a:ext>
            </a:extLst>
          </p:cNvPr>
          <p:cNvSpPr/>
          <p:nvPr/>
        </p:nvSpPr>
        <p:spPr>
          <a:xfrm>
            <a:off x="508000" y="5080000"/>
            <a:ext cx="3594100" cy="124460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8B39A47-B59B-C6B8-36E2-95119D0CD0B2}"/>
              </a:ext>
            </a:extLst>
          </p:cNvPr>
          <p:cNvSpPr txBox="1"/>
          <p:nvPr/>
        </p:nvSpPr>
        <p:spPr>
          <a:xfrm>
            <a:off x="711200" y="5232400"/>
            <a:ext cx="31877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B03A2E"/>
                </a:solidFill>
                <a:latin typeface="Calibri" panose="020F0502020204030204" pitchFamily="34" charset="0"/>
              </a:rPr>
              <a:t>✗ Pular etapa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012F80B-16B5-C729-AC48-143E72AA7F12}"/>
              </a:ext>
            </a:extLst>
          </p:cNvPr>
          <p:cNvSpPr txBox="1"/>
          <p:nvPr/>
        </p:nvSpPr>
        <p:spPr>
          <a:xfrm>
            <a:off x="711200" y="5588000"/>
            <a:ext cx="31877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50">
                <a:solidFill>
                  <a:srgbClr val="1E2B2A"/>
                </a:solidFill>
                <a:latin typeface="Consolas" panose="020B0609020204030204" pitchFamily="49" charset="0"/>
              </a:rPr>
              <a:t>NOVO_CONTATO → FECHADO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FA08E5B-DA6D-7472-9B15-3653104A5362}"/>
              </a:ext>
            </a:extLst>
          </p:cNvPr>
          <p:cNvSpPr txBox="1"/>
          <p:nvPr/>
        </p:nvSpPr>
        <p:spPr>
          <a:xfrm>
            <a:off x="711200" y="5918200"/>
            <a:ext cx="31877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5B6B69"/>
                </a:solidFill>
                <a:latin typeface="Calibri" panose="020F0502020204030204" pitchFamily="34" charset="0"/>
              </a:rPr>
              <a:t>Rejeitado com TransicaoInvalida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D59E2E91-6202-15C5-53AC-BC7D560E8975}"/>
              </a:ext>
            </a:extLst>
          </p:cNvPr>
          <p:cNvSpPr/>
          <p:nvPr/>
        </p:nvSpPr>
        <p:spPr>
          <a:xfrm>
            <a:off x="4298950" y="5080000"/>
            <a:ext cx="3594100" cy="124460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26E0DEB-6C8A-A536-DA6F-30AB8C8D9566}"/>
              </a:ext>
            </a:extLst>
          </p:cNvPr>
          <p:cNvSpPr txBox="1"/>
          <p:nvPr/>
        </p:nvSpPr>
        <p:spPr>
          <a:xfrm>
            <a:off x="4502150" y="5232400"/>
            <a:ext cx="31877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B03A2E"/>
                </a:solidFill>
                <a:latin typeface="Calibri" panose="020F0502020204030204" pitchFamily="34" charset="0"/>
              </a:rPr>
              <a:t>✗ Voltar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0E736BC-1701-7836-B9E0-85CAB29B1D56}"/>
              </a:ext>
            </a:extLst>
          </p:cNvPr>
          <p:cNvSpPr txBox="1"/>
          <p:nvPr/>
        </p:nvSpPr>
        <p:spPr>
          <a:xfrm>
            <a:off x="4502150" y="5588000"/>
            <a:ext cx="31877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50">
                <a:solidFill>
                  <a:srgbClr val="1E2B2A"/>
                </a:solidFill>
                <a:latin typeface="Consolas" panose="020B0609020204030204" pitchFamily="49" charset="0"/>
              </a:rPr>
              <a:t>ORCAMENTO_ENVIADO → EM_NEGOCIACAO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0F19F69-BBF0-AF7A-B858-25E28647EC61}"/>
              </a:ext>
            </a:extLst>
          </p:cNvPr>
          <p:cNvSpPr txBox="1"/>
          <p:nvPr/>
        </p:nvSpPr>
        <p:spPr>
          <a:xfrm>
            <a:off x="4502150" y="5918200"/>
            <a:ext cx="31877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5B6B69"/>
                </a:solidFill>
                <a:latin typeface="Calibri" panose="020F0502020204030204" pitchFamily="34" charset="0"/>
              </a:rPr>
              <a:t>Rejeitado com TransicaoInvalida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C31E7E78-3EF5-773F-A5E9-D6E38D605232}"/>
              </a:ext>
            </a:extLst>
          </p:cNvPr>
          <p:cNvSpPr/>
          <p:nvPr/>
        </p:nvSpPr>
        <p:spPr>
          <a:xfrm>
            <a:off x="8089900" y="5080000"/>
            <a:ext cx="3594100" cy="124460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4EC3135-7A8F-A072-9D0B-D1742DC776B9}"/>
              </a:ext>
            </a:extLst>
          </p:cNvPr>
          <p:cNvSpPr txBox="1"/>
          <p:nvPr/>
        </p:nvSpPr>
        <p:spPr>
          <a:xfrm>
            <a:off x="8293100" y="5232400"/>
            <a:ext cx="31877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B03A2E"/>
                </a:solidFill>
                <a:latin typeface="Calibri" panose="020F0502020204030204" pitchFamily="34" charset="0"/>
              </a:rPr>
              <a:t>✗ Reabrir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A8FB2A1E-1732-B851-4D78-678408A9D517}"/>
              </a:ext>
            </a:extLst>
          </p:cNvPr>
          <p:cNvSpPr txBox="1"/>
          <p:nvPr/>
        </p:nvSpPr>
        <p:spPr>
          <a:xfrm>
            <a:off x="8293100" y="5588000"/>
            <a:ext cx="31877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50">
                <a:solidFill>
                  <a:srgbClr val="1E2B2A"/>
                </a:solidFill>
                <a:latin typeface="Consolas" panose="020B0609020204030204" pitchFamily="49" charset="0"/>
              </a:rPr>
              <a:t>FECHADO / PERDIDO → qualquer um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12476AAA-FD41-0562-F8BA-9BFAAC7D0106}"/>
              </a:ext>
            </a:extLst>
          </p:cNvPr>
          <p:cNvSpPr txBox="1"/>
          <p:nvPr/>
        </p:nvSpPr>
        <p:spPr>
          <a:xfrm>
            <a:off x="8293100" y="5918200"/>
            <a:ext cx="31877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5B6B69"/>
                </a:solidFill>
                <a:latin typeface="Calibri" panose="020F0502020204030204" pitchFamily="34" charset="0"/>
              </a:rPr>
              <a:t>Rejeitado com TransicaoInvalida</a:t>
            </a:r>
          </a:p>
        </p:txBody>
      </p:sp>
    </p:spTree>
    <p:extLst>
      <p:ext uri="{BB962C8B-B14F-4D97-AF65-F5344CB8AC3E}">
        <p14:creationId xmlns:p14="http://schemas.microsoft.com/office/powerpoint/2010/main" val="1864100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49BB531-51FC-F309-897E-595D8348B5D7}"/>
              </a:ext>
            </a:extLst>
          </p:cNvPr>
          <p:cNvSpPr txBox="1"/>
          <p:nvPr/>
        </p:nvSpPr>
        <p:spPr>
          <a:xfrm>
            <a:off x="508000" y="3302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E8A33D"/>
                </a:solidFill>
                <a:latin typeface="Calibri" panose="020F0502020204030204" pitchFamily="34" charset="0"/>
              </a:rPr>
              <a:t>A ENTIDADE PRINCIPAL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DA791F4-FB7B-20B1-562E-2A102BF0BB53}"/>
              </a:ext>
            </a:extLst>
          </p:cNvPr>
          <p:cNvSpPr txBox="1"/>
          <p:nvPr/>
        </p:nvSpPr>
        <p:spPr>
          <a:xfrm>
            <a:off x="508000" y="5588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800" b="1">
                <a:solidFill>
                  <a:srgbClr val="0F3B3A"/>
                </a:solidFill>
                <a:latin typeface="Cambria" panose="02040503050406030204" pitchFamily="18" charset="0"/>
              </a:rPr>
              <a:t>Orcamento: quem aplica as regras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F68396E-46F7-4579-034D-178D35DCAC2F}"/>
              </a:ext>
            </a:extLst>
          </p:cNvPr>
          <p:cNvSpPr txBox="1"/>
          <p:nvPr/>
        </p:nvSpPr>
        <p:spPr>
          <a:xfrm>
            <a:off x="11049000" y="6502400"/>
            <a:ext cx="635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B6B69"/>
                </a:solidFill>
                <a:latin typeface="Calibri" panose="020F0502020204030204" pitchFamily="34" charset="0"/>
              </a:rPr>
              <a:t>11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6113DE2-0B8C-1906-64C7-3EFC349A949A}"/>
              </a:ext>
            </a:extLst>
          </p:cNvPr>
          <p:cNvSpPr/>
          <p:nvPr/>
        </p:nvSpPr>
        <p:spPr>
          <a:xfrm>
            <a:off x="508000" y="1346200"/>
            <a:ext cx="6667500" cy="3810000"/>
          </a:xfrm>
          <a:prstGeom prst="roundRect">
            <a:avLst>
              <a:gd name="adj" fmla="val 3000"/>
            </a:avLst>
          </a:prstGeom>
          <a:solidFill>
            <a:srgbClr val="1B26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21920" rIns="203200" bIns="121920" rtlCol="0" anchor="t"/>
          <a:lstStyle/>
          <a:p>
            <a:r>
              <a:rPr lang="pt-BR" sz="1350">
                <a:solidFill>
                  <a:srgbClr val="E3ECEA"/>
                </a:solidFill>
                <a:latin typeface="Consolas" panose="020B0609020204030204" pitchFamily="49" charset="0"/>
              </a:rPr>
              <a:t>def mover_estagio(self, novo, hoje):</a:t>
            </a:r>
          </a:p>
          <a:p>
            <a:r>
              <a:rPr lang="pt-BR" sz="1350">
                <a:solidFill>
                  <a:srgbClr val="E3ECEA"/>
                </a:solidFill>
                <a:latin typeface="Consolas" panose="020B0609020204030204" pitchFamily="49" charset="0"/>
              </a:rPr>
              <a:t>    # 1) essa transição existe no mapa?</a:t>
            </a:r>
          </a:p>
          <a:p>
            <a:r>
              <a:rPr lang="pt-BR" sz="1350">
                <a:solidFill>
                  <a:srgbClr val="E3ECEA"/>
                </a:solidFill>
                <a:latin typeface="Consolas" panose="020B0609020204030204" pitchFamily="49" charset="0"/>
              </a:rPr>
              <a:t>    if not self.estagio.pode_mover_para(novo):</a:t>
            </a:r>
          </a:p>
          <a:p>
            <a:r>
              <a:rPr lang="pt-BR" sz="1350">
                <a:solidFill>
                  <a:srgbClr val="E3ECEA"/>
                </a:solidFill>
                <a:latin typeface="Consolas" panose="020B0609020204030204" pitchFamily="49" charset="0"/>
              </a:rPr>
              <a:t>        raise TransicaoInvalida(..., campo="estagio")</a:t>
            </a:r>
          </a:p>
          <a:p>
            <a:endParaRPr lang="pt-BR" sz="1350">
              <a:solidFill>
                <a:srgbClr val="E3ECEA"/>
              </a:solidFill>
              <a:latin typeface="Consolas" panose="020B0609020204030204" pitchFamily="49" charset="0"/>
            </a:endParaRPr>
          </a:p>
          <a:p>
            <a:r>
              <a:rPr lang="pt-BR" sz="1350">
                <a:solidFill>
                  <a:srgbClr val="E3ECEA"/>
                </a:solidFill>
                <a:latin typeface="Consolas" panose="020B0609020204030204" pitchFamily="49" charset="0"/>
              </a:rPr>
              <a:t>    # 2) o destino exige valor e não tem?</a:t>
            </a:r>
          </a:p>
          <a:p>
            <a:r>
              <a:rPr lang="pt-BR" sz="1350">
                <a:solidFill>
                  <a:srgbClr val="E3ECEA"/>
                </a:solidFill>
                <a:latin typeface="Consolas" panose="020B0609020204030204" pitchFamily="49" charset="0"/>
              </a:rPr>
              <a:t>    if novo.exige_valor() and self.valor is None:</a:t>
            </a:r>
          </a:p>
          <a:p>
            <a:r>
              <a:rPr lang="pt-BR" sz="1350">
                <a:solidFill>
                  <a:srgbClr val="E3ECEA"/>
                </a:solidFill>
                <a:latin typeface="Consolas" panose="020B0609020204030204" pitchFamily="49" charset="0"/>
              </a:rPr>
              <a:t>        raise TransicaoInvalida(..., campo="valor")</a:t>
            </a:r>
          </a:p>
          <a:p>
            <a:endParaRPr lang="pt-BR" sz="1350">
              <a:solidFill>
                <a:srgbClr val="E3ECEA"/>
              </a:solidFill>
              <a:latin typeface="Consolas" panose="020B0609020204030204" pitchFamily="49" charset="0"/>
            </a:endParaRPr>
          </a:p>
          <a:p>
            <a:r>
              <a:rPr lang="pt-BR" sz="1350">
                <a:solidFill>
                  <a:srgbClr val="E3ECEA"/>
                </a:solidFill>
                <a:latin typeface="Consolas" panose="020B0609020204030204" pitchFamily="49" charset="0"/>
              </a:rPr>
              <a:t>    # 3) passou nas duas: agora sim, muda</a:t>
            </a:r>
          </a:p>
          <a:p>
            <a:r>
              <a:rPr lang="pt-BR" sz="1350">
                <a:solidFill>
                  <a:srgbClr val="E3ECEA"/>
                </a:solidFill>
                <a:latin typeface="Consolas" panose="020B0609020204030204" pitchFamily="49" charset="0"/>
              </a:rPr>
              <a:t>    self.estagio = novo</a:t>
            </a:r>
          </a:p>
          <a:p>
            <a:r>
              <a:rPr lang="pt-BR" sz="1350">
                <a:solidFill>
                  <a:srgbClr val="E3ECEA"/>
                </a:solidFill>
                <a:latin typeface="Consolas" panose="020B0609020204030204" pitchFamily="49" charset="0"/>
              </a:rPr>
              <a:t>    if novo.eh_terminal():          # FECHADO ou PERDIDO</a:t>
            </a:r>
          </a:p>
          <a:p>
            <a:r>
              <a:rPr lang="pt-BR" sz="1350">
                <a:solidFill>
                  <a:srgbClr val="E3ECEA"/>
                </a:solidFill>
                <a:latin typeface="Consolas" panose="020B0609020204030204" pitchFamily="49" charset="0"/>
              </a:rPr>
              <a:t>        self.data_fechamento = hoje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5E08A85-58AD-6F45-F2EF-8641C7CB4B9A}"/>
              </a:ext>
            </a:extLst>
          </p:cNvPr>
          <p:cNvSpPr/>
          <p:nvPr/>
        </p:nvSpPr>
        <p:spPr>
          <a:xfrm>
            <a:off x="7429500" y="1346200"/>
            <a:ext cx="4254500" cy="6858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D8917FE-BECE-FA15-EB4C-1ADA37695861}"/>
              </a:ext>
            </a:extLst>
          </p:cNvPr>
          <p:cNvSpPr txBox="1"/>
          <p:nvPr/>
        </p:nvSpPr>
        <p:spPr>
          <a:xfrm>
            <a:off x="7607300" y="1435100"/>
            <a:ext cx="393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 b="1">
                <a:solidFill>
                  <a:srgbClr val="0F3B3A"/>
                </a:solidFill>
                <a:latin typeface="Consolas" panose="020B0609020204030204" pitchFamily="49" charset="0"/>
              </a:rPr>
              <a:t>abrir(cliente_id, hoje)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0930669-0931-7AB1-0239-7E0962C87842}"/>
              </a:ext>
            </a:extLst>
          </p:cNvPr>
          <p:cNvSpPr txBox="1"/>
          <p:nvPr/>
        </p:nvSpPr>
        <p:spPr>
          <a:xfrm>
            <a:off x="7607300" y="1714500"/>
            <a:ext cx="393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1E2B2A"/>
                </a:solidFill>
                <a:latin typeface="Calibri" panose="020F0502020204030204" pitchFamily="34" charset="0"/>
              </a:rPr>
              <a:t>Nasce em NOVO_CONTATO, sem valor.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1AC1856-4DE3-6F88-764E-7470C14C74A8}"/>
              </a:ext>
            </a:extLst>
          </p:cNvPr>
          <p:cNvSpPr/>
          <p:nvPr/>
        </p:nvSpPr>
        <p:spPr>
          <a:xfrm>
            <a:off x="7429500" y="2108200"/>
            <a:ext cx="4254500" cy="6858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CC969FD-ABFC-C7D5-7A66-A29F0B4074BD}"/>
              </a:ext>
            </a:extLst>
          </p:cNvPr>
          <p:cNvSpPr txBox="1"/>
          <p:nvPr/>
        </p:nvSpPr>
        <p:spPr>
          <a:xfrm>
            <a:off x="7607300" y="2197100"/>
            <a:ext cx="393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 b="1">
                <a:solidFill>
                  <a:srgbClr val="0F3B3A"/>
                </a:solidFill>
                <a:latin typeface="Consolas" panose="020B0609020204030204" pitchFamily="49" charset="0"/>
              </a:rPr>
              <a:t>mover_estagio(novo, hoje)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EA47936-D162-FAF0-E855-706A5FFE15E8}"/>
              </a:ext>
            </a:extLst>
          </p:cNvPr>
          <p:cNvSpPr txBox="1"/>
          <p:nvPr/>
        </p:nvSpPr>
        <p:spPr>
          <a:xfrm>
            <a:off x="7607300" y="2476500"/>
            <a:ext cx="393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1E2B2A"/>
                </a:solidFill>
                <a:latin typeface="Calibri" panose="020F0502020204030204" pitchFamily="34" charset="0"/>
              </a:rPr>
              <a:t>Aplica as regras de transição.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B2FE755-90C4-E6DC-B800-C47893FD812D}"/>
              </a:ext>
            </a:extLst>
          </p:cNvPr>
          <p:cNvSpPr/>
          <p:nvPr/>
        </p:nvSpPr>
        <p:spPr>
          <a:xfrm>
            <a:off x="7429500" y="2870200"/>
            <a:ext cx="4254500" cy="6858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4A43B24-A296-5BD2-8CFE-2C6824041B28}"/>
              </a:ext>
            </a:extLst>
          </p:cNvPr>
          <p:cNvSpPr txBox="1"/>
          <p:nvPr/>
        </p:nvSpPr>
        <p:spPr>
          <a:xfrm>
            <a:off x="7607300" y="2959100"/>
            <a:ext cx="393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 b="1">
                <a:solidFill>
                  <a:srgbClr val="0F3B3A"/>
                </a:solidFill>
                <a:latin typeface="Consolas" panose="020B0609020204030204" pitchFamily="49" charset="0"/>
              </a:rPr>
              <a:t>definir_valor(valor)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0A23983-E0A0-4CDA-F420-B90196A0519C}"/>
              </a:ext>
            </a:extLst>
          </p:cNvPr>
          <p:cNvSpPr txBox="1"/>
          <p:nvPr/>
        </p:nvSpPr>
        <p:spPr>
          <a:xfrm>
            <a:off x="7607300" y="3238500"/>
            <a:ext cx="393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1E2B2A"/>
                </a:solidFill>
                <a:latin typeface="Calibri" panose="020F0502020204030204" pitchFamily="34" charset="0"/>
              </a:rPr>
              <a:t>Define o preço; bloqueado se encerrado.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7EAFE53-13F8-6B55-F704-836F0216DB9C}"/>
              </a:ext>
            </a:extLst>
          </p:cNvPr>
          <p:cNvSpPr/>
          <p:nvPr/>
        </p:nvSpPr>
        <p:spPr>
          <a:xfrm>
            <a:off x="7429500" y="3632200"/>
            <a:ext cx="4254500" cy="6858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DA0B6AB-FFBF-CA38-F9AB-BB6672EDDC15}"/>
              </a:ext>
            </a:extLst>
          </p:cNvPr>
          <p:cNvSpPr txBox="1"/>
          <p:nvPr/>
        </p:nvSpPr>
        <p:spPr>
          <a:xfrm>
            <a:off x="7607300" y="3721100"/>
            <a:ext cx="393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 b="1">
                <a:solidFill>
                  <a:srgbClr val="0F3B3A"/>
                </a:solidFill>
                <a:latin typeface="Consolas" panose="020B0609020204030204" pitchFamily="49" charset="0"/>
              </a:rPr>
              <a:t>registrar_interacao(...)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A1693FE-F50A-C7DE-7A97-82520D876D4E}"/>
              </a:ext>
            </a:extLst>
          </p:cNvPr>
          <p:cNvSpPr txBox="1"/>
          <p:nvPr/>
        </p:nvSpPr>
        <p:spPr>
          <a:xfrm>
            <a:off x="7607300" y="4000500"/>
            <a:ext cx="393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1E2B2A"/>
                </a:solidFill>
                <a:latin typeface="Calibri" panose="020F0502020204030204" pitchFamily="34" charset="0"/>
              </a:rPr>
              <a:t>Adiciona um contato ao histórico.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88096A9F-40AD-EAD2-238D-D254BB542A36}"/>
              </a:ext>
            </a:extLst>
          </p:cNvPr>
          <p:cNvSpPr/>
          <p:nvPr/>
        </p:nvSpPr>
        <p:spPr>
          <a:xfrm>
            <a:off x="7429500" y="4394200"/>
            <a:ext cx="4254500" cy="6858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F982963-D331-B49E-6698-405F0DF636CE}"/>
              </a:ext>
            </a:extLst>
          </p:cNvPr>
          <p:cNvSpPr txBox="1"/>
          <p:nvPr/>
        </p:nvSpPr>
        <p:spPr>
          <a:xfrm>
            <a:off x="7607300" y="4483100"/>
            <a:ext cx="393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 b="1">
                <a:solidFill>
                  <a:srgbClr val="0F3B3A"/>
                </a:solidFill>
                <a:latin typeface="Consolas" panose="020B0609020204030204" pitchFamily="49" charset="0"/>
              </a:rPr>
              <a:t>esta_em_aberto()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462960A-7C5A-3BE1-6DF3-930B0961B5CC}"/>
              </a:ext>
            </a:extLst>
          </p:cNvPr>
          <p:cNvSpPr txBox="1"/>
          <p:nvPr/>
        </p:nvSpPr>
        <p:spPr>
          <a:xfrm>
            <a:off x="7607300" y="4762500"/>
            <a:ext cx="3937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1E2B2A"/>
                </a:solidFill>
                <a:latin typeface="Calibri" panose="020F0502020204030204" pitchFamily="34" charset="0"/>
              </a:rPr>
              <a:t>True se não for FECHADO nem PERDIDO.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AD658AD9-749E-F388-10FE-E263CD61B83E}"/>
              </a:ext>
            </a:extLst>
          </p:cNvPr>
          <p:cNvSpPr/>
          <p:nvPr/>
        </p:nvSpPr>
        <p:spPr>
          <a:xfrm>
            <a:off x="508000" y="5334000"/>
            <a:ext cx="11176000" cy="1016000"/>
          </a:xfrm>
          <a:prstGeom prst="roundRect">
            <a:avLst>
              <a:gd name="adj" fmla="val 6000"/>
            </a:avLst>
          </a:prstGeom>
          <a:solidFill>
            <a:srgbClr val="FBEF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21920" rIns="203200" bIns="121920" rtlCol="0" anchor="ctr"/>
          <a:lstStyle/>
          <a:p>
            <a:r>
              <a:rPr lang="pt-BR" sz="1400">
                <a:solidFill>
                  <a:srgbClr val="0F3B3A"/>
                </a:solidFill>
                <a:latin typeface="Calibri" panose="020F0502020204030204" pitchFamily="34" charset="0"/>
              </a:rPr>
              <a:t>Ponto-chave: todas as verificações acontecem ANTES de mudar qualquer coisa. Se der erro, o orçamento fica exatamente como estava — nunca pela metade (RNF04). Por isso ele é a “raiz do agregado”: toda mudança passa por ele.</a:t>
            </a:r>
          </a:p>
        </p:txBody>
      </p:sp>
    </p:spTree>
    <p:extLst>
      <p:ext uri="{BB962C8B-B14F-4D97-AF65-F5344CB8AC3E}">
        <p14:creationId xmlns:p14="http://schemas.microsoft.com/office/powerpoint/2010/main" val="3677267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839EC2F-F428-1FAE-C11F-5062324AEA18}"/>
              </a:ext>
            </a:extLst>
          </p:cNvPr>
          <p:cNvSpPr txBox="1"/>
          <p:nvPr/>
        </p:nvSpPr>
        <p:spPr>
          <a:xfrm>
            <a:off x="508000" y="3302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E8A33D"/>
                </a:solidFill>
                <a:latin typeface="Calibri" panose="020F0502020204030204" pitchFamily="34" charset="0"/>
              </a:rPr>
              <a:t>AS OUTRAS ENTIDADES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FFE530F-F417-9245-F64A-4B1C55F520CE}"/>
              </a:ext>
            </a:extLst>
          </p:cNvPr>
          <p:cNvSpPr txBox="1"/>
          <p:nvPr/>
        </p:nvSpPr>
        <p:spPr>
          <a:xfrm>
            <a:off x="508000" y="5588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800" b="1">
                <a:solidFill>
                  <a:srgbClr val="0F3B3A"/>
                </a:solidFill>
                <a:latin typeface="Cambria" panose="02040503050406030204" pitchFamily="18" charset="0"/>
              </a:rPr>
              <a:t>Cliente, Interação e Usuário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D371BA-36A2-7B4B-9652-D40764137454}"/>
              </a:ext>
            </a:extLst>
          </p:cNvPr>
          <p:cNvSpPr txBox="1"/>
          <p:nvPr/>
        </p:nvSpPr>
        <p:spPr>
          <a:xfrm>
            <a:off x="11049000" y="6502400"/>
            <a:ext cx="635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B6B69"/>
                </a:solidFill>
                <a:latin typeface="Calibri" panose="020F0502020204030204" pitchFamily="34" charset="0"/>
              </a:rPr>
              <a:t>12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974CAAC-5ED6-F509-2083-3B2B2A7B3A71}"/>
              </a:ext>
            </a:extLst>
          </p:cNvPr>
          <p:cNvSpPr/>
          <p:nvPr/>
        </p:nvSpPr>
        <p:spPr>
          <a:xfrm>
            <a:off x="508000" y="1346200"/>
            <a:ext cx="3606800" cy="38100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2B30B55-444E-2301-D923-6A1A1222E81A}"/>
              </a:ext>
            </a:extLst>
          </p:cNvPr>
          <p:cNvSpPr/>
          <p:nvPr/>
        </p:nvSpPr>
        <p:spPr>
          <a:xfrm>
            <a:off x="736600" y="1574800"/>
            <a:ext cx="508000" cy="508000"/>
          </a:xfrm>
          <a:prstGeom prst="ellipse">
            <a:avLst/>
          </a:prstGeom>
          <a:solidFill>
            <a:srgbClr val="1F6F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b="1">
                <a:solidFill>
                  <a:srgbClr val="FFFFFF"/>
                </a:solidFill>
                <a:latin typeface="Calibri" panose="020F0502020204030204" pitchFamily="34" charset="0"/>
              </a:rPr>
              <a:t>C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14149FB-2D34-EA57-E1AB-2DE8FA4E2671}"/>
              </a:ext>
            </a:extLst>
          </p:cNvPr>
          <p:cNvSpPr txBox="1"/>
          <p:nvPr/>
        </p:nvSpPr>
        <p:spPr>
          <a:xfrm>
            <a:off x="1397000" y="1574800"/>
            <a:ext cx="254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 b="1">
                <a:solidFill>
                  <a:srgbClr val="0F3B3A"/>
                </a:solidFill>
                <a:latin typeface="Calibri" panose="020F0502020204030204" pitchFamily="34" charset="0"/>
              </a:rPr>
              <a:t>Cliente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659723-104D-3697-E0BA-5EC2F814F701}"/>
              </a:ext>
            </a:extLst>
          </p:cNvPr>
          <p:cNvSpPr txBox="1"/>
          <p:nvPr/>
        </p:nvSpPr>
        <p:spPr>
          <a:xfrm>
            <a:off x="1397000" y="1866900"/>
            <a:ext cx="254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00">
                <a:solidFill>
                  <a:srgbClr val="5B6B69"/>
                </a:solidFill>
                <a:latin typeface="Consolas" panose="020B0609020204030204" pitchFamily="49" charset="0"/>
              </a:rPr>
              <a:t>cliente.py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8353F25-1202-09AF-3327-3926CA4A6C3A}"/>
              </a:ext>
            </a:extLst>
          </p:cNvPr>
          <p:cNvSpPr txBox="1"/>
          <p:nvPr/>
        </p:nvSpPr>
        <p:spPr>
          <a:xfrm>
            <a:off x="736600" y="2336800"/>
            <a:ext cx="3175000" cy="273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800"/>
              </a:spcAft>
              <a:buClr>
                <a:srgbClr val="1F6F6B"/>
              </a:buClr>
              <a:buFont typeface="+mj-lt"/>
              <a:buChar char="•"/>
            </a:pPr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Raiz de agregado: o “dono” do contato.</a:t>
            </a:r>
          </a:p>
          <a:p>
            <a:pPr marL="177800" indent="-177800">
              <a:spcAft>
                <a:spcPts val="800"/>
              </a:spcAft>
              <a:buClr>
                <a:srgbClr val="1F6F6B"/>
              </a:buClr>
              <a:buFont typeface="+mj-lt"/>
              <a:buChar char="•"/>
            </a:pPr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Só existe com nome, Telefone e Email válidos (RF09).</a:t>
            </a:r>
          </a:p>
          <a:p>
            <a:pPr marL="177800" indent="-177800">
              <a:spcAft>
                <a:spcPts val="800"/>
              </a:spcAft>
              <a:buClr>
                <a:srgbClr val="1F6F6B"/>
              </a:buClr>
              <a:buFont typeface="+mj-lt"/>
              <a:buChar char="•"/>
            </a:pPr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abrir_orcamento() cria um Orçamento em NOVO_CONTATO.</a:t>
            </a:r>
          </a:p>
          <a:p>
            <a:pPr marL="177800" indent="-177800">
              <a:spcAft>
                <a:spcPts val="800"/>
              </a:spcAft>
              <a:buClr>
                <a:srgbClr val="1F6F6B"/>
              </a:buClr>
              <a:buFont typeface="+mj-lt"/>
              <a:buChar char="•"/>
            </a:pPr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Pode ter vários orçamentos ao longo do tempo (RF08).</a:t>
            </a:r>
          </a:p>
          <a:p>
            <a:pPr marL="177800" indent="-177800">
              <a:spcAft>
                <a:spcPts val="800"/>
              </a:spcAft>
              <a:buClr>
                <a:srgbClr val="1F6F6B"/>
              </a:buClr>
              <a:buFont typeface="+mj-lt"/>
              <a:buChar char="•"/>
            </a:pPr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Empresa e tipo de embalagem são opcionais.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B83ABB8-76BA-1A73-15B4-2F719DAA461E}"/>
              </a:ext>
            </a:extLst>
          </p:cNvPr>
          <p:cNvSpPr/>
          <p:nvPr/>
        </p:nvSpPr>
        <p:spPr>
          <a:xfrm>
            <a:off x="4292600" y="1346200"/>
            <a:ext cx="3606800" cy="38100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32606F9-8576-C4ED-4333-72E7A51A04E4}"/>
              </a:ext>
            </a:extLst>
          </p:cNvPr>
          <p:cNvSpPr/>
          <p:nvPr/>
        </p:nvSpPr>
        <p:spPr>
          <a:xfrm>
            <a:off x="4521200" y="1574800"/>
            <a:ext cx="508000" cy="508000"/>
          </a:xfrm>
          <a:prstGeom prst="ellipse">
            <a:avLst/>
          </a:prstGeom>
          <a:solidFill>
            <a:srgbClr val="1F6F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b="1">
                <a:solidFill>
                  <a:srgbClr val="FFFFFF"/>
                </a:solidFill>
                <a:latin typeface="Calibri" panose="020F0502020204030204" pitchFamily="34" charset="0"/>
              </a:rPr>
              <a:t>I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A74386C-41A2-4168-00CE-F805B7640405}"/>
              </a:ext>
            </a:extLst>
          </p:cNvPr>
          <p:cNvSpPr txBox="1"/>
          <p:nvPr/>
        </p:nvSpPr>
        <p:spPr>
          <a:xfrm>
            <a:off x="5181600" y="1574800"/>
            <a:ext cx="254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 b="1">
                <a:solidFill>
                  <a:srgbClr val="0F3B3A"/>
                </a:solidFill>
                <a:latin typeface="Calibri" panose="020F0502020204030204" pitchFamily="34" charset="0"/>
              </a:rPr>
              <a:t>Interação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97D496E-4E81-2F55-E559-FE6CD70C2D94}"/>
              </a:ext>
            </a:extLst>
          </p:cNvPr>
          <p:cNvSpPr txBox="1"/>
          <p:nvPr/>
        </p:nvSpPr>
        <p:spPr>
          <a:xfrm>
            <a:off x="5181600" y="1866900"/>
            <a:ext cx="254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00">
                <a:solidFill>
                  <a:srgbClr val="5B6B69"/>
                </a:solidFill>
                <a:latin typeface="Consolas" panose="020B0609020204030204" pitchFamily="49" charset="0"/>
              </a:rPr>
              <a:t>interacao.py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C06190C-1A20-C996-D0BC-1B1E12BA38C8}"/>
              </a:ext>
            </a:extLst>
          </p:cNvPr>
          <p:cNvSpPr txBox="1"/>
          <p:nvPr/>
        </p:nvSpPr>
        <p:spPr>
          <a:xfrm>
            <a:off x="4521200" y="2336800"/>
            <a:ext cx="3175000" cy="273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800"/>
              </a:spcAft>
              <a:buClr>
                <a:srgbClr val="1F6F6B"/>
              </a:buClr>
              <a:buFont typeface="+mj-lt"/>
              <a:buChar char="•"/>
            </a:pPr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Registro de um contato: MENSAGEM, LIGACAO ou REUNIAO.</a:t>
            </a:r>
          </a:p>
          <a:p>
            <a:pPr marL="177800" indent="-177800">
              <a:spcAft>
                <a:spcPts val="800"/>
              </a:spcAft>
              <a:buClr>
                <a:srgbClr val="1F6F6B"/>
              </a:buClr>
              <a:buFont typeface="+mj-lt"/>
              <a:buChar char="•"/>
            </a:pPr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Imutável: é um fato que já aconteceu.</a:t>
            </a:r>
          </a:p>
          <a:p>
            <a:pPr marL="177800" indent="-177800">
              <a:spcAft>
                <a:spcPts val="800"/>
              </a:spcAft>
              <a:buClr>
                <a:srgbClr val="1F6F6B"/>
              </a:buClr>
              <a:buFont typeface="+mj-lt"/>
              <a:buChar char="•"/>
            </a:pPr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Só nasce via orcamento.registrar_interacao() — vive dentro do Orçamento (composição).</a:t>
            </a:r>
          </a:p>
          <a:p>
            <a:pPr marL="177800" indent="-177800">
              <a:spcAft>
                <a:spcPts val="800"/>
              </a:spcAft>
              <a:buClr>
                <a:srgbClr val="1F6F6B"/>
              </a:buClr>
              <a:buFont typeface="+mj-lt"/>
              <a:buChar char="•"/>
            </a:pPr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Conteúdo vazio é rejeitado.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053DCF6F-87CE-A6DB-FFB4-B0F2AC6E324A}"/>
              </a:ext>
            </a:extLst>
          </p:cNvPr>
          <p:cNvSpPr/>
          <p:nvPr/>
        </p:nvSpPr>
        <p:spPr>
          <a:xfrm>
            <a:off x="8077200" y="1346200"/>
            <a:ext cx="3606800" cy="3810000"/>
          </a:xfrm>
          <a:prstGeom prst="roundRect">
            <a:avLst>
              <a:gd name="adj" fmla="val 6000"/>
            </a:avLst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FC2BFEA8-D107-E0A2-601C-A24F7A998878}"/>
              </a:ext>
            </a:extLst>
          </p:cNvPr>
          <p:cNvSpPr/>
          <p:nvPr/>
        </p:nvSpPr>
        <p:spPr>
          <a:xfrm>
            <a:off x="8305800" y="1574800"/>
            <a:ext cx="508000" cy="508000"/>
          </a:xfrm>
          <a:prstGeom prst="ellipse">
            <a:avLst/>
          </a:prstGeom>
          <a:solidFill>
            <a:srgbClr val="1F6F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b="1">
                <a:solidFill>
                  <a:srgbClr val="FFFFFF"/>
                </a:solidFill>
                <a:latin typeface="Calibri" panose="020F0502020204030204" pitchFamily="34" charset="0"/>
              </a:rPr>
              <a:t>U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31EEFA4-99E6-F487-074D-7470096224FF}"/>
              </a:ext>
            </a:extLst>
          </p:cNvPr>
          <p:cNvSpPr txBox="1"/>
          <p:nvPr/>
        </p:nvSpPr>
        <p:spPr>
          <a:xfrm>
            <a:off x="8966200" y="1574800"/>
            <a:ext cx="254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 b="1">
                <a:solidFill>
                  <a:srgbClr val="0F3B3A"/>
                </a:solidFill>
                <a:latin typeface="Calibri" panose="020F0502020204030204" pitchFamily="34" charset="0"/>
              </a:rPr>
              <a:t>Usuário e Administrador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1724B0C-40F1-6D17-81C2-C5C4985F0710}"/>
              </a:ext>
            </a:extLst>
          </p:cNvPr>
          <p:cNvSpPr txBox="1"/>
          <p:nvPr/>
        </p:nvSpPr>
        <p:spPr>
          <a:xfrm>
            <a:off x="8966200" y="1866900"/>
            <a:ext cx="254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00">
                <a:solidFill>
                  <a:srgbClr val="5B6B69"/>
                </a:solidFill>
                <a:latin typeface="Consolas" panose="020B0609020204030204" pitchFamily="49" charset="0"/>
              </a:rPr>
              <a:t>usuario.py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7549EC9-3791-6B70-1CFF-1ED760C025AA}"/>
              </a:ext>
            </a:extLst>
          </p:cNvPr>
          <p:cNvSpPr txBox="1"/>
          <p:nvPr/>
        </p:nvSpPr>
        <p:spPr>
          <a:xfrm>
            <a:off x="8305800" y="2336800"/>
            <a:ext cx="3175000" cy="273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800"/>
              </a:spcAft>
              <a:buClr>
                <a:srgbClr val="1F6F6B"/>
              </a:buClr>
              <a:buFont typeface="+mj-lt"/>
              <a:buChar char="•"/>
            </a:pPr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Administrador é um Usuário (herança) com perfil ADMINISTRADOR.</a:t>
            </a:r>
          </a:p>
          <a:p>
            <a:pPr marL="177800" indent="-177800">
              <a:spcAft>
                <a:spcPts val="800"/>
              </a:spcAft>
              <a:buClr>
                <a:srgbClr val="1F6F6B"/>
              </a:buClr>
              <a:buFont typeface="+mj-lt"/>
              <a:buChar char="•"/>
            </a:pPr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Pode ativar e desativar outros usuários.</a:t>
            </a:r>
          </a:p>
          <a:p>
            <a:pPr marL="177800" indent="-177800">
              <a:spcAft>
                <a:spcPts val="800"/>
              </a:spcAft>
              <a:buClr>
                <a:srgbClr val="1F6F6B"/>
              </a:buClr>
              <a:buFont typeface="+mj-lt"/>
              <a:buChar char="•"/>
            </a:pPr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Não pode desativar a própria conta (RF10).</a:t>
            </a:r>
          </a:p>
          <a:p>
            <a:pPr marL="177800" indent="-177800">
              <a:spcAft>
                <a:spcPts val="800"/>
              </a:spcAft>
              <a:buClr>
                <a:srgbClr val="1F6F6B"/>
              </a:buClr>
              <a:buFont typeface="+mj-lt"/>
              <a:buChar char="•"/>
            </a:pPr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Login e senha ficam para a Parte 5.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B0F41F3-3795-D848-8DF6-A9152A831384}"/>
              </a:ext>
            </a:extLst>
          </p:cNvPr>
          <p:cNvSpPr/>
          <p:nvPr/>
        </p:nvSpPr>
        <p:spPr>
          <a:xfrm>
            <a:off x="508000" y="5334000"/>
            <a:ext cx="11176000" cy="1016000"/>
          </a:xfrm>
          <a:prstGeom prst="roundRect">
            <a:avLst>
              <a:gd name="adj" fmla="val 6000"/>
            </a:avLst>
          </a:prstGeom>
          <a:solidFill>
            <a:srgbClr val="FBEF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21920" rIns="203200" bIns="121920" rtlCol="0" anchor="ctr"/>
          <a:lstStyle/>
          <a:p>
            <a:r>
              <a:rPr lang="pt-BR" sz="1400">
                <a:solidFill>
                  <a:srgbClr val="0F3B3A"/>
                </a:solidFill>
                <a:latin typeface="Calibri" panose="020F0502020204030204" pitchFamily="34" charset="0"/>
              </a:rPr>
              <a:t>Por que Cliente e Orçamento são separados? Um cliente pode acumular anos de orçamentos. Ligando os dois só pelo cliente_id, mover um card não precisa carregar todo o histórico do cliente.</a:t>
            </a:r>
          </a:p>
        </p:txBody>
      </p:sp>
    </p:spTree>
    <p:extLst>
      <p:ext uri="{BB962C8B-B14F-4D97-AF65-F5344CB8AC3E}">
        <p14:creationId xmlns:p14="http://schemas.microsoft.com/office/powerpoint/2010/main" val="1155834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761060D-D63F-E3C1-FAAC-373C0F98727D}"/>
              </a:ext>
            </a:extLst>
          </p:cNvPr>
          <p:cNvSpPr txBox="1"/>
          <p:nvPr/>
        </p:nvSpPr>
        <p:spPr>
          <a:xfrm>
            <a:off x="508000" y="3302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E8A33D"/>
                </a:solidFill>
                <a:latin typeface="Calibri" panose="020F0502020204030204" pitchFamily="34" charset="0"/>
              </a:rPr>
              <a:t>QUANDO ALGO DÁ ERRADO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36AF943-CB1F-C6E1-BE8E-95C3D3BC5735}"/>
              </a:ext>
            </a:extLst>
          </p:cNvPr>
          <p:cNvSpPr txBox="1"/>
          <p:nvPr/>
        </p:nvSpPr>
        <p:spPr>
          <a:xfrm>
            <a:off x="508000" y="5588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800" b="1">
                <a:solidFill>
                  <a:srgbClr val="0F3B3A"/>
                </a:solidFill>
                <a:latin typeface="Cambria" panose="02040503050406030204" pitchFamily="18" charset="0"/>
              </a:rPr>
              <a:t>Exceções de domínio: erros com nome e endereço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5AD734-7E68-DF50-648C-19C70BC07C4F}"/>
              </a:ext>
            </a:extLst>
          </p:cNvPr>
          <p:cNvSpPr txBox="1"/>
          <p:nvPr/>
        </p:nvSpPr>
        <p:spPr>
          <a:xfrm>
            <a:off x="11049000" y="6502400"/>
            <a:ext cx="635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B6B69"/>
                </a:solidFill>
                <a:latin typeface="Calibri" panose="020F0502020204030204" pitchFamily="34" charset="0"/>
              </a:rPr>
              <a:t>13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EA0D7E3-BB2A-B8E5-9D6A-E4E94473C78F}"/>
              </a:ext>
            </a:extLst>
          </p:cNvPr>
          <p:cNvSpPr/>
          <p:nvPr/>
        </p:nvSpPr>
        <p:spPr>
          <a:xfrm>
            <a:off x="508000" y="1346200"/>
            <a:ext cx="11176000" cy="406400"/>
          </a:xfrm>
          <a:prstGeom prst="rect">
            <a:avLst/>
          </a:prstGeom>
          <a:solidFill>
            <a:srgbClr val="0F3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FC960CB-8E28-3B77-50A6-DC4BD2F93B8C}"/>
              </a:ext>
            </a:extLst>
          </p:cNvPr>
          <p:cNvSpPr txBox="1"/>
          <p:nvPr/>
        </p:nvSpPr>
        <p:spPr>
          <a:xfrm>
            <a:off x="685800" y="1435100"/>
            <a:ext cx="279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 b="1">
                <a:solidFill>
                  <a:srgbClr val="FFFFFF"/>
                </a:solidFill>
                <a:latin typeface="Calibri" panose="020F0502020204030204" pitchFamily="34" charset="0"/>
              </a:rPr>
              <a:t>Exceção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1AED894-C27A-FD31-608A-A41EB015051F}"/>
              </a:ext>
            </a:extLst>
          </p:cNvPr>
          <p:cNvSpPr txBox="1"/>
          <p:nvPr/>
        </p:nvSpPr>
        <p:spPr>
          <a:xfrm>
            <a:off x="3606800" y="1435100"/>
            <a:ext cx="533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 b="1">
                <a:solidFill>
                  <a:srgbClr val="FFFFFF"/>
                </a:solidFill>
                <a:latin typeface="Calibri" panose="020F0502020204030204" pitchFamily="34" charset="0"/>
              </a:rPr>
              <a:t>Quando acontece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1A23B18-2AE8-CF61-D24B-8C89482ED847}"/>
              </a:ext>
            </a:extLst>
          </p:cNvPr>
          <p:cNvSpPr txBox="1"/>
          <p:nvPr/>
        </p:nvSpPr>
        <p:spPr>
          <a:xfrm>
            <a:off x="9067800" y="1435100"/>
            <a:ext cx="254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 b="1">
                <a:solidFill>
                  <a:srgbClr val="FFFFFF"/>
                </a:solidFill>
                <a:latin typeface="Calibri" panose="020F0502020204030204" pitchFamily="34" charset="0"/>
              </a:rPr>
              <a:t>campo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B3BAC91-58E4-3570-F5A8-D477819AA5BE}"/>
              </a:ext>
            </a:extLst>
          </p:cNvPr>
          <p:cNvSpPr/>
          <p:nvPr/>
        </p:nvSpPr>
        <p:spPr>
          <a:xfrm>
            <a:off x="508000" y="1803400"/>
            <a:ext cx="11176000" cy="558800"/>
          </a:xfrm>
          <a:prstGeom prst="rect">
            <a:avLst/>
          </a:prstGeom>
          <a:solidFill>
            <a:srgbClr val="FBEF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906EA6F-EF87-1EEE-9C40-BB01C4E0AC0C}"/>
              </a:ext>
            </a:extLst>
          </p:cNvPr>
          <p:cNvSpPr txBox="1"/>
          <p:nvPr/>
        </p:nvSpPr>
        <p:spPr>
          <a:xfrm>
            <a:off x="685800" y="1803400"/>
            <a:ext cx="279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300" b="1">
                <a:solidFill>
                  <a:srgbClr val="0F3B3A"/>
                </a:solidFill>
                <a:latin typeface="Consolas" panose="020B0609020204030204" pitchFamily="49" charset="0"/>
              </a:rPr>
              <a:t>ErroDominio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9424A6C-4F36-F3E7-0E40-F6587F47029A}"/>
              </a:ext>
            </a:extLst>
          </p:cNvPr>
          <p:cNvSpPr txBox="1"/>
          <p:nvPr/>
        </p:nvSpPr>
        <p:spPr>
          <a:xfrm>
            <a:off x="3606800" y="1803400"/>
            <a:ext cx="533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Base (mãe) de todas — carrega mensagem e campo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2CC5A4E-08E6-DE12-7DEB-196F3A0924AD}"/>
              </a:ext>
            </a:extLst>
          </p:cNvPr>
          <p:cNvSpPr txBox="1"/>
          <p:nvPr/>
        </p:nvSpPr>
        <p:spPr>
          <a:xfrm>
            <a:off x="9067800" y="1803400"/>
            <a:ext cx="254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200">
                <a:solidFill>
                  <a:srgbClr val="1F6F6B"/>
                </a:solidFill>
                <a:latin typeface="Consolas" panose="020B0609020204030204" pitchFamily="49" charset="0"/>
              </a:rPr>
              <a:t>—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5008BFC-2E5A-95D6-3193-FD00F9846068}"/>
              </a:ext>
            </a:extLst>
          </p:cNvPr>
          <p:cNvSpPr/>
          <p:nvPr/>
        </p:nvSpPr>
        <p:spPr>
          <a:xfrm>
            <a:off x="508000" y="2413000"/>
            <a:ext cx="11176000" cy="558800"/>
          </a:xfrm>
          <a:prstGeom prst="rect">
            <a:avLst/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EFFBEE9-60D3-5375-9C7D-B72B79EF5DCF}"/>
              </a:ext>
            </a:extLst>
          </p:cNvPr>
          <p:cNvSpPr txBox="1"/>
          <p:nvPr/>
        </p:nvSpPr>
        <p:spPr>
          <a:xfrm>
            <a:off x="685800" y="2413000"/>
            <a:ext cx="279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300" b="1">
                <a:solidFill>
                  <a:srgbClr val="0F3B3A"/>
                </a:solidFill>
                <a:latin typeface="Consolas" panose="020B0609020204030204" pitchFamily="49" charset="0"/>
              </a:rPr>
              <a:t>TransicaoInvalida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E22BA10-7410-1266-8F98-A771B730B61A}"/>
              </a:ext>
            </a:extLst>
          </p:cNvPr>
          <p:cNvSpPr txBox="1"/>
          <p:nvPr/>
        </p:nvSpPr>
        <p:spPr>
          <a:xfrm>
            <a:off x="3606800" y="2413000"/>
            <a:ext cx="533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Pular/voltar etapa, sair de estágio final, mover sem valor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55E3F31-C350-434A-8DB7-CA4D7D4FC885}"/>
              </a:ext>
            </a:extLst>
          </p:cNvPr>
          <p:cNvSpPr txBox="1"/>
          <p:nvPr/>
        </p:nvSpPr>
        <p:spPr>
          <a:xfrm>
            <a:off x="9067800" y="2413000"/>
            <a:ext cx="254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200">
                <a:solidFill>
                  <a:srgbClr val="1F6F6B"/>
                </a:solidFill>
                <a:latin typeface="Consolas" panose="020B0609020204030204" pitchFamily="49" charset="0"/>
              </a:rPr>
              <a:t>estagio · valor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2FA560A-EC69-B203-9C30-94D69ED32CA5}"/>
              </a:ext>
            </a:extLst>
          </p:cNvPr>
          <p:cNvSpPr/>
          <p:nvPr/>
        </p:nvSpPr>
        <p:spPr>
          <a:xfrm>
            <a:off x="508000" y="3022600"/>
            <a:ext cx="11176000" cy="558800"/>
          </a:xfrm>
          <a:prstGeom prst="rect">
            <a:avLst/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785FE54-7C1C-B1AA-032F-84DE017D95B8}"/>
              </a:ext>
            </a:extLst>
          </p:cNvPr>
          <p:cNvSpPr txBox="1"/>
          <p:nvPr/>
        </p:nvSpPr>
        <p:spPr>
          <a:xfrm>
            <a:off x="685800" y="3022600"/>
            <a:ext cx="279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300" b="1">
                <a:solidFill>
                  <a:srgbClr val="0F3B3A"/>
                </a:solidFill>
                <a:latin typeface="Consolas" panose="020B0609020204030204" pitchFamily="49" charset="0"/>
              </a:rPr>
              <a:t>FormatoInvalido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25CD9F7-307D-287A-8267-DF01AC4CC145}"/>
              </a:ext>
            </a:extLst>
          </p:cNvPr>
          <p:cNvSpPr txBox="1"/>
          <p:nvPr/>
        </p:nvSpPr>
        <p:spPr>
          <a:xfrm>
            <a:off x="3606800" y="3022600"/>
            <a:ext cx="533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Telefone, e-mail, nome ou conteúdo inválido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528CA5A-0AE5-9325-51E8-92FEB05AC138}"/>
              </a:ext>
            </a:extLst>
          </p:cNvPr>
          <p:cNvSpPr txBox="1"/>
          <p:nvPr/>
        </p:nvSpPr>
        <p:spPr>
          <a:xfrm>
            <a:off x="9067800" y="3022600"/>
            <a:ext cx="254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200">
                <a:solidFill>
                  <a:srgbClr val="1F6F6B"/>
                </a:solidFill>
                <a:latin typeface="Consolas" panose="020B0609020204030204" pitchFamily="49" charset="0"/>
              </a:rPr>
              <a:t>telefone · email · nome · conteudo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9F2B360-6045-2C5A-5743-D4A8399B44B5}"/>
              </a:ext>
            </a:extLst>
          </p:cNvPr>
          <p:cNvSpPr/>
          <p:nvPr/>
        </p:nvSpPr>
        <p:spPr>
          <a:xfrm>
            <a:off x="508000" y="3632200"/>
            <a:ext cx="11176000" cy="558800"/>
          </a:xfrm>
          <a:prstGeom prst="rect">
            <a:avLst/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E0D2263-40C0-9917-C9DE-4A346B0383A9}"/>
              </a:ext>
            </a:extLst>
          </p:cNvPr>
          <p:cNvSpPr txBox="1"/>
          <p:nvPr/>
        </p:nvSpPr>
        <p:spPr>
          <a:xfrm>
            <a:off x="685800" y="3632200"/>
            <a:ext cx="279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300" b="1">
                <a:solidFill>
                  <a:srgbClr val="0F3B3A"/>
                </a:solidFill>
                <a:latin typeface="Consolas" panose="020B0609020204030204" pitchFamily="49" charset="0"/>
              </a:rPr>
              <a:t>ValorInvalido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ECD4F74-F5F5-7234-A33B-B29A3A1A56A8}"/>
              </a:ext>
            </a:extLst>
          </p:cNvPr>
          <p:cNvSpPr txBox="1"/>
          <p:nvPr/>
        </p:nvSpPr>
        <p:spPr>
          <a:xfrm>
            <a:off x="3606800" y="3632200"/>
            <a:ext cx="533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Valor zero, negativo ou com mais de 2 casas decimais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3884470-914C-28AD-8679-ECFF6904879E}"/>
              </a:ext>
            </a:extLst>
          </p:cNvPr>
          <p:cNvSpPr txBox="1"/>
          <p:nvPr/>
        </p:nvSpPr>
        <p:spPr>
          <a:xfrm>
            <a:off x="9067800" y="3632200"/>
            <a:ext cx="254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200">
                <a:solidFill>
                  <a:srgbClr val="1F6F6B"/>
                </a:solidFill>
                <a:latin typeface="Consolas" panose="020B0609020204030204" pitchFamily="49" charset="0"/>
              </a:rPr>
              <a:t>valor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B17CB6D-A4B2-0182-39A5-63D1A8ADD0C3}"/>
              </a:ext>
            </a:extLst>
          </p:cNvPr>
          <p:cNvSpPr/>
          <p:nvPr/>
        </p:nvSpPr>
        <p:spPr>
          <a:xfrm>
            <a:off x="508000" y="4241800"/>
            <a:ext cx="11176000" cy="558800"/>
          </a:xfrm>
          <a:prstGeom prst="rect">
            <a:avLst/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BF898B6-5B70-2F7B-340D-13A1FAD9770D}"/>
              </a:ext>
            </a:extLst>
          </p:cNvPr>
          <p:cNvSpPr txBox="1"/>
          <p:nvPr/>
        </p:nvSpPr>
        <p:spPr>
          <a:xfrm>
            <a:off x="685800" y="4241800"/>
            <a:ext cx="279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300" b="1">
                <a:solidFill>
                  <a:srgbClr val="0F3B3A"/>
                </a:solidFill>
                <a:latin typeface="Consolas" panose="020B0609020204030204" pitchFamily="49" charset="0"/>
              </a:rPr>
              <a:t>OperacaoNaoPermitida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232B12F-F351-35FD-E6EA-6520A72F39AA}"/>
              </a:ext>
            </a:extLst>
          </p:cNvPr>
          <p:cNvSpPr txBox="1"/>
          <p:nvPr/>
        </p:nvSpPr>
        <p:spPr>
          <a:xfrm>
            <a:off x="3606800" y="4241800"/>
            <a:ext cx="533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Administrador tentando desativar a própria conta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1F6D445-638C-096F-EB68-D309F4037131}"/>
              </a:ext>
            </a:extLst>
          </p:cNvPr>
          <p:cNvSpPr txBox="1"/>
          <p:nvPr/>
        </p:nvSpPr>
        <p:spPr>
          <a:xfrm>
            <a:off x="9067800" y="4241800"/>
            <a:ext cx="254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200">
                <a:solidFill>
                  <a:srgbClr val="1F6F6B"/>
                </a:solidFill>
                <a:latin typeface="Consolas" panose="020B0609020204030204" pitchFamily="49" charset="0"/>
              </a:rPr>
              <a:t>ativo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7AB05F53-813E-D3E8-BCAA-27E168B0A251}"/>
              </a:ext>
            </a:extLst>
          </p:cNvPr>
          <p:cNvSpPr txBox="1"/>
          <p:nvPr/>
        </p:nvSpPr>
        <p:spPr>
          <a:xfrm>
            <a:off x="508000" y="5080000"/>
            <a:ext cx="41910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00">
                <a:solidFill>
                  <a:srgbClr val="1E2B2A"/>
                </a:solidFill>
                <a:latin typeface="Calibri" panose="020F0502020204030204" pitchFamily="34" charset="0"/>
              </a:rPr>
              <a:t>Por que o campo? Na Parte 4 a API vai converter a exceção neste JSON (status 422) e o frontend usa o campo para destacar o input certo.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68F78867-FD3F-0632-5F1E-EBFC59278F42}"/>
              </a:ext>
            </a:extLst>
          </p:cNvPr>
          <p:cNvSpPr/>
          <p:nvPr/>
        </p:nvSpPr>
        <p:spPr>
          <a:xfrm>
            <a:off x="4953000" y="5029200"/>
            <a:ext cx="6731000" cy="1320800"/>
          </a:xfrm>
          <a:prstGeom prst="roundRect">
            <a:avLst>
              <a:gd name="adj" fmla="val 3000"/>
            </a:avLst>
          </a:prstGeom>
          <a:solidFill>
            <a:srgbClr val="1B26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21920" rIns="203200" bIns="121920" rtlCol="0" anchor="t"/>
          <a:lstStyle/>
          <a:p>
            <a:r>
              <a:rPr lang="pt-BR" sz="1100">
                <a:solidFill>
                  <a:srgbClr val="E3ECEA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100">
                <a:solidFill>
                  <a:srgbClr val="E3ECEA"/>
                </a:solidFill>
                <a:latin typeface="Consolas" panose="020B0609020204030204" pitchFamily="49" charset="0"/>
              </a:rPr>
              <a:t>  "erro": "TransicaoInvalida",</a:t>
            </a:r>
          </a:p>
          <a:p>
            <a:r>
              <a:rPr lang="pt-BR" sz="1100">
                <a:solidFill>
                  <a:srgbClr val="E3ECEA"/>
                </a:solidFill>
                <a:latin typeface="Consolas" panose="020B0609020204030204" pitchFamily="49" charset="0"/>
              </a:rPr>
              <a:t>  "mensagem": "Não é possível mover de NOVO_CONTATO para FECHADO",</a:t>
            </a:r>
          </a:p>
          <a:p>
            <a:r>
              <a:rPr lang="pt-BR" sz="1100">
                <a:solidFill>
                  <a:srgbClr val="E3ECEA"/>
                </a:solidFill>
                <a:latin typeface="Consolas" panose="020B0609020204030204" pitchFamily="49" charset="0"/>
              </a:rPr>
              <a:t>  "campo": "estagio"</a:t>
            </a:r>
          </a:p>
          <a:p>
            <a:r>
              <a:rPr lang="pt-BR" sz="1100">
                <a:solidFill>
                  <a:srgbClr val="E3ECEA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39033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F7C0A53-1745-82B2-6E45-4092C662F256}"/>
              </a:ext>
            </a:extLst>
          </p:cNvPr>
          <p:cNvSpPr txBox="1"/>
          <p:nvPr/>
        </p:nvSpPr>
        <p:spPr>
          <a:xfrm>
            <a:off x="508000" y="3302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E8A33D"/>
                </a:solidFill>
                <a:latin typeface="Calibri" panose="020F0502020204030204" pitchFamily="34" charset="0"/>
              </a:rPr>
              <a:t>O GUARDA DA ARQUITETURA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FFA7684-3B29-C3F5-AFC6-12465D561752}"/>
              </a:ext>
            </a:extLst>
          </p:cNvPr>
          <p:cNvSpPr txBox="1"/>
          <p:nvPr/>
        </p:nvSpPr>
        <p:spPr>
          <a:xfrm>
            <a:off x="508000" y="5588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800" b="1">
                <a:solidFill>
                  <a:srgbClr val="0F3B3A"/>
                </a:solidFill>
                <a:latin typeface="Cambria" panose="02040503050406030204" pitchFamily="18" charset="0"/>
              </a:rPr>
              <a:t>Teste de arquitetura: o computador vigia a regra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D8EE2AB-D57D-8B37-D26D-E21F89319EBD}"/>
              </a:ext>
            </a:extLst>
          </p:cNvPr>
          <p:cNvSpPr txBox="1"/>
          <p:nvPr/>
        </p:nvSpPr>
        <p:spPr>
          <a:xfrm>
            <a:off x="11049000" y="6502400"/>
            <a:ext cx="635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B6B69"/>
                </a:solidFill>
                <a:latin typeface="Calibri" panose="020F0502020204030204" pitchFamily="34" charset="0"/>
              </a:rPr>
              <a:t>14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C1BC059-9FF1-A050-8226-D80258AB6847}"/>
              </a:ext>
            </a:extLst>
          </p:cNvPr>
          <p:cNvSpPr/>
          <p:nvPr/>
        </p:nvSpPr>
        <p:spPr>
          <a:xfrm>
            <a:off x="508000" y="1397000"/>
            <a:ext cx="431800" cy="431800"/>
          </a:xfrm>
          <a:prstGeom prst="ellipse">
            <a:avLst/>
          </a:prstGeom>
          <a:solidFill>
            <a:srgbClr val="E8A3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530" b="1">
                <a:solidFill>
                  <a:srgbClr val="0F3B3A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AE443B6-77E1-A2F4-CADD-CF7B32FDA042}"/>
              </a:ext>
            </a:extLst>
          </p:cNvPr>
          <p:cNvSpPr txBox="1"/>
          <p:nvPr/>
        </p:nvSpPr>
        <p:spPr>
          <a:xfrm>
            <a:off x="1117600" y="1435100"/>
            <a:ext cx="4699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 b="1">
                <a:solidFill>
                  <a:srgbClr val="0F3B3A"/>
                </a:solidFill>
                <a:latin typeface="Calibri" panose="020F0502020204030204" pitchFamily="34" charset="0"/>
              </a:rPr>
              <a:t>Lê cada arquivo .py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7875A42-E57D-9329-A42F-468F0699A68D}"/>
              </a:ext>
            </a:extLst>
          </p:cNvPr>
          <p:cNvSpPr txBox="1"/>
          <p:nvPr/>
        </p:nvSpPr>
        <p:spPr>
          <a:xfrm>
            <a:off x="1117600" y="1752600"/>
            <a:ext cx="4699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fr-FR" sz="1300">
                <a:solidFill>
                  <a:srgbClr val="1E2B2A"/>
                </a:solidFill>
                <a:latin typeface="Calibri" panose="020F0502020204030204" pitchFamily="34" charset="0"/>
              </a:rPr>
              <a:t>de src/domain/ e src/application/.</a:t>
            </a:r>
            <a:endParaRPr lang="pt-BR" sz="1300">
              <a:solidFill>
                <a:srgbClr val="1E2B2A"/>
              </a:solidFill>
              <a:latin typeface="Calibri" panose="020F0502020204030204" pitchFamily="34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E95DB39-59C7-99DA-DDBB-0D222B4BC2E9}"/>
              </a:ext>
            </a:extLst>
          </p:cNvPr>
          <p:cNvSpPr/>
          <p:nvPr/>
        </p:nvSpPr>
        <p:spPr>
          <a:xfrm>
            <a:off x="508000" y="2489200"/>
            <a:ext cx="431800" cy="431800"/>
          </a:xfrm>
          <a:prstGeom prst="ellipse">
            <a:avLst/>
          </a:prstGeom>
          <a:solidFill>
            <a:srgbClr val="E8A3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530" b="1">
                <a:solidFill>
                  <a:srgbClr val="0F3B3A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6A754F0-09B6-2796-1F93-926925CF7A11}"/>
              </a:ext>
            </a:extLst>
          </p:cNvPr>
          <p:cNvSpPr txBox="1"/>
          <p:nvPr/>
        </p:nvSpPr>
        <p:spPr>
          <a:xfrm>
            <a:off x="1117600" y="2527300"/>
            <a:ext cx="4699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 b="1">
                <a:solidFill>
                  <a:srgbClr val="0F3B3A"/>
                </a:solidFill>
                <a:latin typeface="Calibri" panose="020F0502020204030204" pitchFamily="34" charset="0"/>
              </a:rPr>
              <a:t>Lista os imports com ast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F938FE4-32EE-D94D-FB8C-CE559AA8AECA}"/>
              </a:ext>
            </a:extLst>
          </p:cNvPr>
          <p:cNvSpPr txBox="1"/>
          <p:nvPr/>
        </p:nvSpPr>
        <p:spPr>
          <a:xfrm>
            <a:off x="1117600" y="2844800"/>
            <a:ext cx="4699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ast é o analisador de código do próprio Python: lê o texto, não executa nada.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F799A81-DADB-8C9E-42B6-B3177791830D}"/>
              </a:ext>
            </a:extLst>
          </p:cNvPr>
          <p:cNvSpPr/>
          <p:nvPr/>
        </p:nvSpPr>
        <p:spPr>
          <a:xfrm>
            <a:off x="508000" y="3581400"/>
            <a:ext cx="431800" cy="431800"/>
          </a:xfrm>
          <a:prstGeom prst="ellipse">
            <a:avLst/>
          </a:prstGeom>
          <a:solidFill>
            <a:srgbClr val="E8A3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530" b="1">
                <a:solidFill>
                  <a:srgbClr val="0F3B3A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2E9C6C8-7FAE-F549-0282-70025C449760}"/>
              </a:ext>
            </a:extLst>
          </p:cNvPr>
          <p:cNvSpPr txBox="1"/>
          <p:nvPr/>
        </p:nvSpPr>
        <p:spPr>
          <a:xfrm>
            <a:off x="1117600" y="3619500"/>
            <a:ext cx="4699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 b="1">
                <a:solidFill>
                  <a:srgbClr val="0F3B3A"/>
                </a:solidFill>
                <a:latin typeface="Calibri" panose="020F0502020204030204" pitchFamily="34" charset="0"/>
              </a:rPr>
              <a:t>Compara com a lista proibida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E3D6D86-3DC7-B99C-801C-55C83E68E088}"/>
              </a:ext>
            </a:extLst>
          </p:cNvPr>
          <p:cNvSpPr txBox="1"/>
          <p:nvPr/>
        </p:nvSpPr>
        <p:spPr>
          <a:xfrm>
            <a:off x="1117600" y="3937000"/>
            <a:ext cx="4699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fastapi, sqlalchemy, pydantic, alembic, jwt... e camadas externas (adapters, infra).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A7108D0-5078-574D-259A-7F9C90E88A2C}"/>
              </a:ext>
            </a:extLst>
          </p:cNvPr>
          <p:cNvSpPr txBox="1"/>
          <p:nvPr/>
        </p:nvSpPr>
        <p:spPr>
          <a:xfrm>
            <a:off x="6223000" y="1371600"/>
            <a:ext cx="5461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0F3B3A"/>
                </a:solidFill>
                <a:latin typeface="Calibri" panose="020F0502020204030204" pitchFamily="34" charset="0"/>
              </a:rPr>
              <a:t>O experimento que fizemos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33FA924-AC2A-D7FB-9FBD-94596D5C405D}"/>
              </a:ext>
            </a:extLst>
          </p:cNvPr>
          <p:cNvSpPr/>
          <p:nvPr/>
        </p:nvSpPr>
        <p:spPr>
          <a:xfrm>
            <a:off x="6223000" y="1727200"/>
            <a:ext cx="5461000" cy="2819400"/>
          </a:xfrm>
          <a:prstGeom prst="roundRect">
            <a:avLst>
              <a:gd name="adj" fmla="val 3000"/>
            </a:avLst>
          </a:prstGeom>
          <a:solidFill>
            <a:srgbClr val="1B26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21920" rIns="203200" bIns="121920" rtlCol="0" anchor="t"/>
          <a:lstStyle/>
          <a:p>
            <a:r>
              <a:rPr lang="pt-BR" sz="1200">
                <a:solidFill>
                  <a:srgbClr val="E3ECEA"/>
                </a:solidFill>
                <a:latin typeface="Consolas" panose="020B0609020204030204" pitchFamily="49" charset="0"/>
              </a:rPr>
              <a:t># 1) colocamos no topo de orcamento.py:</a:t>
            </a:r>
          </a:p>
          <a:p>
            <a:r>
              <a:rPr lang="pt-BR" sz="1200">
                <a:solidFill>
                  <a:srgbClr val="E3ECEA"/>
                </a:solidFill>
                <a:latin typeface="Consolas" panose="020B0609020204030204" pitchFamily="49" charset="0"/>
              </a:rPr>
              <a:t>import fastapi</a:t>
            </a:r>
          </a:p>
          <a:p>
            <a:endParaRPr lang="pt-BR" sz="1200">
              <a:solidFill>
                <a:srgbClr val="E3ECEA"/>
              </a:solidFill>
              <a:latin typeface="Consolas" panose="020B0609020204030204" pitchFamily="49" charset="0"/>
            </a:endParaRPr>
          </a:p>
          <a:p>
            <a:r>
              <a:rPr lang="pt-BR" sz="1200">
                <a:solidFill>
                  <a:srgbClr val="E3ECEA"/>
                </a:solidFill>
                <a:latin typeface="Consolas" panose="020B0609020204030204" pitchFamily="49" charset="0"/>
              </a:rPr>
              <a:t>&gt; pytest tests/unit/test_arquitetura.py</a:t>
            </a:r>
          </a:p>
          <a:p>
            <a:r>
              <a:rPr lang="pt-BR" sz="1200" b="1">
                <a:solidFill>
                  <a:srgbClr val="F08A7E"/>
                </a:solidFill>
                <a:latin typeface="Consolas" panose="020B0609020204030204" pitchFamily="49" charset="0"/>
              </a:rPr>
              <a:t>FAILED</a:t>
            </a:r>
            <a:r>
              <a:rPr lang="pt-BR" sz="1200">
                <a:solidFill>
                  <a:srgbClr val="E3ECEA"/>
                </a:solidFill>
                <a:latin typeface="Consolas" panose="020B0609020204030204" pitchFamily="49" charset="0"/>
              </a:rPr>
              <a:t>  Imports proibidos em domain/:</a:t>
            </a:r>
          </a:p>
          <a:p>
            <a:r>
              <a:rPr lang="pt-BR" sz="1200">
                <a:solidFill>
                  <a:srgbClr val="E3ECEA"/>
                </a:solidFill>
                <a:latin typeface="Consolas" panose="020B0609020204030204" pitchFamily="49" charset="0"/>
              </a:rPr>
              <a:t>  {'domain\entities\orcamento.py': ['fastapi']}</a:t>
            </a:r>
          </a:p>
          <a:p>
            <a:endParaRPr lang="pt-BR" sz="1200">
              <a:solidFill>
                <a:srgbClr val="E3ECEA"/>
              </a:solidFill>
              <a:latin typeface="Consolas" panose="020B0609020204030204" pitchFamily="49" charset="0"/>
            </a:endParaRPr>
          </a:p>
          <a:p>
            <a:r>
              <a:rPr lang="pt-BR" sz="1200">
                <a:solidFill>
                  <a:srgbClr val="E3ECEA"/>
                </a:solidFill>
                <a:latin typeface="Consolas" panose="020B0609020204030204" pitchFamily="49" charset="0"/>
              </a:rPr>
              <a:t># 2) removemos a linha e rodamos de novo:</a:t>
            </a:r>
          </a:p>
          <a:p>
            <a:r>
              <a:rPr lang="pt-BR" sz="1200">
                <a:solidFill>
                  <a:srgbClr val="E3ECEA"/>
                </a:solidFill>
                <a:latin typeface="Consolas" panose="020B0609020204030204" pitchFamily="49" charset="0"/>
              </a:rPr>
              <a:t>&gt; pytest</a:t>
            </a:r>
          </a:p>
          <a:p>
            <a:r>
              <a:rPr lang="pt-BR" sz="1200" b="1">
                <a:solidFill>
                  <a:srgbClr val="7FD9A0"/>
                </a:solidFill>
                <a:latin typeface="Consolas" panose="020B0609020204030204" pitchFamily="49" charset="0"/>
              </a:rPr>
              <a:t>114 passed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C57E994-0FBF-B421-0ED6-874F8C64222E}"/>
              </a:ext>
            </a:extLst>
          </p:cNvPr>
          <p:cNvSpPr/>
          <p:nvPr/>
        </p:nvSpPr>
        <p:spPr>
          <a:xfrm>
            <a:off x="508000" y="4851400"/>
            <a:ext cx="11176000" cy="1473200"/>
          </a:xfrm>
          <a:prstGeom prst="roundRect">
            <a:avLst>
              <a:gd name="adj" fmla="val 6000"/>
            </a:avLst>
          </a:prstGeom>
          <a:solidFill>
            <a:srgbClr val="FBEF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21920" rIns="203200" bIns="121920" rtlCol="0" anchor="ctr"/>
          <a:lstStyle/>
          <a:p>
            <a:r>
              <a:rPr lang="pt-BR" sz="1400">
                <a:solidFill>
                  <a:srgbClr val="0F3B3A"/>
                </a:solidFill>
                <a:latin typeface="Calibri" panose="020F0502020204030204" pitchFamily="34" charset="0"/>
              </a:rPr>
              <a:t>Resultado: a regra “o domínio não depende de framework” (RNF03) deixa de ser só uma promessa no documento — o computador vigia. Se alguém quebrar, o teste fica vermelho.</a:t>
            </a:r>
          </a:p>
          <a:p>
            <a:r>
              <a:rPr lang="pt-BR" sz="1400">
                <a:solidFill>
                  <a:srgbClr val="0F3B3A"/>
                </a:solidFill>
                <a:latin typeface="Calibri" panose="020F0502020204030204" pitchFamily="34" charset="0"/>
              </a:rPr>
              <a:t>O próprio verificador também tem testes: 9 casos garantem que ele detecta o que deve e não acusa o que é permitido.</a:t>
            </a:r>
          </a:p>
        </p:txBody>
      </p:sp>
    </p:spTree>
    <p:extLst>
      <p:ext uri="{BB962C8B-B14F-4D97-AF65-F5344CB8AC3E}">
        <p14:creationId xmlns:p14="http://schemas.microsoft.com/office/powerpoint/2010/main" val="2245695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069C669-991B-25E8-DDED-3E8C4DBC3633}"/>
              </a:ext>
            </a:extLst>
          </p:cNvPr>
          <p:cNvSpPr txBox="1"/>
          <p:nvPr/>
        </p:nvSpPr>
        <p:spPr>
          <a:xfrm>
            <a:off x="508000" y="3302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E8A33D"/>
                </a:solidFill>
                <a:latin typeface="Calibri" panose="020F0502020204030204" pitchFamily="34" charset="0"/>
              </a:rPr>
              <a:t>RESULTADO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C5EA0FC-802E-23E4-1CCE-F38849AB175E}"/>
              </a:ext>
            </a:extLst>
          </p:cNvPr>
          <p:cNvSpPr txBox="1"/>
          <p:nvPr/>
        </p:nvSpPr>
        <p:spPr>
          <a:xfrm>
            <a:off x="508000" y="5588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800" b="1">
                <a:solidFill>
                  <a:srgbClr val="FFFFFF"/>
                </a:solidFill>
                <a:latin typeface="Cambria" panose="02040503050406030204" pitchFamily="18" charset="0"/>
              </a:rPr>
              <a:t>Como a Parte 1 terminou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682E8BC-C531-24D7-2B5D-60F6B3869B6C}"/>
              </a:ext>
            </a:extLst>
          </p:cNvPr>
          <p:cNvSpPr txBox="1"/>
          <p:nvPr/>
        </p:nvSpPr>
        <p:spPr>
          <a:xfrm>
            <a:off x="11049000" y="6502400"/>
            <a:ext cx="635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A9C4BF"/>
                </a:solidFill>
                <a:latin typeface="Calibri" panose="020F0502020204030204" pitchFamily="34" charset="0"/>
              </a:rPr>
              <a:t>15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D923943-F6CA-67FB-D522-16EB40269848}"/>
              </a:ext>
            </a:extLst>
          </p:cNvPr>
          <p:cNvSpPr/>
          <p:nvPr/>
        </p:nvSpPr>
        <p:spPr>
          <a:xfrm>
            <a:off x="508000" y="1524000"/>
            <a:ext cx="2603500" cy="2921000"/>
          </a:xfrm>
          <a:prstGeom prst="roundRect">
            <a:avLst>
              <a:gd name="adj" fmla="val 6000"/>
            </a:avLst>
          </a:prstGeom>
          <a:solidFill>
            <a:srgbClr val="174C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99C928-A3CE-223B-56AE-53D031718C31}"/>
              </a:ext>
            </a:extLst>
          </p:cNvPr>
          <p:cNvSpPr txBox="1"/>
          <p:nvPr/>
        </p:nvSpPr>
        <p:spPr>
          <a:xfrm>
            <a:off x="508000" y="1854200"/>
            <a:ext cx="26035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6000" b="1">
                <a:solidFill>
                  <a:srgbClr val="E8A33D"/>
                </a:solidFill>
                <a:latin typeface="Cambria" panose="02040503050406030204" pitchFamily="18" charset="0"/>
              </a:rPr>
              <a:t>114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DD2107E-7BE5-DDA0-E9FA-ABE3A0D7654E}"/>
              </a:ext>
            </a:extLst>
          </p:cNvPr>
          <p:cNvSpPr txBox="1"/>
          <p:nvPr/>
        </p:nvSpPr>
        <p:spPr>
          <a:xfrm>
            <a:off x="698500" y="2997200"/>
            <a:ext cx="22225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Calibri" panose="020F0502020204030204" pitchFamily="34" charset="0"/>
              </a:rPr>
              <a:t>testes passando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AC5E636-B9E7-D69E-AD4C-E4C7094182D9}"/>
              </a:ext>
            </a:extLst>
          </p:cNvPr>
          <p:cNvSpPr txBox="1"/>
          <p:nvPr/>
        </p:nvSpPr>
        <p:spPr>
          <a:xfrm>
            <a:off x="698500" y="3733800"/>
            <a:ext cx="22225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250">
                <a:solidFill>
                  <a:srgbClr val="CFE3DF"/>
                </a:solidFill>
                <a:latin typeface="Calibri" panose="020F0502020204030204" pitchFamily="34" charset="0"/>
              </a:rPr>
              <a:t>em cerca de 0,2 segundo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8BC9CCB-ADAB-D809-036C-CD0936D8FD4B}"/>
              </a:ext>
            </a:extLst>
          </p:cNvPr>
          <p:cNvSpPr/>
          <p:nvPr/>
        </p:nvSpPr>
        <p:spPr>
          <a:xfrm>
            <a:off x="3365500" y="1524000"/>
            <a:ext cx="2603500" cy="2921000"/>
          </a:xfrm>
          <a:prstGeom prst="roundRect">
            <a:avLst>
              <a:gd name="adj" fmla="val 6000"/>
            </a:avLst>
          </a:prstGeom>
          <a:solidFill>
            <a:srgbClr val="174C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A6D8FC5-2B46-3BDF-FE2B-583F3BFED013}"/>
              </a:ext>
            </a:extLst>
          </p:cNvPr>
          <p:cNvSpPr txBox="1"/>
          <p:nvPr/>
        </p:nvSpPr>
        <p:spPr>
          <a:xfrm>
            <a:off x="3365500" y="1854200"/>
            <a:ext cx="26035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6000" b="1">
                <a:solidFill>
                  <a:srgbClr val="E8A33D"/>
                </a:solidFill>
                <a:latin typeface="Cambria" panose="02040503050406030204" pitchFamily="18" charset="0"/>
              </a:rPr>
              <a:t>25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E919D34-D7BF-94A5-D3F7-A2DD15C13028}"/>
              </a:ext>
            </a:extLst>
          </p:cNvPr>
          <p:cNvSpPr txBox="1"/>
          <p:nvPr/>
        </p:nvSpPr>
        <p:spPr>
          <a:xfrm>
            <a:off x="3556000" y="2997200"/>
            <a:ext cx="22225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Calibri" panose="020F0502020204030204" pitchFamily="34" charset="0"/>
              </a:rPr>
              <a:t>combinações de estágio testadas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D741AB2-FCED-AAD9-A0FB-60F3EF92BD8A}"/>
              </a:ext>
            </a:extLst>
          </p:cNvPr>
          <p:cNvSpPr txBox="1"/>
          <p:nvPr/>
        </p:nvSpPr>
        <p:spPr>
          <a:xfrm>
            <a:off x="3556000" y="3733800"/>
            <a:ext cx="22225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250">
                <a:solidFill>
                  <a:srgbClr val="CFE3DF"/>
                </a:solidFill>
                <a:latin typeface="Calibri" panose="020F0502020204030204" pitchFamily="34" charset="0"/>
              </a:rPr>
              <a:t>6 permitidas · 19 proibidas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2506149-49C0-69FE-C10A-D92F57084D69}"/>
              </a:ext>
            </a:extLst>
          </p:cNvPr>
          <p:cNvSpPr/>
          <p:nvPr/>
        </p:nvSpPr>
        <p:spPr>
          <a:xfrm>
            <a:off x="6223000" y="1524000"/>
            <a:ext cx="2603500" cy="2921000"/>
          </a:xfrm>
          <a:prstGeom prst="roundRect">
            <a:avLst>
              <a:gd name="adj" fmla="val 6000"/>
            </a:avLst>
          </a:prstGeom>
          <a:solidFill>
            <a:srgbClr val="174C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DA7DABB-937D-ABC1-1981-C835A2C16CF7}"/>
              </a:ext>
            </a:extLst>
          </p:cNvPr>
          <p:cNvSpPr txBox="1"/>
          <p:nvPr/>
        </p:nvSpPr>
        <p:spPr>
          <a:xfrm>
            <a:off x="6223000" y="1854200"/>
            <a:ext cx="26035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6000" b="1">
                <a:solidFill>
                  <a:srgbClr val="E8A33D"/>
                </a:solidFill>
                <a:latin typeface="Cambria" panose="02040503050406030204" pitchFamily="18" charset="0"/>
              </a:rPr>
              <a:t>0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218D5C4-AA72-CD3C-7B9C-B9AADED38ACF}"/>
              </a:ext>
            </a:extLst>
          </p:cNvPr>
          <p:cNvSpPr txBox="1"/>
          <p:nvPr/>
        </p:nvSpPr>
        <p:spPr>
          <a:xfrm>
            <a:off x="6413500" y="2997200"/>
            <a:ext cx="22225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Calibri" panose="020F0502020204030204" pitchFamily="34" charset="0"/>
              </a:rPr>
              <a:t>erros no mypy --strict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35FD3E2-E740-FAB2-624C-DDCCFB8AF7E9}"/>
              </a:ext>
            </a:extLst>
          </p:cNvPr>
          <p:cNvSpPr txBox="1"/>
          <p:nvPr/>
        </p:nvSpPr>
        <p:spPr>
          <a:xfrm>
            <a:off x="6413500" y="3733800"/>
            <a:ext cx="22225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250">
                <a:solidFill>
                  <a:srgbClr val="CFE3DF"/>
                </a:solidFill>
                <a:latin typeface="Calibri" panose="020F0502020204030204" pitchFamily="34" charset="0"/>
              </a:rPr>
              <a:t>tipos conferidos em src e tests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30A80E6-D643-C6C4-B8A1-85007953012B}"/>
              </a:ext>
            </a:extLst>
          </p:cNvPr>
          <p:cNvSpPr/>
          <p:nvPr/>
        </p:nvSpPr>
        <p:spPr>
          <a:xfrm>
            <a:off x="9080500" y="1524000"/>
            <a:ext cx="2603500" cy="2921000"/>
          </a:xfrm>
          <a:prstGeom prst="roundRect">
            <a:avLst>
              <a:gd name="adj" fmla="val 6000"/>
            </a:avLst>
          </a:prstGeom>
          <a:solidFill>
            <a:srgbClr val="174C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0C28637-6634-9842-1BF0-5364446B3D4C}"/>
              </a:ext>
            </a:extLst>
          </p:cNvPr>
          <p:cNvSpPr txBox="1"/>
          <p:nvPr/>
        </p:nvSpPr>
        <p:spPr>
          <a:xfrm>
            <a:off x="9080500" y="1854200"/>
            <a:ext cx="26035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6000" b="1">
                <a:solidFill>
                  <a:srgbClr val="E8A33D"/>
                </a:solidFill>
                <a:latin typeface="Cambria" panose="02040503050406030204" pitchFamily="18" charset="0"/>
              </a:rPr>
              <a:t>0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E1704B4-1C57-E45C-4450-115C800FEFA5}"/>
              </a:ext>
            </a:extLst>
          </p:cNvPr>
          <p:cNvSpPr txBox="1"/>
          <p:nvPr/>
        </p:nvSpPr>
        <p:spPr>
          <a:xfrm>
            <a:off x="9271000" y="2997200"/>
            <a:ext cx="22225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600" b="1">
                <a:solidFill>
                  <a:srgbClr val="FFFFFF"/>
                </a:solidFill>
                <a:latin typeface="Calibri" panose="020F0502020204030204" pitchFamily="34" charset="0"/>
              </a:rPr>
              <a:t>avisos do ruff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870547C-4848-BAA5-D497-334C226C1844}"/>
              </a:ext>
            </a:extLst>
          </p:cNvPr>
          <p:cNvSpPr txBox="1"/>
          <p:nvPr/>
        </p:nvSpPr>
        <p:spPr>
          <a:xfrm>
            <a:off x="9271000" y="3733800"/>
            <a:ext cx="22225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250">
                <a:solidFill>
                  <a:srgbClr val="CFE3DF"/>
                </a:solidFill>
                <a:latin typeface="Calibri" panose="020F0502020204030204" pitchFamily="34" charset="0"/>
              </a:rPr>
              <a:t>código no padrão de estilo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90C22EB-FD13-F567-8941-11947AA1DE6B}"/>
              </a:ext>
            </a:extLst>
          </p:cNvPr>
          <p:cNvSpPr txBox="1"/>
          <p:nvPr/>
        </p:nvSpPr>
        <p:spPr>
          <a:xfrm>
            <a:off x="508000" y="4953000"/>
            <a:ext cx="11176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>
                <a:solidFill>
                  <a:srgbClr val="CFE3DF"/>
                </a:solidFill>
                <a:latin typeface="Calibri" panose="020F0502020204030204" pitchFamily="34" charset="0"/>
              </a:rPr>
              <a:t>Critério de pronto do plano atingido: pytest verde, mypy limpo e o teste de arquitetura reprova um import fastapi no domínio.</a:t>
            </a:r>
          </a:p>
        </p:txBody>
      </p:sp>
    </p:spTree>
    <p:extLst>
      <p:ext uri="{BB962C8B-B14F-4D97-AF65-F5344CB8AC3E}">
        <p14:creationId xmlns:p14="http://schemas.microsoft.com/office/powerpoint/2010/main" val="372491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22BA84C-B001-2401-43FD-CC651D67EB16}"/>
              </a:ext>
            </a:extLst>
          </p:cNvPr>
          <p:cNvSpPr txBox="1"/>
          <p:nvPr/>
        </p:nvSpPr>
        <p:spPr>
          <a:xfrm>
            <a:off x="508000" y="3302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E8A33D"/>
                </a:solidFill>
                <a:latin typeface="Calibri" panose="020F0502020204030204" pitchFamily="34" charset="0"/>
              </a:rPr>
              <a:t>MÃO NA MASSA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85D119-FD8A-EB13-30C2-0A7071CA23D1}"/>
              </a:ext>
            </a:extLst>
          </p:cNvPr>
          <p:cNvSpPr txBox="1"/>
          <p:nvPr/>
        </p:nvSpPr>
        <p:spPr>
          <a:xfrm>
            <a:off x="508000" y="5588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800" b="1">
                <a:solidFill>
                  <a:srgbClr val="0F3B3A"/>
                </a:solidFill>
                <a:latin typeface="Cambria" panose="02040503050406030204" pitchFamily="18" charset="0"/>
              </a:rPr>
              <a:t>Como rodar e explorar você mesmo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D668FD-3A57-29C9-4FBC-57A2E6CDE88A}"/>
              </a:ext>
            </a:extLst>
          </p:cNvPr>
          <p:cNvSpPr txBox="1"/>
          <p:nvPr/>
        </p:nvSpPr>
        <p:spPr>
          <a:xfrm>
            <a:off x="11049000" y="6502400"/>
            <a:ext cx="635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B6B69"/>
                </a:solidFill>
                <a:latin typeface="Calibri" panose="020F0502020204030204" pitchFamily="34" charset="0"/>
              </a:rPr>
              <a:t>16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0535A36-BFBA-7C10-C620-2A8CF9877783}"/>
              </a:ext>
            </a:extLst>
          </p:cNvPr>
          <p:cNvSpPr/>
          <p:nvPr/>
        </p:nvSpPr>
        <p:spPr>
          <a:xfrm>
            <a:off x="508000" y="1346200"/>
            <a:ext cx="7175500" cy="2997200"/>
          </a:xfrm>
          <a:prstGeom prst="roundRect">
            <a:avLst>
              <a:gd name="adj" fmla="val 3000"/>
            </a:avLst>
          </a:prstGeom>
          <a:solidFill>
            <a:srgbClr val="1B26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21920" rIns="203200" bIns="121920" rtlCol="0" anchor="t"/>
          <a:lstStyle/>
          <a:p>
            <a:r>
              <a:rPr lang="pt-BR" sz="1300">
                <a:solidFill>
                  <a:srgbClr val="E3ECEA"/>
                </a:solidFill>
                <a:latin typeface="Consolas" panose="020B0609020204030204" pitchFamily="49" charset="0"/>
              </a:rPr>
              <a:t>cd backend</a:t>
            </a:r>
          </a:p>
          <a:p>
            <a:endParaRPr lang="pt-BR" sz="1300">
              <a:solidFill>
                <a:srgbClr val="E3ECEA"/>
              </a:solidFill>
              <a:latin typeface="Consolas" panose="020B0609020204030204" pitchFamily="49" charset="0"/>
            </a:endParaRPr>
          </a:p>
          <a:p>
            <a:r>
              <a:rPr lang="pt-BR" sz="1300">
                <a:solidFill>
                  <a:srgbClr val="E3ECEA"/>
                </a:solidFill>
                <a:latin typeface="Consolas" panose="020B0609020204030204" pitchFamily="49" charset="0"/>
              </a:rPr>
              <a:t># só na primeira vez (instala pytest, mypy, ruff)</a:t>
            </a:r>
          </a:p>
          <a:p>
            <a:r>
              <a:rPr lang="pt-BR" sz="1300">
                <a:solidFill>
                  <a:srgbClr val="E3ECEA"/>
                </a:solidFill>
                <a:latin typeface="Consolas" panose="020B0609020204030204" pitchFamily="49" charset="0"/>
              </a:rPr>
              <a:t>.venv\Scripts\python.exe -m pip install --group dev</a:t>
            </a:r>
          </a:p>
          <a:p>
            <a:endParaRPr lang="pt-BR" sz="1300">
              <a:solidFill>
                <a:srgbClr val="E3ECEA"/>
              </a:solidFill>
              <a:latin typeface="Consolas" panose="020B0609020204030204" pitchFamily="49" charset="0"/>
            </a:endParaRPr>
          </a:p>
          <a:p>
            <a:r>
              <a:rPr lang="pt-BR" sz="1300">
                <a:solidFill>
                  <a:srgbClr val="E3ECEA"/>
                </a:solidFill>
                <a:latin typeface="Consolas" panose="020B0609020204030204" pitchFamily="49" charset="0"/>
              </a:rPr>
              <a:t>.venv\Scripts\python.exe -m pytest        # roda tudo</a:t>
            </a:r>
          </a:p>
          <a:p>
            <a:r>
              <a:rPr lang="pt-BR" sz="1300">
                <a:solidFill>
                  <a:srgbClr val="E3ECEA"/>
                </a:solidFill>
                <a:latin typeface="Consolas" panose="020B0609020204030204" pitchFamily="49" charset="0"/>
              </a:rPr>
              <a:t>.venv\Scripts\python.exe -m pytest -v     # nome de cada teste</a:t>
            </a:r>
          </a:p>
          <a:p>
            <a:r>
              <a:rPr lang="pt-BR" sz="1300">
                <a:solidFill>
                  <a:srgbClr val="E3ECEA"/>
                </a:solidFill>
                <a:latin typeface="Consolas" panose="020B0609020204030204" pitchFamily="49" charset="0"/>
              </a:rPr>
              <a:t>.venv\Scripts\python.exe -m mypy          # checa os tipos</a:t>
            </a:r>
          </a:p>
          <a:p>
            <a:r>
              <a:rPr lang="pt-BR" sz="1300">
                <a:solidFill>
                  <a:srgbClr val="E3ECEA"/>
                </a:solidFill>
                <a:latin typeface="Consolas" panose="020B0609020204030204" pitchFamily="49" charset="0"/>
              </a:rPr>
              <a:t>.venv\Scripts\python.exe -m ruff check    # estilo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4E4007-9AE6-3B9F-6BAA-972CB08755D9}"/>
              </a:ext>
            </a:extLst>
          </p:cNvPr>
          <p:cNvSpPr txBox="1"/>
          <p:nvPr/>
        </p:nvSpPr>
        <p:spPr>
          <a:xfrm>
            <a:off x="8001000" y="1346200"/>
            <a:ext cx="3683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 b="1">
                <a:solidFill>
                  <a:srgbClr val="0F3B3A"/>
                </a:solidFill>
                <a:latin typeface="Calibri" panose="020F0502020204030204" pitchFamily="34" charset="0"/>
              </a:rPr>
              <a:t>Ordem sugerida de leitura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54DFF9D-2BE5-43E7-6C92-28052C40E106}"/>
              </a:ext>
            </a:extLst>
          </p:cNvPr>
          <p:cNvSpPr/>
          <p:nvPr/>
        </p:nvSpPr>
        <p:spPr>
          <a:xfrm>
            <a:off x="8001000" y="1778000"/>
            <a:ext cx="355600" cy="355600"/>
          </a:xfrm>
          <a:prstGeom prst="ellipse">
            <a:avLst/>
          </a:prstGeom>
          <a:solidFill>
            <a:srgbClr val="1F6F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26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D57961F-53B8-758E-90C2-4FCDE2A4D7B5}"/>
              </a:ext>
            </a:extLst>
          </p:cNvPr>
          <p:cNvSpPr txBox="1"/>
          <p:nvPr/>
        </p:nvSpPr>
        <p:spPr>
          <a:xfrm>
            <a:off x="8483600" y="1790700"/>
            <a:ext cx="3200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 b="1">
                <a:solidFill>
                  <a:srgbClr val="0F3B3A"/>
                </a:solidFill>
                <a:latin typeface="Consolas" panose="020B0609020204030204" pitchFamily="49" charset="0"/>
              </a:rPr>
              <a:t>estagio_atendimento.py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841749F-A7B3-D212-9E0E-969675710506}"/>
              </a:ext>
            </a:extLst>
          </p:cNvPr>
          <p:cNvSpPr txBox="1"/>
          <p:nvPr/>
        </p:nvSpPr>
        <p:spPr>
          <a:xfrm>
            <a:off x="8483600" y="2044700"/>
            <a:ext cx="3200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5B6B69"/>
                </a:solidFill>
                <a:latin typeface="Calibri" panose="020F0502020204030204" pitchFamily="34" charset="0"/>
              </a:rPr>
              <a:t>o mapa do funil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B21850E2-6EEF-80DC-5CA2-CD8B334A2B80}"/>
              </a:ext>
            </a:extLst>
          </p:cNvPr>
          <p:cNvSpPr/>
          <p:nvPr/>
        </p:nvSpPr>
        <p:spPr>
          <a:xfrm>
            <a:off x="8001000" y="2438400"/>
            <a:ext cx="355600" cy="355600"/>
          </a:xfrm>
          <a:prstGeom prst="ellipse">
            <a:avLst/>
          </a:prstGeom>
          <a:solidFill>
            <a:srgbClr val="1F6F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26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2DF1D31-D7C0-1A71-14CF-F6D805839995}"/>
              </a:ext>
            </a:extLst>
          </p:cNvPr>
          <p:cNvSpPr txBox="1"/>
          <p:nvPr/>
        </p:nvSpPr>
        <p:spPr>
          <a:xfrm>
            <a:off x="8483600" y="2451100"/>
            <a:ext cx="3200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 b="1">
                <a:solidFill>
                  <a:srgbClr val="0F3B3A"/>
                </a:solidFill>
                <a:latin typeface="Consolas" panose="020B0609020204030204" pitchFamily="49" charset="0"/>
              </a:rPr>
              <a:t>orcamento.py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59089D7-F749-BD19-4627-12B6E1C6958E}"/>
              </a:ext>
            </a:extLst>
          </p:cNvPr>
          <p:cNvSpPr txBox="1"/>
          <p:nvPr/>
        </p:nvSpPr>
        <p:spPr>
          <a:xfrm>
            <a:off x="8483600" y="2705100"/>
            <a:ext cx="3200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5B6B69"/>
                </a:solidFill>
                <a:latin typeface="Calibri" panose="020F0502020204030204" pitchFamily="34" charset="0"/>
              </a:rPr>
              <a:t>as regras de transição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739526DB-E4D9-EA3B-B122-9FE37A7F6ABD}"/>
              </a:ext>
            </a:extLst>
          </p:cNvPr>
          <p:cNvSpPr/>
          <p:nvPr/>
        </p:nvSpPr>
        <p:spPr>
          <a:xfrm>
            <a:off x="8001000" y="3098800"/>
            <a:ext cx="355600" cy="355600"/>
          </a:xfrm>
          <a:prstGeom prst="ellipse">
            <a:avLst/>
          </a:prstGeom>
          <a:solidFill>
            <a:srgbClr val="1F6F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26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7B8AA3A-118A-FC71-729F-47E05B33AFF3}"/>
              </a:ext>
            </a:extLst>
          </p:cNvPr>
          <p:cNvSpPr txBox="1"/>
          <p:nvPr/>
        </p:nvSpPr>
        <p:spPr>
          <a:xfrm>
            <a:off x="8483600" y="3111500"/>
            <a:ext cx="3200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 b="1">
                <a:solidFill>
                  <a:srgbClr val="0F3B3A"/>
                </a:solidFill>
                <a:latin typeface="Consolas" panose="020B0609020204030204" pitchFamily="49" charset="0"/>
              </a:rPr>
              <a:t>test_orcamento.py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0AB66F5-33D4-B70A-395C-BB475A201419}"/>
              </a:ext>
            </a:extLst>
          </p:cNvPr>
          <p:cNvSpPr txBox="1"/>
          <p:nvPr/>
        </p:nvSpPr>
        <p:spPr>
          <a:xfrm>
            <a:off x="8483600" y="3365500"/>
            <a:ext cx="3200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5B6B69"/>
                </a:solidFill>
                <a:latin typeface="Calibri" panose="020F0502020204030204" pitchFamily="34" charset="0"/>
              </a:rPr>
              <a:t>as regras viram testes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22958E5-BFF8-CC1C-EADC-16A4DC81F282}"/>
              </a:ext>
            </a:extLst>
          </p:cNvPr>
          <p:cNvSpPr/>
          <p:nvPr/>
        </p:nvSpPr>
        <p:spPr>
          <a:xfrm>
            <a:off x="8001000" y="3759200"/>
            <a:ext cx="355600" cy="355600"/>
          </a:xfrm>
          <a:prstGeom prst="ellipse">
            <a:avLst/>
          </a:prstGeom>
          <a:solidFill>
            <a:srgbClr val="1F6F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26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BA01E47-8C67-2C4A-EBBB-C1C448CDD4DB}"/>
              </a:ext>
            </a:extLst>
          </p:cNvPr>
          <p:cNvSpPr txBox="1"/>
          <p:nvPr/>
        </p:nvSpPr>
        <p:spPr>
          <a:xfrm>
            <a:off x="8483600" y="3771900"/>
            <a:ext cx="3200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 b="1">
                <a:solidFill>
                  <a:srgbClr val="0F3B3A"/>
                </a:solidFill>
                <a:latin typeface="Consolas" panose="020B0609020204030204" pitchFamily="49" charset="0"/>
              </a:rPr>
              <a:t>telefone.py · email.py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A1DF451-8B31-EA72-F6D4-565804978B71}"/>
              </a:ext>
            </a:extLst>
          </p:cNvPr>
          <p:cNvSpPr txBox="1"/>
          <p:nvPr/>
        </p:nvSpPr>
        <p:spPr>
          <a:xfrm>
            <a:off x="8483600" y="4025900"/>
            <a:ext cx="3200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50">
                <a:solidFill>
                  <a:srgbClr val="5B6B69"/>
                </a:solidFill>
                <a:latin typeface="Calibri" panose="020F0502020204030204" pitchFamily="34" charset="0"/>
              </a:rPr>
              <a:t>as validações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54A7F8BF-5EAE-4261-6D9B-42D34B015E76}"/>
              </a:ext>
            </a:extLst>
          </p:cNvPr>
          <p:cNvSpPr/>
          <p:nvPr/>
        </p:nvSpPr>
        <p:spPr>
          <a:xfrm>
            <a:off x="508000" y="4597400"/>
            <a:ext cx="11176000" cy="1727200"/>
          </a:xfrm>
          <a:prstGeom prst="roundRect">
            <a:avLst>
              <a:gd name="adj" fmla="val 6000"/>
            </a:avLst>
          </a:prstGeom>
          <a:solidFill>
            <a:srgbClr val="FBEF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902F0F0-8136-97BA-16C1-2FD91B9655A6}"/>
              </a:ext>
            </a:extLst>
          </p:cNvPr>
          <p:cNvSpPr txBox="1"/>
          <p:nvPr/>
        </p:nvSpPr>
        <p:spPr>
          <a:xfrm>
            <a:off x="736600" y="4749800"/>
            <a:ext cx="10668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 b="1">
                <a:solidFill>
                  <a:srgbClr val="0F3B3A"/>
                </a:solidFill>
                <a:latin typeface="Calibri" panose="020F0502020204030204" pitchFamily="34" charset="0"/>
              </a:rPr>
              <a:t>Exercício para fixar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0E2A639-495C-350D-310E-C15F55E9EEE1}"/>
              </a:ext>
            </a:extLst>
          </p:cNvPr>
          <p:cNvSpPr txBox="1"/>
          <p:nvPr/>
        </p:nvSpPr>
        <p:spPr>
          <a:xfrm>
            <a:off x="736600" y="5105400"/>
            <a:ext cx="106680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600"/>
              </a:spcAft>
            </a:pPr>
            <a:r>
              <a:rPr lang="pt-BR" sz="1400">
                <a:solidFill>
                  <a:srgbClr val="1E2B2A"/>
                </a:solidFill>
                <a:latin typeface="Calibri" panose="020F0502020204030204" pitchFamily="34" charset="0"/>
              </a:rPr>
              <a:t>1. Em estagio_atendimento.py, acrescente EstagioAtendimento.FECHADO ao conjunto de NOVO_CONTATO.</a:t>
            </a:r>
          </a:p>
          <a:p>
            <a:pPr>
              <a:spcAft>
                <a:spcPts val="600"/>
              </a:spcAft>
            </a:pPr>
            <a:r>
              <a:rPr lang="pt-BR" sz="1400">
                <a:solidFill>
                  <a:srgbClr val="1E2B2A"/>
                </a:solidFill>
                <a:latin typeface="Calibri" panose="020F0502020204030204" pitchFamily="34" charset="0"/>
              </a:rPr>
              <a:t>2. Rode pytest -v e veja quais testes ficam vermelhos — e leia a mensagem de cada um.</a:t>
            </a:r>
          </a:p>
          <a:p>
            <a:pPr>
              <a:spcAft>
                <a:spcPts val="600"/>
              </a:spcAft>
            </a:pPr>
            <a:r>
              <a:rPr lang="pt-BR" sz="1400">
                <a:solidFill>
                  <a:srgbClr val="1E2B2A"/>
                </a:solidFill>
                <a:latin typeface="Calibri" panose="020F0502020204030204" pitchFamily="34" charset="0"/>
              </a:rPr>
              <a:t>3. Desfaça a mudança (Ctrl+Z) e rode de novo: tudo verde.</a:t>
            </a:r>
          </a:p>
        </p:txBody>
      </p:sp>
    </p:spTree>
    <p:extLst>
      <p:ext uri="{BB962C8B-B14F-4D97-AF65-F5344CB8AC3E}">
        <p14:creationId xmlns:p14="http://schemas.microsoft.com/office/powerpoint/2010/main" val="201426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C65EC0C-F61E-A3F7-127D-8BCACCE0466A}"/>
              </a:ext>
            </a:extLst>
          </p:cNvPr>
          <p:cNvSpPr txBox="1"/>
          <p:nvPr/>
        </p:nvSpPr>
        <p:spPr>
          <a:xfrm>
            <a:off x="508000" y="330200"/>
            <a:ext cx="889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E8A33D"/>
                </a:solidFill>
                <a:latin typeface="Calibri" panose="020F0502020204030204" pitchFamily="34" charset="0"/>
              </a:rPr>
              <a:t>PARA REVISAR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AF55DD3-A9F4-D10C-841C-B1BC2942EE5E}"/>
              </a:ext>
            </a:extLst>
          </p:cNvPr>
          <p:cNvSpPr txBox="1"/>
          <p:nvPr/>
        </p:nvSpPr>
        <p:spPr>
          <a:xfrm>
            <a:off x="508000" y="558800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800" b="1">
                <a:solidFill>
                  <a:srgbClr val="0F3B3A"/>
                </a:solidFill>
                <a:latin typeface="Cambria" panose="02040503050406030204" pitchFamily="18" charset="0"/>
              </a:rPr>
              <a:t>Glossário rápido e próximo passo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0FBD87-25B8-E721-8DF0-9EC7E90BE8A3}"/>
              </a:ext>
            </a:extLst>
          </p:cNvPr>
          <p:cNvSpPr txBox="1"/>
          <p:nvPr/>
        </p:nvSpPr>
        <p:spPr>
          <a:xfrm>
            <a:off x="11049000" y="6502400"/>
            <a:ext cx="635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B6B69"/>
                </a:solidFill>
                <a:latin typeface="Calibri" panose="020F0502020204030204" pitchFamily="34" charset="0"/>
              </a:rPr>
              <a:t>17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D7C6986-4691-FD0F-1307-A5CD8FA59FE4}"/>
              </a:ext>
            </a:extLst>
          </p:cNvPr>
          <p:cNvSpPr/>
          <p:nvPr/>
        </p:nvSpPr>
        <p:spPr>
          <a:xfrm>
            <a:off x="508000" y="1346200"/>
            <a:ext cx="6921500" cy="736600"/>
          </a:xfrm>
          <a:prstGeom prst="rect">
            <a:avLst/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8193054-B67D-13CD-E173-9555E37DF734}"/>
              </a:ext>
            </a:extLst>
          </p:cNvPr>
          <p:cNvSpPr txBox="1"/>
          <p:nvPr/>
        </p:nvSpPr>
        <p:spPr>
          <a:xfrm>
            <a:off x="685800" y="1346200"/>
            <a:ext cx="1778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450" b="1">
                <a:solidFill>
                  <a:srgbClr val="1F6F6B"/>
                </a:solidFill>
                <a:latin typeface="Calibri" panose="020F0502020204030204" pitchFamily="34" charset="0"/>
              </a:rPr>
              <a:t>Domínio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77F814F-B855-D905-20DC-D8FC3219A6FF}"/>
              </a:ext>
            </a:extLst>
          </p:cNvPr>
          <p:cNvSpPr txBox="1"/>
          <p:nvPr/>
        </p:nvSpPr>
        <p:spPr>
          <a:xfrm>
            <a:off x="2540000" y="1346200"/>
            <a:ext cx="47625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As regras do negócio, escritas em código puro.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7A4FC53-BE7E-9D14-8892-B000103321F5}"/>
              </a:ext>
            </a:extLst>
          </p:cNvPr>
          <p:cNvSpPr/>
          <p:nvPr/>
        </p:nvSpPr>
        <p:spPr>
          <a:xfrm>
            <a:off x="508000" y="2184400"/>
            <a:ext cx="69215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0498DFA-2236-1BB4-6DC9-1D52D2186FD1}"/>
              </a:ext>
            </a:extLst>
          </p:cNvPr>
          <p:cNvSpPr txBox="1"/>
          <p:nvPr/>
        </p:nvSpPr>
        <p:spPr>
          <a:xfrm>
            <a:off x="685800" y="2184400"/>
            <a:ext cx="1778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450" b="1">
                <a:solidFill>
                  <a:srgbClr val="1F6F6B"/>
                </a:solidFill>
                <a:latin typeface="Calibri" panose="020F0502020204030204" pitchFamily="34" charset="0"/>
              </a:rPr>
              <a:t>Entidade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BD062EC-7507-E5FD-D929-4559DB4A0D84}"/>
              </a:ext>
            </a:extLst>
          </p:cNvPr>
          <p:cNvSpPr txBox="1"/>
          <p:nvPr/>
        </p:nvSpPr>
        <p:spPr>
          <a:xfrm>
            <a:off x="2540000" y="2184400"/>
            <a:ext cx="47625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Objeto com identidade (id) que muda com o tempo: Orçamento, Cliente.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88A0DB5-90D4-058B-0E69-5934BC1B5613}"/>
              </a:ext>
            </a:extLst>
          </p:cNvPr>
          <p:cNvSpPr/>
          <p:nvPr/>
        </p:nvSpPr>
        <p:spPr>
          <a:xfrm>
            <a:off x="508000" y="3022600"/>
            <a:ext cx="6921500" cy="736600"/>
          </a:xfrm>
          <a:prstGeom prst="rect">
            <a:avLst/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F03BFF3-098F-3C80-902F-76F2C37DFF4C}"/>
              </a:ext>
            </a:extLst>
          </p:cNvPr>
          <p:cNvSpPr txBox="1"/>
          <p:nvPr/>
        </p:nvSpPr>
        <p:spPr>
          <a:xfrm>
            <a:off x="685800" y="3022600"/>
            <a:ext cx="1778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450" b="1">
                <a:solidFill>
                  <a:srgbClr val="1F6F6B"/>
                </a:solidFill>
                <a:latin typeface="Calibri" panose="020F0502020204030204" pitchFamily="34" charset="0"/>
              </a:rPr>
              <a:t>Value Object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DC6448D-282C-ECD4-0DF4-48CEBA0D8D5F}"/>
              </a:ext>
            </a:extLst>
          </p:cNvPr>
          <p:cNvSpPr txBox="1"/>
          <p:nvPr/>
        </p:nvSpPr>
        <p:spPr>
          <a:xfrm>
            <a:off x="2540000" y="3022600"/>
            <a:ext cx="47625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Valor sem id, imutável, validado ao nascer: Telefone, Email.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3B7C715-8E74-1148-B64B-1BFB03A629FA}"/>
              </a:ext>
            </a:extLst>
          </p:cNvPr>
          <p:cNvSpPr/>
          <p:nvPr/>
        </p:nvSpPr>
        <p:spPr>
          <a:xfrm>
            <a:off x="508000" y="3860800"/>
            <a:ext cx="69215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785092E-4FAC-4531-5C68-A89066B1F0EE}"/>
              </a:ext>
            </a:extLst>
          </p:cNvPr>
          <p:cNvSpPr txBox="1"/>
          <p:nvPr/>
        </p:nvSpPr>
        <p:spPr>
          <a:xfrm>
            <a:off x="685800" y="3860800"/>
            <a:ext cx="1778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450" b="1">
                <a:solidFill>
                  <a:srgbClr val="1F6F6B"/>
                </a:solidFill>
                <a:latin typeface="Calibri" panose="020F0502020204030204" pitchFamily="34" charset="0"/>
              </a:rPr>
              <a:t>Aggregate Root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E265EC2-B61F-5353-6736-F046FC368945}"/>
              </a:ext>
            </a:extLst>
          </p:cNvPr>
          <p:cNvSpPr txBox="1"/>
          <p:nvPr/>
        </p:nvSpPr>
        <p:spPr>
          <a:xfrm>
            <a:off x="2540000" y="3860800"/>
            <a:ext cx="47625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A porta de entrada de um grupo: Interação só muda via Orçamento.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6F3B4D8-129E-7DC2-1B7F-05CE7400F89B}"/>
              </a:ext>
            </a:extLst>
          </p:cNvPr>
          <p:cNvSpPr/>
          <p:nvPr/>
        </p:nvSpPr>
        <p:spPr>
          <a:xfrm>
            <a:off x="508000" y="4699000"/>
            <a:ext cx="6921500" cy="736600"/>
          </a:xfrm>
          <a:prstGeom prst="rect">
            <a:avLst/>
          </a:prstGeom>
          <a:solidFill>
            <a:srgbClr val="E6F0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44FFD74-479D-45DB-C13A-691721CE0F70}"/>
              </a:ext>
            </a:extLst>
          </p:cNvPr>
          <p:cNvSpPr txBox="1"/>
          <p:nvPr/>
        </p:nvSpPr>
        <p:spPr>
          <a:xfrm>
            <a:off x="685800" y="4699000"/>
            <a:ext cx="1778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450" b="1">
                <a:solidFill>
                  <a:srgbClr val="1F6F6B"/>
                </a:solidFill>
                <a:latin typeface="Calibri" panose="020F0502020204030204" pitchFamily="34" charset="0"/>
              </a:rPr>
              <a:t>TDD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40D37AA-8968-9297-920B-F062CE8649CC}"/>
              </a:ext>
            </a:extLst>
          </p:cNvPr>
          <p:cNvSpPr txBox="1"/>
          <p:nvPr/>
        </p:nvSpPr>
        <p:spPr>
          <a:xfrm>
            <a:off x="2540000" y="4699000"/>
            <a:ext cx="47625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Escrever o teste antes do código: red → green → refactor.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ADDBB85-A3F5-FE03-0FA9-EC36E7ED62CC}"/>
              </a:ext>
            </a:extLst>
          </p:cNvPr>
          <p:cNvSpPr/>
          <p:nvPr/>
        </p:nvSpPr>
        <p:spPr>
          <a:xfrm>
            <a:off x="508000" y="5537200"/>
            <a:ext cx="69215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25D9DFE-358E-AE90-6D37-522284CB30D1}"/>
              </a:ext>
            </a:extLst>
          </p:cNvPr>
          <p:cNvSpPr txBox="1"/>
          <p:nvPr/>
        </p:nvSpPr>
        <p:spPr>
          <a:xfrm>
            <a:off x="685800" y="5537200"/>
            <a:ext cx="1778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450" b="1">
                <a:solidFill>
                  <a:srgbClr val="1F6F6B"/>
                </a:solidFill>
                <a:latin typeface="Calibri" panose="020F0502020204030204" pitchFamily="34" charset="0"/>
              </a:rPr>
              <a:t>Clean Arch.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A8551A3-6124-BA72-DF77-B98CE7031370}"/>
              </a:ext>
            </a:extLst>
          </p:cNvPr>
          <p:cNvSpPr txBox="1"/>
          <p:nvPr/>
        </p:nvSpPr>
        <p:spPr>
          <a:xfrm>
            <a:off x="2540000" y="5537200"/>
            <a:ext cx="47625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300">
                <a:solidFill>
                  <a:srgbClr val="1E2B2A"/>
                </a:solidFill>
                <a:latin typeface="Calibri" panose="020F0502020204030204" pitchFamily="34" charset="0"/>
              </a:rPr>
              <a:t>Camadas com dependências apontando para dentro, domínio no centro.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C52512B9-E8EB-80F3-037C-45DC00BBFD0A}"/>
              </a:ext>
            </a:extLst>
          </p:cNvPr>
          <p:cNvSpPr/>
          <p:nvPr/>
        </p:nvSpPr>
        <p:spPr>
          <a:xfrm>
            <a:off x="7747000" y="1346200"/>
            <a:ext cx="3937000" cy="5003800"/>
          </a:xfrm>
          <a:prstGeom prst="roundRect">
            <a:avLst>
              <a:gd name="adj" fmla="val 6000"/>
            </a:avLst>
          </a:prstGeom>
          <a:solidFill>
            <a:srgbClr val="0F3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D2A3FF4-BEA4-E337-604D-3DA6EAD8CF45}"/>
              </a:ext>
            </a:extLst>
          </p:cNvPr>
          <p:cNvSpPr txBox="1"/>
          <p:nvPr/>
        </p:nvSpPr>
        <p:spPr>
          <a:xfrm>
            <a:off x="8001000" y="1600200"/>
            <a:ext cx="3429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 b="1">
                <a:solidFill>
                  <a:srgbClr val="E8A33D"/>
                </a:solidFill>
                <a:latin typeface="Calibri" panose="020F0502020204030204" pitchFamily="34" charset="0"/>
              </a:rPr>
              <a:t>PRÓXIMO PASSO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AB4CBD3-CA25-6A1B-7923-53458B68EAEF}"/>
              </a:ext>
            </a:extLst>
          </p:cNvPr>
          <p:cNvSpPr txBox="1"/>
          <p:nvPr/>
        </p:nvSpPr>
        <p:spPr>
          <a:xfrm>
            <a:off x="8001000" y="1854200"/>
            <a:ext cx="3429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200" b="1">
                <a:solidFill>
                  <a:srgbClr val="FFFFFF"/>
                </a:solidFill>
                <a:latin typeface="Cambria" panose="02040503050406030204" pitchFamily="18" charset="0"/>
              </a:rPr>
              <a:t>Parte 2 — Casos de uso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A3E3B5E-0A14-3D47-F116-91969AB46922}"/>
              </a:ext>
            </a:extLst>
          </p:cNvPr>
          <p:cNvSpPr txBox="1"/>
          <p:nvPr/>
        </p:nvSpPr>
        <p:spPr>
          <a:xfrm>
            <a:off x="8001000" y="2540000"/>
            <a:ext cx="3429000" cy="355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800"/>
              </a:spcAft>
              <a:buClr>
                <a:srgbClr val="E8A33D"/>
              </a:buClr>
              <a:buFont typeface="+mj-lt"/>
              <a:buChar char="•"/>
            </a:pPr>
            <a:r>
              <a:rPr lang="pt-BR" sz="1350">
                <a:solidFill>
                  <a:srgbClr val="CFE3DF"/>
                </a:solidFill>
                <a:latin typeface="Calibri" panose="020F0502020204030204" pitchFamily="34" charset="0"/>
              </a:rPr>
              <a:t>Interfaces de repositório: as “tomadas” onde o banco vai ser ligado.</a:t>
            </a:r>
          </a:p>
          <a:p>
            <a:pPr marL="177800" indent="-177800">
              <a:spcAft>
                <a:spcPts val="800"/>
              </a:spcAft>
              <a:buClr>
                <a:srgbClr val="E8A33D"/>
              </a:buClr>
              <a:buFont typeface="+mj-lt"/>
              <a:buChar char="•"/>
            </a:pPr>
            <a:r>
              <a:rPr lang="pt-BR" sz="1350">
                <a:solidFill>
                  <a:srgbClr val="CFE3DF"/>
                </a:solidFill>
                <a:latin typeface="Calibri" panose="020F0502020204030204" pitchFamily="34" charset="0"/>
              </a:rPr>
              <a:t>Repositórios falsos em memória para testar sem banco.</a:t>
            </a:r>
          </a:p>
          <a:p>
            <a:pPr marL="177800" indent="-177800">
              <a:spcAft>
                <a:spcPts val="800"/>
              </a:spcAft>
              <a:buClr>
                <a:srgbClr val="E8A33D"/>
              </a:buClr>
              <a:buFont typeface="+mj-lt"/>
              <a:buChar char="•"/>
            </a:pPr>
            <a:r>
              <a:rPr lang="pt-BR" sz="1350">
                <a:solidFill>
                  <a:srgbClr val="CFE3DF"/>
                </a:solidFill>
                <a:latin typeface="Calibri" panose="020F0502020204030204" pitchFamily="34" charset="0"/>
              </a:rPr>
              <a:t>RegistrarNovoContato, MoverEstagio, DefinirValor, RegistrarInteracao, Métricas e Histórico.</a:t>
            </a:r>
          </a:p>
          <a:p>
            <a:pPr marL="177800" indent="-177800">
              <a:spcAft>
                <a:spcPts val="800"/>
              </a:spcAft>
              <a:buClr>
                <a:srgbClr val="E8A33D"/>
              </a:buClr>
              <a:buFont typeface="+mj-lt"/>
              <a:buChar char="•"/>
            </a:pPr>
            <a:r>
              <a:rPr lang="pt-BR" sz="1350">
                <a:solidFill>
                  <a:srgbClr val="CFE3DF"/>
                </a:solidFill>
                <a:latin typeface="Calibri" panose="020F0502020204030204" pitchFamily="34" charset="0"/>
              </a:rPr>
              <a:t>Teste-chave: se o domínio recusar, nada é salvo (RNF04).</a:t>
            </a:r>
          </a:p>
        </p:txBody>
      </p:sp>
    </p:spTree>
    <p:extLst>
      <p:ext uri="{BB962C8B-B14F-4D97-AF65-F5344CB8AC3E}">
        <p14:creationId xmlns:p14="http://schemas.microsoft.com/office/powerpoint/2010/main" val="42558887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3879</Words>
  <Application>Microsoft Office PowerPoint</Application>
  <PresentationFormat>Personalizar</PresentationFormat>
  <Paragraphs>407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Consolas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 Ferreira</dc:creator>
  <cp:lastModifiedBy>Davi Ferreira</cp:lastModifiedBy>
  <cp:revision>1</cp:revision>
  <dcterms:created xsi:type="dcterms:W3CDTF">2026-10-02T16:50:35Z</dcterms:created>
  <dcterms:modified xsi:type="dcterms:W3CDTF">2026-10-02T16:50:35Z</dcterms:modified>
</cp:coreProperties>
</file>